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369E06-7B2E-4975-BE7C-5C0F69934EDC}" v="8" dt="2026-04-09T12:53:29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80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A5C">
              <a:alpha val="60000"/>
            </a:srgbClr>
          </a:solidFill>
          <a:ln w="12700">
            <a:solidFill>
              <a:srgbClr val="1B3A5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3721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Voice of Village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55431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Fund Transparency &amp; Issue Reporting System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79568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0896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090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Geethanjali College of Engineering &amp; Technology, Hyderabad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88845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Stack:  Node.js  •  Express.js  •  MySQL  •  React.js  •  JWT  •  Razorpay</a:t>
            </a:r>
            <a:endParaRPr lang="en-US" sz="1200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4997A-5428-65B5-7AC8-F63451EBEB2E}"/>
              </a:ext>
            </a:extLst>
          </p:cNvPr>
          <p:cNvSpPr txBox="1"/>
          <p:nvPr/>
        </p:nvSpPr>
        <p:spPr>
          <a:xfrm>
            <a:off x="457200" y="2299938"/>
            <a:ext cx="3370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Guide: CH. Sandhya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AFDD2D-98F5-14C4-87D8-3F730D206F44}"/>
              </a:ext>
            </a:extLst>
          </p:cNvPr>
          <p:cNvSpPr txBox="1"/>
          <p:nvPr/>
        </p:nvSpPr>
        <p:spPr>
          <a:xfrm>
            <a:off x="3526462" y="2509860"/>
            <a:ext cx="3331538" cy="257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960"/>
              </a:lnSpc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Presented By: </a:t>
            </a:r>
          </a:p>
          <a:p>
            <a:pPr>
              <a:lnSpc>
                <a:spcPts val="3960"/>
              </a:lnSpc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Batch No : CSE2526MNP – E</a:t>
            </a:r>
            <a:r>
              <a:rPr lang="en-IN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9</a:t>
            </a:r>
            <a:endParaRPr lang="en-US" sz="1600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ea typeface=" Avenir Next Arabic"/>
              <a:cs typeface="Times New Roman" panose="02020603050405020304" pitchFamily="18" charset="0"/>
              <a:sym typeface=" Avenir Next Arabic"/>
            </a:endParaRPr>
          </a:p>
          <a:p>
            <a:pPr>
              <a:lnSpc>
                <a:spcPts val="3960"/>
              </a:lnSpc>
            </a:pPr>
            <a:r>
              <a:rPr lang="en-IN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Uday </a:t>
            </a:r>
            <a:r>
              <a:rPr lang="en-IN" sz="1600" dirty="0" err="1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Peraboina</a:t>
            </a: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– 22R11A05M9</a:t>
            </a:r>
          </a:p>
          <a:p>
            <a:pPr>
              <a:lnSpc>
                <a:spcPts val="3960"/>
              </a:lnSpc>
            </a:pPr>
            <a:r>
              <a:rPr lang="en-IN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Vonteru Satwik Reddy</a:t>
            </a: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– 22R11A05</a:t>
            </a:r>
            <a:r>
              <a:rPr lang="en-IN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N9</a:t>
            </a:r>
            <a:endParaRPr lang="en-US" sz="1600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ea typeface=" Avenir Next Arabic"/>
              <a:cs typeface="Times New Roman" panose="02020603050405020304" pitchFamily="18" charset="0"/>
              <a:sym typeface=" Avenir Next Arabic"/>
            </a:endParaRPr>
          </a:p>
          <a:p>
            <a:pPr>
              <a:lnSpc>
                <a:spcPts val="3960"/>
              </a:lnSpc>
            </a:pPr>
            <a:r>
              <a:rPr lang="en-IN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M. Manikanth Reddy</a:t>
            </a: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– 22R11A05</a:t>
            </a:r>
            <a:r>
              <a:rPr lang="en-IN" sz="160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ea typeface=" Avenir Next Arabic"/>
                <a:cs typeface="Times New Roman" panose="02020603050405020304" pitchFamily="18" charset="0"/>
                <a:sym typeface=" Avenir Next Arabic"/>
              </a:rPr>
              <a:t>M0</a:t>
            </a:r>
            <a:endParaRPr lang="en-US" sz="1600" dirty="0">
              <a:solidFill>
                <a:schemeClr val="bg2">
                  <a:lumMod val="90000"/>
                </a:schemeClr>
              </a:solidFill>
              <a:latin typeface="Times New Roman" panose="02020603050405020304" pitchFamily="18" charset="0"/>
              <a:ea typeface=" Avenir Next Arabic"/>
              <a:cs typeface="Times New Roman" panose="02020603050405020304" pitchFamily="18" charset="0"/>
              <a:sym typeface=" Avenir Next Arab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 &amp; Objectives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Lack of transparency in government fund utilization at village level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No structured channel for citizens to report infrastructure issues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Manual, paper-based PDS, water &amp; electricity request processes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Zero accountability for fund allocation vs actual spending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Citizens unaware of welfare schemes and their eligibility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Objectives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Build a transparent fund reporting dashboard for gram panchayat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Enable real-time issue reporting with status tracking for citizens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Digitize service requests (water, electricity, PDS, housing)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Implement secure donation flow with Razorpay integration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Provide data-driven reports with chart visualizations (Recharts)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" y="777240"/>
            <a:ext cx="1005840" cy="5029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" y="777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LAYER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" y="1874520"/>
            <a:ext cx="100584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LAYER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" y="2834640"/>
            <a:ext cx="1005840" cy="5029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" y="2834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 LAYER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" y="3794760"/>
            <a:ext cx="10058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" y="37947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LAYER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34440" y="777240"/>
            <a:ext cx="1691640" cy="502920"/>
          </a:xfrm>
          <a:prstGeom prst="rect">
            <a:avLst/>
          </a:prstGeom>
          <a:solidFill>
            <a:srgbClr val="1A4E7A"/>
          </a:solidFill>
          <a:ln w="1905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34440" y="777240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React.js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Citizen Portal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54680" y="777240"/>
            <a:ext cx="1691640" cy="502920"/>
          </a:xfrm>
          <a:prstGeom prst="rect">
            <a:avLst/>
          </a:prstGeom>
          <a:solidFill>
            <a:srgbClr val="1A4E7A"/>
          </a:solidFill>
          <a:ln w="1905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54680" y="777240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React.js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Dashboard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74920" y="777240"/>
            <a:ext cx="1691640" cy="502920"/>
          </a:xfrm>
          <a:prstGeom prst="rect">
            <a:avLst/>
          </a:prstGeom>
          <a:solidFill>
            <a:srgbClr val="1A4E7A"/>
          </a:solidFill>
          <a:ln w="1905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74920" y="777240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86200" y="1280160"/>
            <a:ext cx="0" cy="320040"/>
          </a:xfrm>
          <a:prstGeom prst="line">
            <a:avLst/>
          </a:prstGeom>
          <a:noFill/>
          <a:ln w="25400">
            <a:solidFill>
              <a:srgbClr val="5080A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77640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090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HTTPS / REST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88720" y="1645920"/>
            <a:ext cx="6400800" cy="548640"/>
          </a:xfrm>
          <a:prstGeom prst="rect">
            <a:avLst/>
          </a:prstGeom>
          <a:solidFill>
            <a:srgbClr val="3D2B00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34440" y="1645920"/>
            <a:ext cx="6400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Node.js + Express.js  REST API Gateway  •  JWT Authentication Middleware  •  Input Validation (express-validator)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886200" y="2194560"/>
            <a:ext cx="0" cy="320040"/>
          </a:xfrm>
          <a:prstGeom prst="line">
            <a:avLst/>
          </a:prstGeom>
          <a:noFill/>
          <a:ln w="25400">
            <a:solidFill>
              <a:srgbClr val="5080A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34440" y="2578608"/>
            <a:ext cx="804672" cy="594360"/>
          </a:xfrm>
          <a:prstGeom prst="rect">
            <a:avLst/>
          </a:prstGeom>
          <a:solidFill>
            <a:srgbClr val="2C1754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2578608"/>
            <a:ext cx="804672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148840" y="2578608"/>
            <a:ext cx="804672" cy="594360"/>
          </a:xfrm>
          <a:prstGeom prst="rect">
            <a:avLst/>
          </a:prstGeom>
          <a:solidFill>
            <a:srgbClr val="2C1754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148840" y="2578608"/>
            <a:ext cx="804672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Issue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Reporting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063240" y="2578608"/>
            <a:ext cx="804672" cy="594360"/>
          </a:xfrm>
          <a:prstGeom prst="rect">
            <a:avLst/>
          </a:prstGeom>
          <a:solidFill>
            <a:srgbClr val="2C1754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063240" y="2578608"/>
            <a:ext cx="804672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Requests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977640" y="2578608"/>
            <a:ext cx="804672" cy="594360"/>
          </a:xfrm>
          <a:prstGeom prst="rect">
            <a:avLst/>
          </a:prstGeom>
          <a:solidFill>
            <a:srgbClr val="2C1754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977640" y="2578608"/>
            <a:ext cx="804672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Electricity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Req.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92040" y="2578608"/>
            <a:ext cx="804672" cy="594360"/>
          </a:xfrm>
          <a:prstGeom prst="rect">
            <a:avLst/>
          </a:prstGeom>
          <a:solidFill>
            <a:srgbClr val="2C1754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92040" y="2578608"/>
            <a:ext cx="804672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806440" y="2578608"/>
            <a:ext cx="804672" cy="594360"/>
          </a:xfrm>
          <a:prstGeom prst="rect">
            <a:avLst/>
          </a:prstGeom>
          <a:solidFill>
            <a:srgbClr val="2C1754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06440" y="2578608"/>
            <a:ext cx="804672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Donations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(Razorpay)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720840" y="2578608"/>
            <a:ext cx="804672" cy="594360"/>
          </a:xfrm>
          <a:prstGeom prst="rect">
            <a:avLst/>
          </a:prstGeom>
          <a:solidFill>
            <a:srgbClr val="2C1754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20840" y="2578608"/>
            <a:ext cx="804672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D4AA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Charts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886200" y="3172968"/>
            <a:ext cx="0" cy="347472"/>
          </a:xfrm>
          <a:prstGeom prst="line">
            <a:avLst/>
          </a:prstGeom>
          <a:noFill/>
          <a:ln w="25400">
            <a:solidFill>
              <a:srgbClr val="5080A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234440" y="3547872"/>
            <a:ext cx="1828800" cy="548640"/>
          </a:xfrm>
          <a:prstGeom prst="rect">
            <a:avLst/>
          </a:prstGeom>
          <a:solidFill>
            <a:srgbClr val="0B3320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23444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D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80D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(Railway)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91840" y="3547872"/>
            <a:ext cx="1828800" cy="548640"/>
          </a:xfrm>
          <a:prstGeom prst="rect">
            <a:avLst/>
          </a:prstGeom>
          <a:solidFill>
            <a:srgbClr val="0B3320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9184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D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Bcrypt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80D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Password Store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349240" y="3547872"/>
            <a:ext cx="1828800" cy="548640"/>
          </a:xfrm>
          <a:prstGeom prst="rect">
            <a:avLst/>
          </a:prstGeom>
          <a:solidFill>
            <a:srgbClr val="0B3320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34924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D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80D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 Store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635240" y="1645920"/>
            <a:ext cx="1444750" cy="2335065"/>
          </a:xfrm>
          <a:prstGeom prst="rect">
            <a:avLst/>
          </a:prstGeom>
          <a:solidFill>
            <a:srgbClr val="1A2435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571230" y="1675359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090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EXTERNAL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00" b="1" dirty="0">
                <a:solidFill>
                  <a:srgbClr val="7090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SERVICES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680960" y="2022831"/>
            <a:ext cx="1353312" cy="530352"/>
          </a:xfrm>
          <a:prstGeom prst="rect">
            <a:avLst/>
          </a:prstGeom>
          <a:solidFill>
            <a:srgbClr val="253545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678061" y="2029968"/>
            <a:ext cx="135331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Razorpay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Payments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694676" y="2664918"/>
            <a:ext cx="1353312" cy="530352"/>
          </a:xfrm>
          <a:prstGeom prst="rect">
            <a:avLst/>
          </a:prstGeom>
          <a:solidFill>
            <a:srgbClr val="253545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694676" y="2664918"/>
            <a:ext cx="135331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Railway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Host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697129" y="3346704"/>
            <a:ext cx="1353312" cy="530352"/>
          </a:xfrm>
          <a:prstGeom prst="rect">
            <a:avLst/>
          </a:prstGeom>
          <a:solidFill>
            <a:srgbClr val="253545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689992" y="3346704"/>
            <a:ext cx="1353312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CI/CD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64008" cy="11430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4632" y="978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4632" y="1325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React.js · React Router · Recharts · Axios · CSS Modules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6400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65192" y="978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5192" y="1325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Node.js · Express.js · JWT (jsonwebtoken) · bcryptjs · dotenv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16712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64008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" y="22768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" y="262432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(Railway Cloud) · mysql2 driver · Stored Procedures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00600" y="216712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2167128"/>
            <a:ext cx="64008" cy="11430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65192" y="22768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Payments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65192" y="262432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Razorpay SDK (Test Mode) · Webhook Verification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46557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465576"/>
            <a:ext cx="6400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" y="35753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" y="392277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 · Thunder Client · VS Code · Postman · Railway CLI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346557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3465576"/>
            <a:ext cx="64008" cy="114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65192" y="35753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65192" y="392277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 Auth Middleware · bcrypt Password Hashing · CORS · Helmet.js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Modules &amp; Features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11680" cy="10972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347472" cy="34747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Authentication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" y="148132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 + bcrypt secure login/register for citizens &amp; admin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04872" y="8229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04872" y="822960"/>
            <a:ext cx="201168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96312" y="1024128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96312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07792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Issue Reporting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14600" y="148132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Raise, track &amp; resolve civic issues with status updates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81144" y="8229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81144" y="822960"/>
            <a:ext cx="201168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2584" y="1024128"/>
            <a:ext cx="347472" cy="34747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72584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84064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 Requests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90872" y="148132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Citizens request water connections; admin approves/tracks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757416" y="8229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57416" y="822960"/>
            <a:ext cx="201168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48856" y="1024128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4885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60336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Electricity Module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7144" y="148132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connection &amp; fault reporting with category tracking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28600" y="278892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2788920"/>
            <a:ext cx="2011680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2990088"/>
            <a:ext cx="347472" cy="34747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04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Housing Requests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8328" y="344728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Housing scheme applications for eligible villagers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404872" y="278892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404872" y="2788920"/>
            <a:ext cx="2011680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496312" y="299008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496312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907792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PDS Module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514600" y="344728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Ration card &amp; food grain distribution request portal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81144" y="278892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581144" y="2788920"/>
            <a:ext cx="201168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672584" y="2990088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672584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84064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Donations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690872" y="344728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Razorpay-powered donations with order &amp; payment APIs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757416" y="278892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757416" y="2788920"/>
            <a:ext cx="2011680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848856" y="2990088"/>
            <a:ext cx="347472" cy="34747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48856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260336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 &amp; Analytics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67144" y="3447288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Recharts dashboards for fund flow &amp; request statistics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UI Screens – Citizen Portal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474720"/>
          </a:xfrm>
          <a:prstGeom prst="rect">
            <a:avLst/>
          </a:prstGeom>
          <a:solidFill>
            <a:srgbClr val="E0EAF5"/>
          </a:solidFill>
          <a:ln w="19050">
            <a:solidFill>
              <a:srgbClr val="B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828800" cy="1645920"/>
          </a:xfrm>
          <a:prstGeom prst="rect">
            <a:avLst/>
          </a:prstGeom>
          <a:solidFill>
            <a:srgbClr val="C8DCEE">
              <a:alpha val="70000"/>
            </a:srgbClr>
          </a:solidFill>
          <a:ln w="12700">
            <a:solidFill>
              <a:srgbClr val="90B4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90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Screenshot ]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Login / Register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3474720"/>
          </a:xfrm>
          <a:prstGeom prst="rect">
            <a:avLst/>
          </a:prstGeom>
          <a:solidFill>
            <a:srgbClr val="E0EAF5"/>
          </a:solidFill>
          <a:ln w="19050">
            <a:solidFill>
              <a:srgbClr val="B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0" y="1417320"/>
            <a:ext cx="1828800" cy="1645920"/>
          </a:xfrm>
          <a:prstGeom prst="rect">
            <a:avLst/>
          </a:prstGeom>
          <a:solidFill>
            <a:srgbClr val="C8DCEE">
              <a:alpha val="70000"/>
            </a:srgbClr>
          </a:solidFill>
          <a:ln w="12700">
            <a:solidFill>
              <a:srgbClr val="90B4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1417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90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Screenshot ]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Issue Reporting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3474720"/>
          </a:xfrm>
          <a:prstGeom prst="rect">
            <a:avLst/>
          </a:prstGeom>
          <a:solidFill>
            <a:srgbClr val="E0EAF5"/>
          </a:solidFill>
          <a:ln w="19050">
            <a:solidFill>
              <a:srgbClr val="B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0" y="1417320"/>
            <a:ext cx="1828800" cy="1645920"/>
          </a:xfrm>
          <a:prstGeom prst="rect">
            <a:avLst/>
          </a:prstGeom>
          <a:solidFill>
            <a:srgbClr val="C8DCEE">
              <a:alpha val="70000"/>
            </a:srgbClr>
          </a:solidFill>
          <a:ln w="12700">
            <a:solidFill>
              <a:srgbClr val="90B4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1417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90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Screenshot ]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2648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Request Dashboard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90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Replace placeholders with actual screenshots from the deployed application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UI Screens – Admin Dashboard &amp; Reports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3200400"/>
          </a:xfrm>
          <a:prstGeom prst="rect">
            <a:avLst/>
          </a:prstGeom>
          <a:solidFill>
            <a:srgbClr val="E0EAF5"/>
          </a:solidFill>
          <a:ln w="19050">
            <a:solidFill>
              <a:srgbClr val="B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291840" cy="2286000"/>
          </a:xfrm>
          <a:prstGeom prst="rect">
            <a:avLst/>
          </a:prstGeom>
          <a:solidFill>
            <a:srgbClr val="C8DCEE">
              <a:alpha val="70000"/>
            </a:srgbClr>
          </a:solidFill>
          <a:ln w="12700">
            <a:solidFill>
              <a:srgbClr val="90B4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090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Screenshot 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Fund Transparency Dashboard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3200400"/>
          </a:xfrm>
          <a:prstGeom prst="rect">
            <a:avLst/>
          </a:prstGeom>
          <a:solidFill>
            <a:srgbClr val="E0EAF5"/>
          </a:solidFill>
          <a:ln w="19050">
            <a:solidFill>
              <a:srgbClr val="B0C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20640" y="1188720"/>
            <a:ext cx="3291840" cy="2286000"/>
          </a:xfrm>
          <a:prstGeom prst="rect">
            <a:avLst/>
          </a:prstGeom>
          <a:solidFill>
            <a:srgbClr val="C8DCEE">
              <a:alpha val="70000"/>
            </a:srgbClr>
          </a:solidFill>
          <a:ln w="12700">
            <a:solidFill>
              <a:srgbClr val="90B4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20640" y="11887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090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Screenshot 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 &amp; Charts (Recharts)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90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Replace placeholders with actual screenshots from the deployed application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Design &amp; Database Schema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API Endpoints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12" y="1325880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3258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2416" y="13350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/api/auth/register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99232" y="1335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Register new user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" y="1618488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" y="1618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2416" y="16276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/api/auth/login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99232" y="1627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Login &amp; receive JWT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8912" y="1911096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19110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416" y="19202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/api/issues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99232" y="1920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 civic issue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8912" y="2203704"/>
            <a:ext cx="548640" cy="21945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8912" y="22037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GET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2416" y="22128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/api/issues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99232" y="2212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 all issues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8912" y="2496312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8912" y="24963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42416" y="25054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/api/water-requests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999232" y="2505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water request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38912" y="2788920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8912" y="27889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2416" y="27980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/api/electricity-requests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999232" y="27980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electricity req.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8912" y="3081528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38912" y="3081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42416" y="3090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/api/housing-requests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999232" y="30906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housing request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8912" y="3374136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33741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42416" y="33832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/api/pds-requests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999232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PDS ration request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38912" y="3666744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38912" y="36667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42416" y="3675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/api/donations/order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999232" y="3675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Razorpay order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38912" y="3959352"/>
            <a:ext cx="548640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38912" y="39593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POST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42416" y="39684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/api/donations/verify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999232" y="39684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Verify payment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38912" y="4251960"/>
            <a:ext cx="548640" cy="21945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38912" y="4251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GET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42416" y="42611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355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/api/reports/summary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999232" y="4261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fund summary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709160" y="822960"/>
            <a:ext cx="41148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84632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Tables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800600" y="1335024"/>
            <a:ext cx="3840480" cy="347472"/>
          </a:xfrm>
          <a:prstGeom prst="rect">
            <a:avLst/>
          </a:prstGeom>
          <a:solidFill>
            <a:srgbClr val="F0F6FF"/>
          </a:solidFill>
          <a:ln w="9525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846320" y="1353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users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080760" y="13624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070A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id, name, email, password_hash, role, village_id, created_at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800600" y="1764792"/>
            <a:ext cx="3840480" cy="347472"/>
          </a:xfrm>
          <a:prstGeom prst="rect">
            <a:avLst/>
          </a:prstGeom>
          <a:solidFill>
            <a:srgbClr val="F0F6FF"/>
          </a:solidFill>
          <a:ln w="9525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84632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issues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080760" y="17922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070A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id, user_id, title, description, status, category, created_at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800600" y="2194560"/>
            <a:ext cx="3840480" cy="347472"/>
          </a:xfrm>
          <a:prstGeom prst="rect">
            <a:avLst/>
          </a:prstGeom>
          <a:solidFill>
            <a:srgbClr val="F0F6FF"/>
          </a:solidFill>
          <a:ln w="9525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846320" y="2212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water_requests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080760" y="22219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070A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id, user_id, address, connection_type, status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800600" y="2624328"/>
            <a:ext cx="3840480" cy="347472"/>
          </a:xfrm>
          <a:prstGeom prst="rect">
            <a:avLst/>
          </a:prstGeom>
          <a:solidFill>
            <a:srgbClr val="F0F6FF"/>
          </a:solidFill>
          <a:ln w="9525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846320" y="2642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electricity_requests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080760" y="2651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070A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id, user_id, type, description, status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800600" y="3054096"/>
            <a:ext cx="3840480" cy="347472"/>
          </a:xfrm>
          <a:prstGeom prst="rect">
            <a:avLst/>
          </a:prstGeom>
          <a:solidFill>
            <a:srgbClr val="F0F6FF"/>
          </a:solidFill>
          <a:ln w="9525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846320" y="3072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housing_requests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080760" y="3081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070A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id, user_id, scheme, documents_url, status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800600" y="3483864"/>
            <a:ext cx="3840480" cy="347472"/>
          </a:xfrm>
          <a:prstGeom prst="rect">
            <a:avLst/>
          </a:prstGeom>
          <a:solidFill>
            <a:srgbClr val="F0F6FF"/>
          </a:solidFill>
          <a:ln w="9525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846320" y="3502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pds_requests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080760" y="3511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070A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id, user_id, ration_type, quantity, status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800600" y="3913632"/>
            <a:ext cx="3840480" cy="347472"/>
          </a:xfrm>
          <a:prstGeom prst="rect">
            <a:avLst/>
          </a:prstGeom>
          <a:solidFill>
            <a:srgbClr val="F0F6FF"/>
          </a:solidFill>
          <a:ln w="9525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84632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donations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6080760" y="39410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070A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id, user_id, amount, razorpay_order_id, payment_status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800600" y="4343400"/>
            <a:ext cx="3840480" cy="347472"/>
          </a:xfrm>
          <a:prstGeom prst="rect">
            <a:avLst/>
          </a:prstGeom>
          <a:solidFill>
            <a:srgbClr val="F0F6FF"/>
          </a:solidFill>
          <a:ln w="9525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4846320" y="4361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fund_reports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6080760" y="4370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070A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id, category, allocated, spent, period, created_by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 Highlights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64008" cy="18288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 Authentication Flow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 issued on login (1h expiry)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Middleware verifies token on all protected routes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access: admin vs citizen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64008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8348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Razorpay Donation Flow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83480" y="1399032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 created on backend with amount &amp; currency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 Razorpay checkout captures payment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Webhook verify signature → mark paid in DB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64008" cy="1828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Request Lifecycle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410712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Citizen submits → status: PENDING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reviews → APPROVED / REJECTED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Email-ready status update hook (extensible)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2880360"/>
            <a:ext cx="64008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8348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Fund Transparency Reports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83480" y="3410712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inputs allocated vs spent per category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Recharts renders bar/pie charts on React frontend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Endpoint: GET /api/reports/summary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&amp; Deployment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7315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Testing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 Used: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74520" y="1353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Thunder Client (VS Code extension)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 Tests: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74520" y="17922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Register, Login, Invalid credential cases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Issue API: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74520" y="22311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Create, Read, Status update endpoints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Request APIs: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74520" y="2670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Water, Electricity, Housing, PDS flows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Payment Tests: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74520" y="3108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Razorpay test mode (Test card: 4111…)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 API: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74520" y="35478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Fund summary &amp; chart data validation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986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Coverage: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74520" y="39867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20+ endpoints tested manually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916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822960"/>
            <a:ext cx="41148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1353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on Railway Cloud (free tier)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17922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63640" y="1792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Node.js/Express deployed on Railway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0" y="2231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63640" y="2231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React.js – ready for Netlify / Vercel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4632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Version Ctrl: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63640" y="2670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 (github.com/Satwik1229/Voice-Of-Village)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46320" y="3108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 Config: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6364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.env for DB creds, JWT secret, Razorpay keys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4632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Port: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63640" y="3547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Backend: 5000  |  Frontend: 3000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3986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Status: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63640" y="3986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tested and functional ✓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 Faced &amp; Key Learnings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93192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0" y="804672"/>
            <a:ext cx="425196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0" y="8046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We Solved 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3931920" cy="585216"/>
          </a:xfrm>
          <a:prstGeom prst="rect">
            <a:avLst/>
          </a:prstGeom>
          <a:solidFill>
            <a:srgbClr val="F8FB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4251960" cy="585216"/>
          </a:xfrm>
          <a:prstGeom prst="rect">
            <a:avLst/>
          </a:prstGeom>
          <a:solidFill>
            <a:srgbClr val="F8FB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Railway MySQL connection drops on idle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Added connection pooling with keep-alive queries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39319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4251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1892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Razorpay signature verification mismatch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8928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Fixed by using raw body parser for webhook route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3931920" cy="585216"/>
          </a:xfrm>
          <a:prstGeom prst="rect">
            <a:avLst/>
          </a:prstGeom>
          <a:solidFill>
            <a:srgbClr val="F8FB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0" y="2487168"/>
            <a:ext cx="4251960" cy="585216"/>
          </a:xfrm>
          <a:prstGeom prst="rect">
            <a:avLst/>
          </a:prstGeom>
          <a:solidFill>
            <a:srgbClr val="F8FB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25511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 expiry handling on frontend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63440" y="25511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Axios interceptor auto-refreshes token or redirects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145536"/>
            <a:ext cx="39319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0" y="3145536"/>
            <a:ext cx="4251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32095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CORS errors between React &amp; Express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63440" y="320954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Configured cors() middleware with origin whitelist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803904"/>
            <a:ext cx="3931920" cy="585216"/>
          </a:xfrm>
          <a:prstGeom prst="rect">
            <a:avLst/>
          </a:prstGeom>
          <a:solidFill>
            <a:srgbClr val="F8FB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0" y="3803904"/>
            <a:ext cx="4251960" cy="585216"/>
          </a:xfrm>
          <a:prstGeom prst="rect">
            <a:avLst/>
          </a:prstGeom>
          <a:solidFill>
            <a:srgbClr val="F8FBFF"/>
          </a:solidFill>
          <a:ln w="9525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38679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module route conflicts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63440" y="38679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/api/[module] namespacing for all routes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850392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0040" y="446227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4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Learnings:  Full-stack architecture design  •  Secure payment integration  •  REST API best practices  •  Cloud DB deployment  •  Team collaboration via GitHub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 &amp; Enhancements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8229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77440" y="996696"/>
            <a:ext cx="566928" cy="256032"/>
          </a:xfrm>
          <a:prstGeom prst="rect">
            <a:avLst/>
          </a:prstGeom>
          <a:solidFill>
            <a:srgbClr val="3498DB">
              <a:alpha val="20000"/>
            </a:srgbClr>
          </a:solidFill>
          <a:ln w="952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77440" y="9966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2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Mobile App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 Native app for offline-first issue reporting &amp; notifications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72968" y="8686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72968" y="868680"/>
            <a:ext cx="2743200" cy="8229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76088" y="996696"/>
            <a:ext cx="566928" cy="256032"/>
          </a:xfrm>
          <a:prstGeom prst="rect">
            <a:avLst/>
          </a:prstGeom>
          <a:solidFill>
            <a:srgbClr val="9B59B6">
              <a:alpha val="20000"/>
            </a:srgbClr>
          </a:solidFill>
          <a:ln w="9525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76088" y="9966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B59B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2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10128" y="1005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Complaint Routing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10128" y="13990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NLP-based auto-categorization and priority scoring of issues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71616" y="8686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71616" y="868680"/>
            <a:ext cx="2743200" cy="822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74736" y="996696"/>
            <a:ext cx="566928" cy="256032"/>
          </a:xfrm>
          <a:prstGeom prst="rect">
            <a:avLst/>
          </a:prstGeom>
          <a:solidFill>
            <a:srgbClr val="E74C3C">
              <a:alpha val="20000"/>
            </a:srgbClr>
          </a:solidFill>
          <a:ln w="9525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74736" y="9966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3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08776" y="1005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GIS Integration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08776" y="13990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Map-based visualization of infrastructure issues by village zone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807208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2807208"/>
            <a:ext cx="2743200" cy="822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377440" y="2935224"/>
            <a:ext cx="566928" cy="256032"/>
          </a:xfrm>
          <a:prstGeom prst="rect">
            <a:avLst/>
          </a:prstGeom>
          <a:solidFill>
            <a:srgbClr val="F5A623">
              <a:alpha val="20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377440" y="29352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2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2944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Multi-language UI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1480" y="333756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Telugu &amp; Hindi localization for broader rural accessibility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172968" y="2807208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172968" y="2807208"/>
            <a:ext cx="2743200" cy="822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276088" y="2935224"/>
            <a:ext cx="566928" cy="256032"/>
          </a:xfrm>
          <a:prstGeom prst="rect">
            <a:avLst/>
          </a:prstGeom>
          <a:solidFill>
            <a:srgbClr val="27AE60">
              <a:alpha val="20000"/>
            </a:srgbClr>
          </a:solidFill>
          <a:ln w="95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76088" y="29352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2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10128" y="2944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SMS Notifications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10128" y="333756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Twilio/MSG91 integration for status updates via SMS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071616" y="2807208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71616" y="2807208"/>
            <a:ext cx="2743200" cy="822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74736" y="2935224"/>
            <a:ext cx="566928" cy="256032"/>
          </a:xfrm>
          <a:prstGeom prst="rect">
            <a:avLst/>
          </a:prstGeom>
          <a:solidFill>
            <a:srgbClr val="E67E22">
              <a:alpha val="20000"/>
            </a:srgbClr>
          </a:solidFill>
          <a:ln w="95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174736" y="29352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7E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3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208776" y="2944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 Audit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08776" y="333756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Immutable ledger for fund transactions using Hyperledger Fabric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CD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Voice of Village is a complete full-stack web application designed to bring transparency, accountability, and digital access to rural governance. It digitizes 8 essential civic processes, enables fund tracking, and empowers citizens with a voice.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920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3A608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Modules Built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0" y="2560320"/>
            <a:ext cx="1920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3A608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60320" y="25786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20+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60320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 Endpoints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1920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3A608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0" y="25786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3440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Tables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66560" y="2560320"/>
            <a:ext cx="1920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3A608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66560" y="25786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66560" y="32369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8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Done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8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GitHub: github.com/Satwik1229/Voice-Of-Village  •  Deployed on Railway  •  Built with Node.js + React.js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1273</Words>
  <Application>Microsoft Office PowerPoint</Application>
  <PresentationFormat>On-screen Show (16:9)</PresentationFormat>
  <Paragraphs>274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of Village – Final Review</dc:title>
  <dc:subject>PptxGenJS Presentation</dc:subject>
  <dc:creator>Satwik</dc:creator>
  <cp:lastModifiedBy>vonteru Satwik Reddy</cp:lastModifiedBy>
  <cp:revision>2</cp:revision>
  <dcterms:created xsi:type="dcterms:W3CDTF">2026-04-09T12:44:45Z</dcterms:created>
  <dcterms:modified xsi:type="dcterms:W3CDTF">2026-04-09T13:16:09Z</dcterms:modified>
</cp:coreProperties>
</file>