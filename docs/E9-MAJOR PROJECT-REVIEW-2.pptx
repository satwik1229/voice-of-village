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08" r:id="rId1"/>
  </p:sldMasterIdLst>
  <p:sldIdLst>
    <p:sldId id="256" r:id="rId2"/>
    <p:sldId id="272" r:id="rId3"/>
    <p:sldId id="271" r:id="rId4"/>
    <p:sldId id="257" r:id="rId5"/>
    <p:sldId id="270" r:id="rId6"/>
    <p:sldId id="260" r:id="rId7"/>
    <p:sldId id="274" r:id="rId8"/>
    <p:sldId id="261" r:id="rId9"/>
    <p:sldId id="275" r:id="rId10"/>
    <p:sldId id="269" r:id="rId11"/>
  </p:sldIdLst>
  <p:sldSz cx="18288000" cy="10287000"/>
  <p:notesSz cx="6858000" cy="9144000"/>
  <p:embeddedFontLst>
    <p:embeddedFont>
      <p:font typeface=" Avenir Next Arabic" panose="020B0604020202020204" charset="-78"/>
      <p:regular r:id="rId12"/>
    </p:embeddedFont>
    <p:embeddedFont>
      <p:font typeface="Arimo" panose="020B0604020202020204" charset="0"/>
      <p:regular r:id="rId13"/>
    </p:embeddedFont>
    <p:embeddedFont>
      <p:font typeface="Gill Sans MT" panose="020B0502020104020203" pitchFamily="34" charset="0"/>
      <p:regular r:id="rId14"/>
      <p:bold r:id="rId15"/>
      <p:italic r:id="rId16"/>
      <p:boldItalic r:id="rId17"/>
    </p:embeddedFont>
    <p:embeddedFont>
      <p:font typeface="Wingdings 2" panose="05020102010507070707" pitchFamily="18" charset="2"/>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DD1FF17-3EB3-4CE2-B767-3CACF004CB3F}">
          <p14:sldIdLst>
            <p14:sldId id="256"/>
            <p14:sldId id="272"/>
            <p14:sldId id="271"/>
            <p14:sldId id="257"/>
            <p14:sldId id="270"/>
            <p14:sldId id="260"/>
            <p14:sldId id="274"/>
            <p14:sldId id="261"/>
            <p14:sldId id="275"/>
            <p14:sldId id="26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77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10/22/2025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849391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70567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10/22/2025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97964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26790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08273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30474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01648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10/22/2025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650033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77179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87118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10/22/2025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83316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10/22/2025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32419346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6"/>
          <p:cNvGrpSpPr/>
          <p:nvPr/>
        </p:nvGrpSpPr>
        <p:grpSpPr>
          <a:xfrm>
            <a:off x="2286000" y="1682550"/>
            <a:ext cx="13720575" cy="3581400"/>
            <a:chOff x="-6100" y="0"/>
            <a:chExt cx="18294100" cy="4775200"/>
          </a:xfrm>
        </p:grpSpPr>
        <p:sp>
          <p:nvSpPr>
            <p:cNvPr id="17" name="Freeform 17"/>
            <p:cNvSpPr/>
            <p:nvPr/>
          </p:nvSpPr>
          <p:spPr>
            <a:xfrm>
              <a:off x="0" y="0"/>
              <a:ext cx="18288000" cy="4775200"/>
            </a:xfrm>
            <a:custGeom>
              <a:avLst/>
              <a:gdLst/>
              <a:ahLst/>
              <a:cxnLst/>
              <a:rect l="l" t="t" r="r" b="b"/>
              <a:pathLst>
                <a:path w="18288000" h="4775200">
                  <a:moveTo>
                    <a:pt x="0" y="0"/>
                  </a:moveTo>
                  <a:lnTo>
                    <a:pt x="18288000" y="0"/>
                  </a:lnTo>
                  <a:lnTo>
                    <a:pt x="18288000" y="4775200"/>
                  </a:lnTo>
                  <a:lnTo>
                    <a:pt x="0" y="4775200"/>
                  </a:lnTo>
                  <a:close/>
                </a:path>
              </a:pathLst>
            </a:custGeom>
            <a:solidFill>
              <a:srgbClr val="000000">
                <a:alpha val="0"/>
              </a:srgbClr>
            </a:solidFill>
          </p:spPr>
          <p:txBody>
            <a:bodyPr/>
            <a:lstStyle/>
            <a:p>
              <a:endParaRPr lang="en-IN"/>
            </a:p>
          </p:txBody>
        </p:sp>
        <p:sp>
          <p:nvSpPr>
            <p:cNvPr id="18" name="TextBox 18"/>
            <p:cNvSpPr txBox="1"/>
            <p:nvPr/>
          </p:nvSpPr>
          <p:spPr>
            <a:xfrm>
              <a:off x="-6100" y="1543063"/>
              <a:ext cx="18288000" cy="2154952"/>
            </a:xfrm>
            <a:prstGeom prst="rect">
              <a:avLst/>
            </a:prstGeom>
          </p:spPr>
          <p:txBody>
            <a:bodyPr lIns="0" tIns="0" rIns="0" bIns="0" rtlCol="0" anchor="b"/>
            <a:lstStyle/>
            <a:p>
              <a:r>
                <a:rPr lang="en-US" sz="4800" b="1" dirty="0">
                  <a:latin typeface="Times New Roman" panose="02020603050405020304" pitchFamily="18" charset="0"/>
                  <a:ea typeface="Times New Roman" panose="02020603050405020304" pitchFamily="18" charset="0"/>
                  <a:cs typeface="Times New Roman" panose="02020603050405020304" pitchFamily="18" charset="0"/>
                </a:rPr>
                <a:t>Voice Of Village </a:t>
              </a:r>
              <a:r>
                <a:rPr lang="en-US" sz="4800" b="1" spc="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a:t>
              </a:r>
              <a:r>
                <a:rPr lang="en-US" sz="4800" b="1" dirty="0">
                  <a:latin typeface="Times New Roman" panose="02020603050405020304" pitchFamily="18" charset="0"/>
                  <a:cs typeface="Times New Roman" panose="02020603050405020304" pitchFamily="18" charset="0"/>
                </a:rPr>
                <a:t>Fund Transparency &amp; Issue Reporting System </a:t>
              </a:r>
              <a:endParaRPr lang="en-US" sz="4800" b="1" dirty="0">
                <a:solidFill>
                  <a:srgbClr val="FFFFFF"/>
                </a:solidFill>
                <a:latin typeface="Times New Roman" panose="02020603050405020304" pitchFamily="18" charset="0"/>
                <a:ea typeface="Arimo"/>
                <a:cs typeface="Times New Roman" panose="02020603050405020304" pitchFamily="18" charset="0"/>
                <a:sym typeface="Arimo"/>
              </a:endParaRPr>
            </a:p>
          </p:txBody>
        </p:sp>
      </p:grpSp>
      <p:sp>
        <p:nvSpPr>
          <p:cNvPr id="19" name="TextBox 19"/>
          <p:cNvSpPr txBox="1"/>
          <p:nvPr/>
        </p:nvSpPr>
        <p:spPr>
          <a:xfrm>
            <a:off x="11154037" y="6650893"/>
            <a:ext cx="6531210" cy="2564805"/>
          </a:xfrm>
          <a:prstGeom prst="rect">
            <a:avLst/>
          </a:prstGeom>
        </p:spPr>
        <p:txBody>
          <a:bodyPr lIns="0" tIns="0" rIns="0" bIns="0" rtlCol="0" anchor="t">
            <a:spAutoFit/>
          </a:bodyPr>
          <a:lstStyle/>
          <a:p>
            <a:pPr algn="l">
              <a:lnSpc>
                <a:spcPts val="3960"/>
              </a:lnSpc>
            </a:pPr>
            <a:r>
              <a:rPr lang="en-US" sz="3000" b="1" dirty="0">
                <a:latin typeface="Times New Roman" panose="02020603050405020304" pitchFamily="18" charset="0"/>
                <a:ea typeface=" Avenir Next Arabic"/>
                <a:cs typeface="Times New Roman" panose="02020603050405020304" pitchFamily="18" charset="0"/>
                <a:sym typeface=" Avenir Next Arabic"/>
              </a:rPr>
              <a:t>Presented By: </a:t>
            </a:r>
          </a:p>
          <a:p>
            <a:pPr algn="l">
              <a:lnSpc>
                <a:spcPts val="3960"/>
              </a:lnSpc>
            </a:pPr>
            <a:r>
              <a:rPr lang="en-US" sz="3000" b="1" dirty="0">
                <a:latin typeface="Times New Roman" panose="02020603050405020304" pitchFamily="18" charset="0"/>
                <a:ea typeface=" Avenir Next Arabic"/>
                <a:cs typeface="Times New Roman" panose="02020603050405020304" pitchFamily="18" charset="0"/>
                <a:sym typeface=" Avenir Next Arabic"/>
              </a:rPr>
              <a:t>Batch No : CSE2526MNP – E</a:t>
            </a:r>
            <a:r>
              <a:rPr lang="en-IN" sz="3000" b="1" dirty="0">
                <a:latin typeface="Times New Roman" panose="02020603050405020304" pitchFamily="18" charset="0"/>
                <a:ea typeface=" Avenir Next Arabic"/>
                <a:cs typeface="Times New Roman" panose="02020603050405020304" pitchFamily="18" charset="0"/>
                <a:sym typeface=" Avenir Next Arabic"/>
              </a:rPr>
              <a:t>9</a:t>
            </a:r>
            <a:r>
              <a:rPr lang="en-US" sz="3000" b="1" dirty="0">
                <a:latin typeface="Times New Roman" panose="02020603050405020304" pitchFamily="18" charset="0"/>
                <a:ea typeface=" Avenir Next Arabic"/>
                <a:cs typeface="Times New Roman" panose="02020603050405020304" pitchFamily="18" charset="0"/>
                <a:sym typeface=" Avenir Next Arabic"/>
              </a:rPr>
              <a:t> </a:t>
            </a:r>
          </a:p>
          <a:p>
            <a:pPr algn="l">
              <a:lnSpc>
                <a:spcPts val="3960"/>
              </a:lnSpc>
            </a:pPr>
            <a:r>
              <a:rPr lang="en-IN" sz="3000" b="1" dirty="0" err="1">
                <a:latin typeface="Times New Roman" panose="02020603050405020304" pitchFamily="18" charset="0"/>
                <a:ea typeface=" Avenir Next Arabic"/>
                <a:cs typeface="Times New Roman" panose="02020603050405020304" pitchFamily="18" charset="0"/>
                <a:sym typeface=" Avenir Next Arabic"/>
              </a:rPr>
              <a:t>P.Uday</a:t>
            </a:r>
            <a:r>
              <a:rPr lang="en-US" sz="3000" b="1" dirty="0">
                <a:latin typeface="Times New Roman" panose="02020603050405020304" pitchFamily="18" charset="0"/>
                <a:ea typeface=" Avenir Next Arabic"/>
                <a:cs typeface="Times New Roman" panose="02020603050405020304" pitchFamily="18" charset="0"/>
                <a:sym typeface=" Avenir Next Arabic"/>
              </a:rPr>
              <a:t>– 22R11A05M9</a:t>
            </a:r>
          </a:p>
          <a:p>
            <a:pPr algn="l">
              <a:lnSpc>
                <a:spcPts val="3960"/>
              </a:lnSpc>
            </a:pPr>
            <a:r>
              <a:rPr lang="en-US" sz="3000" b="1" dirty="0" err="1">
                <a:latin typeface="Times New Roman" panose="02020603050405020304" pitchFamily="18" charset="0"/>
                <a:ea typeface=" Avenir Next Arabic"/>
                <a:cs typeface="Times New Roman" panose="02020603050405020304" pitchFamily="18" charset="0"/>
                <a:sym typeface=" Avenir Next Arabic"/>
              </a:rPr>
              <a:t>V.Satwik</a:t>
            </a:r>
            <a:r>
              <a:rPr lang="en-US" sz="3000" b="1" dirty="0">
                <a:latin typeface="Times New Roman" panose="02020603050405020304" pitchFamily="18" charset="0"/>
                <a:ea typeface=" Avenir Next Arabic"/>
                <a:cs typeface="Times New Roman" panose="02020603050405020304" pitchFamily="18" charset="0"/>
                <a:sym typeface=" Avenir Next Arabic"/>
              </a:rPr>
              <a:t> Reddy– 22R11A05</a:t>
            </a:r>
            <a:r>
              <a:rPr lang="en-IN" sz="3000" b="1" dirty="0">
                <a:latin typeface="Times New Roman" panose="02020603050405020304" pitchFamily="18" charset="0"/>
                <a:ea typeface=" Avenir Next Arabic"/>
                <a:cs typeface="Times New Roman" panose="02020603050405020304" pitchFamily="18" charset="0"/>
                <a:sym typeface=" Avenir Next Arabic"/>
              </a:rPr>
              <a:t>N9</a:t>
            </a:r>
            <a:endParaRPr lang="en-US" sz="3000" b="1" dirty="0">
              <a:latin typeface="Times New Roman" panose="02020603050405020304" pitchFamily="18" charset="0"/>
              <a:ea typeface=" Avenir Next Arabic"/>
              <a:cs typeface="Times New Roman" panose="02020603050405020304" pitchFamily="18" charset="0"/>
              <a:sym typeface=" Avenir Next Arabic"/>
            </a:endParaRPr>
          </a:p>
          <a:p>
            <a:pPr algn="l">
              <a:lnSpc>
                <a:spcPts val="3960"/>
              </a:lnSpc>
            </a:pPr>
            <a:r>
              <a:rPr lang="en-IN" sz="3000" b="1" dirty="0" err="1">
                <a:latin typeface="Times New Roman" panose="02020603050405020304" pitchFamily="18" charset="0"/>
                <a:ea typeface=" Avenir Next Arabic"/>
                <a:cs typeface="Times New Roman" panose="02020603050405020304" pitchFamily="18" charset="0"/>
                <a:sym typeface=" Avenir Next Arabic"/>
              </a:rPr>
              <a:t>M.Manikanth</a:t>
            </a:r>
            <a:r>
              <a:rPr lang="en-IN" sz="3000" b="1" dirty="0">
                <a:latin typeface="Times New Roman" panose="02020603050405020304" pitchFamily="18" charset="0"/>
                <a:ea typeface=" Avenir Next Arabic"/>
                <a:cs typeface="Times New Roman" panose="02020603050405020304" pitchFamily="18" charset="0"/>
                <a:sym typeface=" Avenir Next Arabic"/>
              </a:rPr>
              <a:t> Reddy</a:t>
            </a:r>
            <a:r>
              <a:rPr lang="en-US" sz="3000" b="1" dirty="0">
                <a:latin typeface="Times New Roman" panose="02020603050405020304" pitchFamily="18" charset="0"/>
                <a:ea typeface=" Avenir Next Arabic"/>
                <a:cs typeface="Times New Roman" panose="02020603050405020304" pitchFamily="18" charset="0"/>
                <a:sym typeface=" Avenir Next Arabic"/>
              </a:rPr>
              <a:t>– 22R11A05</a:t>
            </a:r>
            <a:r>
              <a:rPr lang="en-IN" sz="3000" b="1" dirty="0">
                <a:latin typeface="Times New Roman" panose="02020603050405020304" pitchFamily="18" charset="0"/>
                <a:ea typeface=" Avenir Next Arabic"/>
                <a:cs typeface="Times New Roman" panose="02020603050405020304" pitchFamily="18" charset="0"/>
                <a:sym typeface=" Avenir Next Arabic"/>
              </a:rPr>
              <a:t>M0</a:t>
            </a:r>
            <a:endParaRPr lang="en-US" sz="3000" b="1" dirty="0">
              <a:latin typeface="Times New Roman" panose="02020603050405020304" pitchFamily="18" charset="0"/>
              <a:ea typeface=" Avenir Next Arabic"/>
              <a:cs typeface="Times New Roman" panose="02020603050405020304" pitchFamily="18" charset="0"/>
              <a:sym typeface=" Avenir Next Arabic"/>
            </a:endParaRPr>
          </a:p>
        </p:txBody>
      </p:sp>
      <p:sp>
        <p:nvSpPr>
          <p:cNvPr id="20" name="TextBox 19">
            <a:extLst>
              <a:ext uri="{FF2B5EF4-FFF2-40B4-BE49-F238E27FC236}">
                <a16:creationId xmlns:a16="http://schemas.microsoft.com/office/drawing/2014/main" id="{929C28A5-F332-7A7E-2056-B3A3CCED7847}"/>
              </a:ext>
            </a:extLst>
          </p:cNvPr>
          <p:cNvSpPr txBox="1"/>
          <p:nvPr/>
        </p:nvSpPr>
        <p:spPr>
          <a:xfrm>
            <a:off x="2133600" y="927524"/>
            <a:ext cx="16294332" cy="707886"/>
          </a:xfrm>
          <a:prstGeom prst="rect">
            <a:avLst/>
          </a:prstGeom>
          <a:noFill/>
        </p:spPr>
        <p:txBody>
          <a:bodyPr wrap="none" rtlCol="0">
            <a:spAutoFit/>
          </a:bodyPr>
          <a:lstStyle/>
          <a:p>
            <a:r>
              <a:rPr lang="en-US" sz="4000" b="1" dirty="0">
                <a:latin typeface="Times New Roman" panose="02020603050405020304" pitchFamily="18" charset="0"/>
                <a:cs typeface="Times New Roman" panose="02020603050405020304" pitchFamily="18" charset="0"/>
              </a:rPr>
              <a:t>GEETHANJALI COLLEGE OF ENGINEERING AND TECHNOLOGY</a:t>
            </a:r>
            <a:endParaRPr lang="en-IN" sz="40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1FC40CC-DF5A-A45E-CC7E-40A5688AEA82}"/>
              </a:ext>
            </a:extLst>
          </p:cNvPr>
          <p:cNvSpPr txBox="1"/>
          <p:nvPr/>
        </p:nvSpPr>
        <p:spPr>
          <a:xfrm>
            <a:off x="2438400" y="5290192"/>
            <a:ext cx="5993949" cy="646331"/>
          </a:xfrm>
          <a:prstGeom prst="rect">
            <a:avLst/>
          </a:prstGeom>
          <a:noFill/>
        </p:spPr>
        <p:txBody>
          <a:bodyPr wrap="none" rtlCol="0">
            <a:spAutoFit/>
          </a:bodyPr>
          <a:lstStyle/>
          <a:p>
            <a:r>
              <a:rPr lang="en-US" sz="3600" b="1" dirty="0">
                <a:latin typeface="Times New Roman" panose="02020603050405020304" pitchFamily="18" charset="0"/>
                <a:cs typeface="Times New Roman" panose="02020603050405020304" pitchFamily="18" charset="0"/>
              </a:rPr>
              <a:t>Internal Guide </a:t>
            </a:r>
            <a:r>
              <a:rPr lang="en-US" sz="3600" b="1" dirty="0"/>
              <a:t>: </a:t>
            </a:r>
            <a:r>
              <a:rPr lang="en-IN" sz="3600" b="1" dirty="0" err="1">
                <a:latin typeface="Times New Roman" panose="02020603050405020304" pitchFamily="18" charset="0"/>
                <a:cs typeface="Times New Roman" panose="02020603050405020304" pitchFamily="18" charset="0"/>
              </a:rPr>
              <a:t>CH.Sandhya</a:t>
            </a:r>
            <a:endParaRPr lang="en-IN" sz="3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86" y="0"/>
            <a:ext cx="18283428" cy="10287000"/>
            <a:chOff x="0" y="0"/>
            <a:chExt cx="24377904" cy="13716000"/>
          </a:xfrm>
        </p:grpSpPr>
        <p:sp>
          <p:nvSpPr>
            <p:cNvPr id="3" name="Freeform 3"/>
            <p:cNvSpPr/>
            <p:nvPr/>
          </p:nvSpPr>
          <p:spPr>
            <a:xfrm>
              <a:off x="0" y="0"/>
              <a:ext cx="24377904" cy="13716000"/>
            </a:xfrm>
            <a:custGeom>
              <a:avLst/>
              <a:gdLst/>
              <a:ahLst/>
              <a:cxnLst/>
              <a:rect l="l" t="t" r="r" b="b"/>
              <a:pathLst>
                <a:path w="24377904" h="13716000">
                  <a:moveTo>
                    <a:pt x="0" y="0"/>
                  </a:moveTo>
                  <a:lnTo>
                    <a:pt x="24377904" y="0"/>
                  </a:lnTo>
                  <a:lnTo>
                    <a:pt x="24377904" y="13716000"/>
                  </a:lnTo>
                  <a:lnTo>
                    <a:pt x="0" y="13716000"/>
                  </a:lnTo>
                  <a:close/>
                  <a:moveTo>
                    <a:pt x="982599" y="982599"/>
                  </a:moveTo>
                  <a:lnTo>
                    <a:pt x="982599" y="12733401"/>
                  </a:lnTo>
                  <a:lnTo>
                    <a:pt x="23395305" y="12733401"/>
                  </a:lnTo>
                  <a:lnTo>
                    <a:pt x="23395305" y="982599"/>
                  </a:lnTo>
                  <a:close/>
                </a:path>
              </a:pathLst>
            </a:custGeom>
            <a:gradFill rotWithShape="1">
              <a:gsLst>
                <a:gs pos="0">
                  <a:srgbClr val="4D4EE6">
                    <a:alpha val="40000"/>
                  </a:srgbClr>
                </a:gs>
                <a:gs pos="100000">
                  <a:srgbClr val="F900A0">
                    <a:alpha val="40000"/>
                  </a:srgbClr>
                </a:gs>
              </a:gsLst>
              <a:lin ang="3638167"/>
            </a:gradFill>
          </p:spPr>
          <p:txBody>
            <a:bodyPr/>
            <a:lstStyle/>
            <a:p>
              <a:endParaRPr lang="en-IN"/>
            </a:p>
          </p:txBody>
        </p:sp>
      </p:grpSp>
      <p:grpSp>
        <p:nvGrpSpPr>
          <p:cNvPr id="4" name="Group 4"/>
          <p:cNvGrpSpPr/>
          <p:nvPr/>
        </p:nvGrpSpPr>
        <p:grpSpPr>
          <a:xfrm>
            <a:off x="0" y="-1079874"/>
            <a:ext cx="18283428" cy="10287000"/>
            <a:chOff x="0" y="0"/>
            <a:chExt cx="24377904" cy="13716000"/>
          </a:xfrm>
        </p:grpSpPr>
        <p:sp>
          <p:nvSpPr>
            <p:cNvPr id="5" name="Freeform 5"/>
            <p:cNvSpPr/>
            <p:nvPr/>
          </p:nvSpPr>
          <p:spPr>
            <a:xfrm>
              <a:off x="0" y="0"/>
              <a:ext cx="24377904" cy="13716000"/>
            </a:xfrm>
            <a:custGeom>
              <a:avLst/>
              <a:gdLst/>
              <a:ahLst/>
              <a:cxnLst/>
              <a:rect l="l" t="t" r="r" b="b"/>
              <a:pathLst>
                <a:path w="24377904" h="13716000">
                  <a:moveTo>
                    <a:pt x="0" y="0"/>
                  </a:moveTo>
                  <a:lnTo>
                    <a:pt x="24377904" y="0"/>
                  </a:lnTo>
                  <a:lnTo>
                    <a:pt x="24377904" y="13716000"/>
                  </a:lnTo>
                  <a:lnTo>
                    <a:pt x="0" y="13716000"/>
                  </a:lnTo>
                  <a:close/>
                </a:path>
              </a:pathLst>
            </a:custGeom>
            <a:solidFill>
              <a:srgbClr val="FFFFFF"/>
            </a:solidFill>
          </p:spPr>
          <p:txBody>
            <a:bodyPr/>
            <a:lstStyle/>
            <a:p>
              <a:endParaRPr lang="en-IN"/>
            </a:p>
          </p:txBody>
        </p:sp>
      </p:grpSp>
      <p:grpSp>
        <p:nvGrpSpPr>
          <p:cNvPr id="8" name="Group 8"/>
          <p:cNvGrpSpPr/>
          <p:nvPr/>
        </p:nvGrpSpPr>
        <p:grpSpPr>
          <a:xfrm>
            <a:off x="2286" y="-13917"/>
            <a:ext cx="18283428" cy="10287000"/>
            <a:chOff x="0" y="0"/>
            <a:chExt cx="24377904" cy="13716000"/>
          </a:xfrm>
        </p:grpSpPr>
        <p:sp>
          <p:nvSpPr>
            <p:cNvPr id="9" name="Freeform 9"/>
            <p:cNvSpPr/>
            <p:nvPr/>
          </p:nvSpPr>
          <p:spPr>
            <a:xfrm>
              <a:off x="0" y="0"/>
              <a:ext cx="24377904" cy="13716000"/>
            </a:xfrm>
            <a:custGeom>
              <a:avLst/>
              <a:gdLst/>
              <a:ahLst/>
              <a:cxnLst/>
              <a:rect l="l" t="t" r="r" b="b"/>
              <a:pathLst>
                <a:path w="24377904" h="13716000">
                  <a:moveTo>
                    <a:pt x="0" y="0"/>
                  </a:moveTo>
                  <a:lnTo>
                    <a:pt x="24377904" y="0"/>
                  </a:lnTo>
                  <a:lnTo>
                    <a:pt x="24377904" y="13716000"/>
                  </a:lnTo>
                  <a:lnTo>
                    <a:pt x="0" y="13716000"/>
                  </a:lnTo>
                  <a:close/>
                  <a:moveTo>
                    <a:pt x="982599" y="982599"/>
                  </a:moveTo>
                  <a:lnTo>
                    <a:pt x="982599" y="12733401"/>
                  </a:lnTo>
                  <a:lnTo>
                    <a:pt x="23395305" y="12733401"/>
                  </a:lnTo>
                  <a:lnTo>
                    <a:pt x="23395305" y="982599"/>
                  </a:lnTo>
                  <a:close/>
                </a:path>
              </a:pathLst>
            </a:custGeom>
            <a:solidFill>
              <a:srgbClr val="FFFFFF"/>
            </a:solidFill>
          </p:spPr>
          <p:txBody>
            <a:bodyPr/>
            <a:lstStyle/>
            <a:p>
              <a:endParaRPr lang="en-IN"/>
            </a:p>
          </p:txBody>
        </p:sp>
      </p:grpSp>
      <p:grpSp>
        <p:nvGrpSpPr>
          <p:cNvPr id="10" name="Group 10"/>
          <p:cNvGrpSpPr/>
          <p:nvPr/>
        </p:nvGrpSpPr>
        <p:grpSpPr>
          <a:xfrm>
            <a:off x="7335157" y="1081103"/>
            <a:ext cx="3961737" cy="1591489"/>
            <a:chOff x="0" y="0"/>
            <a:chExt cx="5282316" cy="2121985"/>
          </a:xfrm>
        </p:grpSpPr>
        <p:sp>
          <p:nvSpPr>
            <p:cNvPr id="11" name="Freeform 11"/>
            <p:cNvSpPr/>
            <p:nvPr/>
          </p:nvSpPr>
          <p:spPr>
            <a:xfrm>
              <a:off x="0" y="0"/>
              <a:ext cx="5282316" cy="2121985"/>
            </a:xfrm>
            <a:custGeom>
              <a:avLst/>
              <a:gdLst/>
              <a:ahLst/>
              <a:cxnLst/>
              <a:rect l="l" t="t" r="r" b="b"/>
              <a:pathLst>
                <a:path w="5282316" h="2121985">
                  <a:moveTo>
                    <a:pt x="0" y="0"/>
                  </a:moveTo>
                  <a:lnTo>
                    <a:pt x="5282316" y="0"/>
                  </a:lnTo>
                  <a:lnTo>
                    <a:pt x="5282316" y="2121985"/>
                  </a:lnTo>
                  <a:lnTo>
                    <a:pt x="0" y="2121985"/>
                  </a:lnTo>
                  <a:close/>
                </a:path>
              </a:pathLst>
            </a:custGeom>
            <a:solidFill>
              <a:srgbClr val="000000">
                <a:alpha val="0"/>
              </a:srgbClr>
            </a:solidFill>
          </p:spPr>
          <p:txBody>
            <a:bodyPr/>
            <a:lstStyle/>
            <a:p>
              <a:endParaRPr lang="en-IN"/>
            </a:p>
          </p:txBody>
        </p:sp>
        <p:sp>
          <p:nvSpPr>
            <p:cNvPr id="12" name="TextBox 12"/>
            <p:cNvSpPr txBox="1"/>
            <p:nvPr/>
          </p:nvSpPr>
          <p:spPr>
            <a:xfrm>
              <a:off x="0" y="47625"/>
              <a:ext cx="5282316" cy="2074360"/>
            </a:xfrm>
            <a:prstGeom prst="rect">
              <a:avLst/>
            </a:prstGeom>
          </p:spPr>
          <p:txBody>
            <a:bodyPr lIns="0" tIns="0" rIns="0" bIns="0" rtlCol="0" anchor="ctr"/>
            <a:lstStyle/>
            <a:p>
              <a:pPr algn="l">
                <a:lnSpc>
                  <a:spcPts val="8424"/>
                </a:lnSpc>
              </a:pPr>
              <a:r>
                <a:rPr lang="en-US" sz="7800">
                  <a:solidFill>
                    <a:srgbClr val="FFFFFF"/>
                  </a:solidFill>
                  <a:latin typeface="Arimo"/>
                  <a:ea typeface="Arimo"/>
                  <a:cs typeface="Arimo"/>
                  <a:sym typeface="Arimo"/>
                </a:rPr>
                <a:t>DESIGN</a:t>
              </a:r>
            </a:p>
          </p:txBody>
        </p:sp>
      </p:grpSp>
      <p:sp>
        <p:nvSpPr>
          <p:cNvPr id="7" name="TextBox 6">
            <a:extLst>
              <a:ext uri="{FF2B5EF4-FFF2-40B4-BE49-F238E27FC236}">
                <a16:creationId xmlns:a16="http://schemas.microsoft.com/office/drawing/2014/main" id="{3E0FF3FC-717D-B956-2DF2-72DFCE9F00FC}"/>
              </a:ext>
            </a:extLst>
          </p:cNvPr>
          <p:cNvSpPr txBox="1"/>
          <p:nvPr/>
        </p:nvSpPr>
        <p:spPr>
          <a:xfrm>
            <a:off x="759714" y="723900"/>
            <a:ext cx="16764000" cy="7294305"/>
          </a:xfrm>
          <a:prstGeom prst="rect">
            <a:avLst/>
          </a:prstGeom>
          <a:noFill/>
        </p:spPr>
        <p:txBody>
          <a:bodyPr wrap="square">
            <a:spAutoFit/>
          </a:bodyPr>
          <a:lstStyle/>
          <a:p>
            <a:pPr algn="just"/>
            <a:r>
              <a:rPr lang="en-US" sz="3600" b="1" dirty="0"/>
              <a:t>Introduction</a:t>
            </a:r>
          </a:p>
          <a:p>
            <a:pPr marL="742950" indent="-742950" algn="just">
              <a:buAutoNum type="arabicPeriod"/>
            </a:pPr>
            <a:endParaRPr lang="en-US" sz="3600" b="1" dirty="0"/>
          </a:p>
          <a:p>
            <a:pPr algn="just"/>
            <a:r>
              <a:rPr lang="en-US" sz="3600" dirty="0">
                <a:latin typeface="Times New Roman" panose="02020603050405020304" pitchFamily="18" charset="0"/>
                <a:cs typeface="Times New Roman" panose="02020603050405020304" pitchFamily="18" charset="0"/>
              </a:rPr>
              <a:t>In rural India, effective governance and </a:t>
            </a:r>
            <a:r>
              <a:rPr lang="en-US" sz="3600" b="1" dirty="0">
                <a:latin typeface="Times New Roman" panose="02020603050405020304" pitchFamily="18" charset="0"/>
                <a:cs typeface="Times New Roman" panose="02020603050405020304" pitchFamily="18" charset="0"/>
              </a:rPr>
              <a:t>transparency</a:t>
            </a:r>
            <a:r>
              <a:rPr lang="en-US" sz="3600" dirty="0">
                <a:latin typeface="Times New Roman" panose="02020603050405020304" pitchFamily="18" charset="0"/>
                <a:cs typeface="Times New Roman" panose="02020603050405020304" pitchFamily="18" charset="0"/>
              </a:rPr>
              <a:t> in fund utilization are critical to ensuring sustainable development. However, many villages face challenges such as lack of accountability, mismanagement of funds, and limited access to information. Villagers are often unaware of the details regarding fund allocation, expenditure, or development progress, which leads to mistrust and disengagement from local governance.</a:t>
            </a:r>
          </a:p>
          <a:p>
            <a:pPr algn="just"/>
            <a:endParaRPr lang="en-US" sz="3600" dirty="0">
              <a:latin typeface="Times New Roman" panose="02020603050405020304" pitchFamily="18" charset="0"/>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The </a:t>
            </a:r>
            <a:r>
              <a:rPr lang="en-US" sz="3600" b="1" dirty="0">
                <a:latin typeface="Times New Roman" panose="02020603050405020304" pitchFamily="18" charset="0"/>
                <a:cs typeface="Times New Roman" panose="02020603050405020304" pitchFamily="18" charset="0"/>
              </a:rPr>
              <a:t>“Voice of Village: Fund Transparency &amp; Issue Reporting System”</a:t>
            </a:r>
            <a:r>
              <a:rPr lang="en-US" sz="3600" dirty="0">
                <a:latin typeface="Times New Roman" panose="02020603050405020304" pitchFamily="18" charset="0"/>
                <a:cs typeface="Times New Roman" panose="02020603050405020304" pitchFamily="18" charset="0"/>
              </a:rPr>
              <a:t> is designed to bridge this gap by leveraging technology to promote </a:t>
            </a:r>
            <a:r>
              <a:rPr lang="en-US" sz="3600" b="1" dirty="0">
                <a:latin typeface="Times New Roman" panose="02020603050405020304" pitchFamily="18" charset="0"/>
                <a:cs typeface="Times New Roman" panose="02020603050405020304" pitchFamily="18" charset="0"/>
              </a:rPr>
              <a:t>transparency, accountability, and participation</a:t>
            </a:r>
            <a:r>
              <a:rPr lang="en-US" sz="3600" dirty="0">
                <a:latin typeface="Times New Roman" panose="02020603050405020304" pitchFamily="18" charset="0"/>
                <a:cs typeface="Times New Roman" panose="02020603050405020304" pitchFamily="18" charset="0"/>
              </a:rPr>
              <a:t>. It is a web-based application that allows villagers to view detailed records of government funds, donations, and expenses while also enabling them to raise issues related to infrastructure, water supply, electricity, and other essential services.</a:t>
            </a:r>
          </a:p>
        </p:txBody>
      </p:sp>
    </p:spTree>
    <p:extLst>
      <p:ext uri="{BB962C8B-B14F-4D97-AF65-F5344CB8AC3E}">
        <p14:creationId xmlns:p14="http://schemas.microsoft.com/office/powerpoint/2010/main" val="3752380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6936014" y="1016897"/>
            <a:ext cx="8872406" cy="1434245"/>
          </a:xfrm>
          <a:custGeom>
            <a:avLst/>
            <a:gdLst/>
            <a:ahLst/>
            <a:cxnLst/>
            <a:rect l="l" t="t" r="r" b="b"/>
            <a:pathLst>
              <a:path w="11829874" h="1912327">
                <a:moveTo>
                  <a:pt x="0" y="0"/>
                </a:moveTo>
                <a:lnTo>
                  <a:pt x="11829874" y="0"/>
                </a:lnTo>
                <a:lnTo>
                  <a:pt x="11829874" y="1912327"/>
                </a:lnTo>
                <a:lnTo>
                  <a:pt x="0" y="1912327"/>
                </a:lnTo>
                <a:close/>
              </a:path>
            </a:pathLst>
          </a:custGeom>
          <a:solidFill>
            <a:srgbClr val="000000">
              <a:alpha val="0"/>
            </a:srgbClr>
          </a:solidFill>
        </p:spPr>
        <p:txBody>
          <a:bodyPr/>
          <a:lstStyle/>
          <a:p>
            <a:endParaRPr lang="en-IN"/>
          </a:p>
        </p:txBody>
      </p:sp>
      <p:sp>
        <p:nvSpPr>
          <p:cNvPr id="7" name="TextBox 7"/>
          <p:cNvSpPr txBox="1"/>
          <p:nvPr/>
        </p:nvSpPr>
        <p:spPr>
          <a:xfrm>
            <a:off x="762000" y="1867489"/>
            <a:ext cx="17297400" cy="6463308"/>
          </a:xfrm>
          <a:prstGeom prst="rect">
            <a:avLst/>
          </a:prstGeom>
        </p:spPr>
        <p:txBody>
          <a:bodyPr wrap="square" lIns="0" tIns="0" rIns="0" bIns="0" rtlCol="0" anchor="ctr">
            <a:spAutoFit/>
          </a:bodyPr>
          <a:lstStyle/>
          <a:p>
            <a:pPr algn="just"/>
            <a:endParaRPr lang="en-IN" sz="3000" dirty="0">
              <a:latin typeface="Times New Roman" panose="02020603050405020304" pitchFamily="18" charset="0"/>
              <a:cs typeface="Times New Roman" panose="02020603050405020304" pitchFamily="18" charset="0"/>
            </a:endParaRPr>
          </a:p>
          <a:p>
            <a:pPr algn="just"/>
            <a:r>
              <a:rPr lang="en-US" sz="3000" dirty="0">
                <a:latin typeface="Times New Roman" panose="02020603050405020304" pitchFamily="18" charset="0"/>
                <a:cs typeface="Times New Roman" panose="02020603050405020304" pitchFamily="18" charset="0"/>
              </a:rPr>
              <a:t> In rural governance, transparency and accountability in the utilization of government funds remain major challenges. Villagers often lack visibility into how resources are allocated and spent, which can lead to mistrust, mismanagement, and reduced community participation. To address this issue, we propose a </a:t>
            </a:r>
            <a:r>
              <a:rPr lang="en-US" sz="3000" b="1" dirty="0">
                <a:latin typeface="Times New Roman" panose="02020603050405020304" pitchFamily="18" charset="0"/>
                <a:cs typeface="Times New Roman" panose="02020603050405020304" pitchFamily="18" charset="0"/>
              </a:rPr>
              <a:t>Village Funds and Transparency Management System</a:t>
            </a:r>
            <a:r>
              <a:rPr lang="en-US" sz="3000" dirty="0">
                <a:latin typeface="Times New Roman" panose="02020603050405020304" pitchFamily="18" charset="0"/>
                <a:cs typeface="Times New Roman" panose="02020603050405020304" pitchFamily="18" charset="0"/>
              </a:rPr>
              <a:t>, a web-based application that ensures clear tracking of government allocations, donations, and village expenses. </a:t>
            </a:r>
          </a:p>
          <a:p>
            <a:pPr algn="just"/>
            <a:endParaRPr lang="en-US" sz="3000" dirty="0">
              <a:latin typeface="Times New Roman" panose="02020603050405020304" pitchFamily="18" charset="0"/>
              <a:cs typeface="Times New Roman" panose="02020603050405020304" pitchFamily="18" charset="0"/>
            </a:endParaRPr>
          </a:p>
          <a:p>
            <a:pPr algn="just"/>
            <a:endParaRPr lang="en-US" sz="3000" dirty="0">
              <a:latin typeface="Times New Roman" panose="02020603050405020304" pitchFamily="18" charset="0"/>
              <a:cs typeface="Times New Roman" panose="02020603050405020304" pitchFamily="18" charset="0"/>
            </a:endParaRPr>
          </a:p>
          <a:p>
            <a:pPr algn="just"/>
            <a:r>
              <a:rPr lang="en-US" sz="3000" dirty="0">
                <a:latin typeface="Times New Roman" panose="02020603050405020304" pitchFamily="18" charset="0"/>
                <a:cs typeface="Times New Roman" panose="02020603050405020304" pitchFamily="18" charset="0"/>
              </a:rPr>
              <a:t>The system allows villagers to select their respective village and view a detailed breakdown of funds received, categorized expenses, and the remaining budget. It also provides a </a:t>
            </a:r>
            <a:r>
              <a:rPr lang="en-US" sz="3000" b="1" dirty="0">
                <a:latin typeface="Times New Roman" panose="02020603050405020304" pitchFamily="18" charset="0"/>
                <a:cs typeface="Times New Roman" panose="02020603050405020304" pitchFamily="18" charset="0"/>
              </a:rPr>
              <a:t>donation feature </a:t>
            </a:r>
            <a:r>
              <a:rPr lang="en-US" sz="3000" dirty="0">
                <a:latin typeface="Times New Roman" panose="02020603050405020304" pitchFamily="18" charset="0"/>
                <a:cs typeface="Times New Roman" panose="02020603050405020304" pitchFamily="18" charset="0"/>
              </a:rPr>
              <a:t>where individuals can contribute to the village development fund, ensuring that such contributions are transparently recorded and displayed. Additionally, the platform empowers villagers by enabling them to </a:t>
            </a:r>
            <a:r>
              <a:rPr lang="en-US" sz="3000" b="1" dirty="0">
                <a:latin typeface="Times New Roman" panose="02020603050405020304" pitchFamily="18" charset="0"/>
                <a:cs typeface="Times New Roman" panose="02020603050405020304" pitchFamily="18" charset="0"/>
              </a:rPr>
              <a:t>raise issues and complaints </a:t>
            </a:r>
            <a:r>
              <a:rPr lang="en-US" sz="3000" dirty="0">
                <a:latin typeface="Times New Roman" panose="02020603050405020304" pitchFamily="18" charset="0"/>
                <a:cs typeface="Times New Roman" panose="02020603050405020304" pitchFamily="18" charset="0"/>
              </a:rPr>
              <a:t>related to infrastructure, water supply, electricity, and other essential services. These issues can be monitored by the villagers and resolved by the sarpanch or village administrators, fostering participatory governance. </a:t>
            </a:r>
          </a:p>
        </p:txBody>
      </p:sp>
      <p:grpSp>
        <p:nvGrpSpPr>
          <p:cNvPr id="11" name="Group 11"/>
          <p:cNvGrpSpPr/>
          <p:nvPr/>
        </p:nvGrpSpPr>
        <p:grpSpPr>
          <a:xfrm>
            <a:off x="12915900" y="9644062"/>
            <a:ext cx="4114800" cy="547688"/>
            <a:chOff x="0" y="0"/>
            <a:chExt cx="5486400" cy="730250"/>
          </a:xfrm>
        </p:grpSpPr>
        <p:sp>
          <p:nvSpPr>
            <p:cNvPr id="12" name="Freeform 12"/>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txBody>
            <a:bodyPr/>
            <a:lstStyle/>
            <a:p>
              <a:endParaRPr lang="en-IN"/>
            </a:p>
          </p:txBody>
        </p:sp>
        <p:sp>
          <p:nvSpPr>
            <p:cNvPr id="13" name="TextBox 13"/>
            <p:cNvSpPr txBox="1"/>
            <p:nvPr/>
          </p:nvSpPr>
          <p:spPr>
            <a:xfrm>
              <a:off x="0" y="0"/>
              <a:ext cx="5486400" cy="730250"/>
            </a:xfrm>
            <a:prstGeom prst="rect">
              <a:avLst/>
            </a:prstGeom>
          </p:spPr>
          <p:txBody>
            <a:bodyPr lIns="0" tIns="0" rIns="0" bIns="0" rtlCol="0" anchor="ctr"/>
            <a:lstStyle/>
            <a:p>
              <a:pPr algn="r">
                <a:lnSpc>
                  <a:spcPts val="1620"/>
                </a:lnSpc>
              </a:pPr>
              <a:r>
                <a:rPr lang="en-US" sz="1350" spc="225">
                  <a:solidFill>
                    <a:srgbClr val="FFFFFF"/>
                  </a:solidFill>
                  <a:latin typeface=" Avenir Next Arabic"/>
                  <a:ea typeface=" Avenir Next Arabic"/>
                  <a:cs typeface=" Avenir Next Arabic"/>
                  <a:sym typeface=" Avenir Next Arabic"/>
                </a:rPr>
                <a:t>4</a:t>
              </a:r>
            </a:p>
          </p:txBody>
        </p:sp>
      </p:grpSp>
      <p:sp>
        <p:nvSpPr>
          <p:cNvPr id="8" name="TextBox 7">
            <a:extLst>
              <a:ext uri="{FF2B5EF4-FFF2-40B4-BE49-F238E27FC236}">
                <a16:creationId xmlns:a16="http://schemas.microsoft.com/office/drawing/2014/main" id="{7F4AF1C9-968C-73CA-7121-BE14BE10872D}"/>
              </a:ext>
            </a:extLst>
          </p:cNvPr>
          <p:cNvSpPr txBox="1"/>
          <p:nvPr/>
        </p:nvSpPr>
        <p:spPr>
          <a:xfrm>
            <a:off x="760186" y="1016897"/>
            <a:ext cx="4495800"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ABSTRACT</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0939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86" y="0"/>
            <a:ext cx="18283428" cy="10287000"/>
            <a:chOff x="0" y="0"/>
            <a:chExt cx="24377904" cy="13716000"/>
          </a:xfrm>
        </p:grpSpPr>
        <p:sp>
          <p:nvSpPr>
            <p:cNvPr id="3" name="Freeform 3"/>
            <p:cNvSpPr/>
            <p:nvPr/>
          </p:nvSpPr>
          <p:spPr>
            <a:xfrm>
              <a:off x="0" y="0"/>
              <a:ext cx="24377904" cy="13716000"/>
            </a:xfrm>
            <a:custGeom>
              <a:avLst/>
              <a:gdLst/>
              <a:ahLst/>
              <a:cxnLst/>
              <a:rect l="l" t="t" r="r" b="b"/>
              <a:pathLst>
                <a:path w="24377904" h="13716000">
                  <a:moveTo>
                    <a:pt x="0" y="0"/>
                  </a:moveTo>
                  <a:lnTo>
                    <a:pt x="24377904" y="0"/>
                  </a:lnTo>
                  <a:lnTo>
                    <a:pt x="24377904" y="13716000"/>
                  </a:lnTo>
                  <a:lnTo>
                    <a:pt x="0" y="13716000"/>
                  </a:lnTo>
                  <a:close/>
                  <a:moveTo>
                    <a:pt x="982599" y="982599"/>
                  </a:moveTo>
                  <a:lnTo>
                    <a:pt x="982599" y="12733401"/>
                  </a:lnTo>
                  <a:lnTo>
                    <a:pt x="23395305" y="12733401"/>
                  </a:lnTo>
                  <a:lnTo>
                    <a:pt x="23395305" y="982599"/>
                  </a:lnTo>
                  <a:close/>
                </a:path>
              </a:pathLst>
            </a:custGeom>
            <a:gradFill rotWithShape="1">
              <a:gsLst>
                <a:gs pos="0">
                  <a:srgbClr val="4D4EE6">
                    <a:alpha val="40000"/>
                  </a:srgbClr>
                </a:gs>
                <a:gs pos="100000">
                  <a:srgbClr val="F900A0">
                    <a:alpha val="40000"/>
                  </a:srgbClr>
                </a:gs>
              </a:gsLst>
              <a:lin ang="3638167"/>
            </a:gradFill>
          </p:spPr>
          <p:txBody>
            <a:bodyPr/>
            <a:lstStyle/>
            <a:p>
              <a:endParaRPr lang="en-IN"/>
            </a:p>
          </p:txBody>
        </p:sp>
      </p:grpSp>
      <p:grpSp>
        <p:nvGrpSpPr>
          <p:cNvPr id="4" name="Group 4"/>
          <p:cNvGrpSpPr/>
          <p:nvPr/>
        </p:nvGrpSpPr>
        <p:grpSpPr>
          <a:xfrm>
            <a:off x="174311" y="-342900"/>
            <a:ext cx="18283428" cy="10287000"/>
            <a:chOff x="0" y="0"/>
            <a:chExt cx="24377904" cy="13716000"/>
          </a:xfrm>
        </p:grpSpPr>
        <p:sp>
          <p:nvSpPr>
            <p:cNvPr id="5" name="Freeform 5"/>
            <p:cNvSpPr/>
            <p:nvPr/>
          </p:nvSpPr>
          <p:spPr>
            <a:xfrm>
              <a:off x="0" y="0"/>
              <a:ext cx="24377904" cy="13716000"/>
            </a:xfrm>
            <a:custGeom>
              <a:avLst/>
              <a:gdLst/>
              <a:ahLst/>
              <a:cxnLst/>
              <a:rect l="l" t="t" r="r" b="b"/>
              <a:pathLst>
                <a:path w="24377904" h="13716000">
                  <a:moveTo>
                    <a:pt x="0" y="0"/>
                  </a:moveTo>
                  <a:lnTo>
                    <a:pt x="24377904" y="0"/>
                  </a:lnTo>
                  <a:lnTo>
                    <a:pt x="24377904" y="13716000"/>
                  </a:lnTo>
                  <a:lnTo>
                    <a:pt x="0" y="13716000"/>
                  </a:lnTo>
                  <a:close/>
                </a:path>
              </a:pathLst>
            </a:custGeom>
            <a:solidFill>
              <a:srgbClr val="FFFFFF"/>
            </a:solidFill>
          </p:spPr>
          <p:txBody>
            <a:bodyPr/>
            <a:lstStyle/>
            <a:p>
              <a:endParaRPr lang="en-IN"/>
            </a:p>
          </p:txBody>
        </p:sp>
      </p:grpSp>
      <p:grpSp>
        <p:nvGrpSpPr>
          <p:cNvPr id="8" name="Group 8"/>
          <p:cNvGrpSpPr/>
          <p:nvPr/>
        </p:nvGrpSpPr>
        <p:grpSpPr>
          <a:xfrm>
            <a:off x="2286" y="-25810"/>
            <a:ext cx="18283428" cy="10287000"/>
            <a:chOff x="0" y="0"/>
            <a:chExt cx="24377904" cy="13716000"/>
          </a:xfrm>
        </p:grpSpPr>
        <p:sp>
          <p:nvSpPr>
            <p:cNvPr id="9" name="Freeform 9"/>
            <p:cNvSpPr/>
            <p:nvPr/>
          </p:nvSpPr>
          <p:spPr>
            <a:xfrm>
              <a:off x="0" y="0"/>
              <a:ext cx="24377904" cy="13716000"/>
            </a:xfrm>
            <a:custGeom>
              <a:avLst/>
              <a:gdLst/>
              <a:ahLst/>
              <a:cxnLst/>
              <a:rect l="l" t="t" r="r" b="b"/>
              <a:pathLst>
                <a:path w="24377904" h="13716000">
                  <a:moveTo>
                    <a:pt x="0" y="0"/>
                  </a:moveTo>
                  <a:lnTo>
                    <a:pt x="24377904" y="0"/>
                  </a:lnTo>
                  <a:lnTo>
                    <a:pt x="24377904" y="13716000"/>
                  </a:lnTo>
                  <a:lnTo>
                    <a:pt x="0" y="13716000"/>
                  </a:lnTo>
                  <a:close/>
                  <a:moveTo>
                    <a:pt x="982599" y="982599"/>
                  </a:moveTo>
                  <a:lnTo>
                    <a:pt x="982599" y="12733401"/>
                  </a:lnTo>
                  <a:lnTo>
                    <a:pt x="23395305" y="12733401"/>
                  </a:lnTo>
                  <a:lnTo>
                    <a:pt x="23395305" y="982599"/>
                  </a:lnTo>
                  <a:close/>
                </a:path>
              </a:pathLst>
            </a:custGeom>
            <a:solidFill>
              <a:srgbClr val="FFFFFF"/>
            </a:solidFill>
          </p:spPr>
          <p:txBody>
            <a:bodyPr/>
            <a:lstStyle/>
            <a:p>
              <a:endParaRPr lang="en-IN"/>
            </a:p>
          </p:txBody>
        </p:sp>
      </p:grpSp>
      <p:grpSp>
        <p:nvGrpSpPr>
          <p:cNvPr id="10" name="Group 10"/>
          <p:cNvGrpSpPr/>
          <p:nvPr/>
        </p:nvGrpSpPr>
        <p:grpSpPr>
          <a:xfrm>
            <a:off x="7335157" y="1081103"/>
            <a:ext cx="3961737" cy="1591489"/>
            <a:chOff x="0" y="0"/>
            <a:chExt cx="5282316" cy="2121985"/>
          </a:xfrm>
        </p:grpSpPr>
        <p:sp>
          <p:nvSpPr>
            <p:cNvPr id="11" name="Freeform 11"/>
            <p:cNvSpPr/>
            <p:nvPr/>
          </p:nvSpPr>
          <p:spPr>
            <a:xfrm>
              <a:off x="0" y="0"/>
              <a:ext cx="5282316" cy="2121985"/>
            </a:xfrm>
            <a:custGeom>
              <a:avLst/>
              <a:gdLst/>
              <a:ahLst/>
              <a:cxnLst/>
              <a:rect l="l" t="t" r="r" b="b"/>
              <a:pathLst>
                <a:path w="5282316" h="2121985">
                  <a:moveTo>
                    <a:pt x="0" y="0"/>
                  </a:moveTo>
                  <a:lnTo>
                    <a:pt x="5282316" y="0"/>
                  </a:lnTo>
                  <a:lnTo>
                    <a:pt x="5282316" y="2121985"/>
                  </a:lnTo>
                  <a:lnTo>
                    <a:pt x="0" y="2121985"/>
                  </a:lnTo>
                  <a:close/>
                </a:path>
              </a:pathLst>
            </a:custGeom>
            <a:solidFill>
              <a:srgbClr val="000000">
                <a:alpha val="0"/>
              </a:srgbClr>
            </a:solidFill>
          </p:spPr>
          <p:txBody>
            <a:bodyPr/>
            <a:lstStyle/>
            <a:p>
              <a:endParaRPr lang="en-IN"/>
            </a:p>
          </p:txBody>
        </p:sp>
        <p:sp>
          <p:nvSpPr>
            <p:cNvPr id="12" name="TextBox 12"/>
            <p:cNvSpPr txBox="1"/>
            <p:nvPr/>
          </p:nvSpPr>
          <p:spPr>
            <a:xfrm>
              <a:off x="0" y="47625"/>
              <a:ext cx="5282316" cy="2074360"/>
            </a:xfrm>
            <a:prstGeom prst="rect">
              <a:avLst/>
            </a:prstGeom>
          </p:spPr>
          <p:txBody>
            <a:bodyPr lIns="0" tIns="0" rIns="0" bIns="0" rtlCol="0" anchor="ctr"/>
            <a:lstStyle/>
            <a:p>
              <a:pPr algn="l">
                <a:lnSpc>
                  <a:spcPts val="8424"/>
                </a:lnSpc>
              </a:pPr>
              <a:r>
                <a:rPr lang="en-US" sz="7800">
                  <a:solidFill>
                    <a:srgbClr val="FFFFFF"/>
                  </a:solidFill>
                  <a:latin typeface="Arimo"/>
                  <a:ea typeface="Arimo"/>
                  <a:cs typeface="Arimo"/>
                  <a:sym typeface="Arimo"/>
                </a:rPr>
                <a:t>DESIGN</a:t>
              </a:r>
            </a:p>
          </p:txBody>
        </p:sp>
      </p:grpSp>
      <p:sp>
        <p:nvSpPr>
          <p:cNvPr id="7" name="TextBox 6">
            <a:extLst>
              <a:ext uri="{FF2B5EF4-FFF2-40B4-BE49-F238E27FC236}">
                <a16:creationId xmlns:a16="http://schemas.microsoft.com/office/drawing/2014/main" id="{3E0FF3FC-717D-B956-2DF2-72DFCE9F00FC}"/>
              </a:ext>
            </a:extLst>
          </p:cNvPr>
          <p:cNvSpPr txBox="1"/>
          <p:nvPr/>
        </p:nvSpPr>
        <p:spPr>
          <a:xfrm>
            <a:off x="302514" y="1353272"/>
            <a:ext cx="17983200" cy="8402300"/>
          </a:xfrm>
          <a:prstGeom prst="rect">
            <a:avLst/>
          </a:prstGeom>
          <a:noFill/>
        </p:spPr>
        <p:txBody>
          <a:bodyPr wrap="square">
            <a:spAutoFit/>
          </a:bodyPr>
          <a:lstStyle/>
          <a:p>
            <a:pPr algn="just"/>
            <a:r>
              <a:rPr lang="en-US" sz="2900" dirty="0">
                <a:latin typeface="Times New Roman" panose="02020603050405020304" pitchFamily="18" charset="0"/>
                <a:cs typeface="Times New Roman" panose="02020603050405020304" pitchFamily="18" charset="0"/>
              </a:rPr>
              <a:t>In the current rural governance model, information about fund allocation, usage, and project progress is often communicated verbally or displayed on public notice boards. This manual approach is highly inefficient and lacks transparency.</a:t>
            </a:r>
          </a:p>
          <a:p>
            <a:pPr algn="just"/>
            <a:endParaRPr lang="en-US" sz="2900" dirty="0">
              <a:latin typeface="Times New Roman" panose="02020603050405020304" pitchFamily="18" charset="0"/>
              <a:cs typeface="Times New Roman" panose="02020603050405020304" pitchFamily="18" charset="0"/>
            </a:endParaRPr>
          </a:p>
          <a:p>
            <a:pPr algn="just"/>
            <a:r>
              <a:rPr lang="en-US" sz="2900" b="1" dirty="0">
                <a:latin typeface="Times New Roman" panose="02020603050405020304" pitchFamily="18" charset="0"/>
                <a:cs typeface="Times New Roman" panose="02020603050405020304" pitchFamily="18" charset="0"/>
              </a:rPr>
              <a:t>Limitations of Existing System:</a:t>
            </a:r>
          </a:p>
          <a:p>
            <a:pPr algn="just"/>
            <a:endParaRPr lang="en-US" sz="2900" dirty="0">
              <a:latin typeface="Times New Roman" panose="02020603050405020304" pitchFamily="18" charset="0"/>
              <a:cs typeface="Times New Roman" panose="02020603050405020304" pitchFamily="18" charset="0"/>
            </a:endParaRPr>
          </a:p>
          <a:p>
            <a:pPr algn="just"/>
            <a:r>
              <a:rPr lang="en-US" sz="2900" b="1" dirty="0">
                <a:latin typeface="Times New Roman" panose="02020603050405020304" pitchFamily="18" charset="0"/>
                <a:cs typeface="Times New Roman" panose="02020603050405020304" pitchFamily="18" charset="0"/>
              </a:rPr>
              <a:t>Lack of Transparency:</a:t>
            </a:r>
            <a:r>
              <a:rPr lang="en-US" sz="2900" dirty="0">
                <a:latin typeface="Times New Roman" panose="02020603050405020304" pitchFamily="18" charset="0"/>
                <a:cs typeface="Times New Roman" panose="02020603050405020304" pitchFamily="18" charset="0"/>
              </a:rPr>
              <a:t> Villagers have no reliable access to data about government funds, donations, or expenses.</a:t>
            </a:r>
          </a:p>
          <a:p>
            <a:pPr algn="just"/>
            <a:endParaRPr lang="en-US" sz="2900" dirty="0">
              <a:latin typeface="Times New Roman" panose="02020603050405020304" pitchFamily="18" charset="0"/>
              <a:cs typeface="Times New Roman" panose="02020603050405020304" pitchFamily="18" charset="0"/>
            </a:endParaRPr>
          </a:p>
          <a:p>
            <a:pPr algn="just"/>
            <a:r>
              <a:rPr lang="en-US" sz="2900" b="1" dirty="0">
                <a:latin typeface="Times New Roman" panose="02020603050405020304" pitchFamily="18" charset="0"/>
                <a:cs typeface="Times New Roman" panose="02020603050405020304" pitchFamily="18" charset="0"/>
              </a:rPr>
              <a:t>Manual Complaint Handling:</a:t>
            </a:r>
            <a:r>
              <a:rPr lang="en-US" sz="2900" dirty="0">
                <a:latin typeface="Times New Roman" panose="02020603050405020304" pitchFamily="18" charset="0"/>
                <a:cs typeface="Times New Roman" panose="02020603050405020304" pitchFamily="18" charset="0"/>
              </a:rPr>
              <a:t> Issues raised by villagers are often undocumented or poorly tracked.</a:t>
            </a:r>
          </a:p>
          <a:p>
            <a:pPr algn="just"/>
            <a:endParaRPr lang="en-US" sz="2900" dirty="0">
              <a:latin typeface="Times New Roman" panose="02020603050405020304" pitchFamily="18" charset="0"/>
              <a:cs typeface="Times New Roman" panose="02020603050405020304" pitchFamily="18" charset="0"/>
            </a:endParaRPr>
          </a:p>
          <a:p>
            <a:pPr algn="just"/>
            <a:r>
              <a:rPr lang="en-US" sz="2900" b="1" dirty="0">
                <a:latin typeface="Times New Roman" panose="02020603050405020304" pitchFamily="18" charset="0"/>
                <a:cs typeface="Times New Roman" panose="02020603050405020304" pitchFamily="18" charset="0"/>
              </a:rPr>
              <a:t>Slow Communication:</a:t>
            </a:r>
            <a:r>
              <a:rPr lang="en-US" sz="2900" dirty="0">
                <a:latin typeface="Times New Roman" panose="02020603050405020304" pitchFamily="18" charset="0"/>
                <a:cs typeface="Times New Roman" panose="02020603050405020304" pitchFamily="18" charset="0"/>
              </a:rPr>
              <a:t> Information takes a long time to reach concerned authorities, delaying action.</a:t>
            </a:r>
          </a:p>
          <a:p>
            <a:pPr algn="just"/>
            <a:endParaRPr lang="en-US" sz="2900" dirty="0">
              <a:latin typeface="Times New Roman" panose="02020603050405020304" pitchFamily="18" charset="0"/>
              <a:cs typeface="Times New Roman" panose="02020603050405020304" pitchFamily="18" charset="0"/>
            </a:endParaRPr>
          </a:p>
          <a:p>
            <a:pPr algn="just"/>
            <a:r>
              <a:rPr lang="en-US" sz="2900" b="1" dirty="0">
                <a:latin typeface="Times New Roman" panose="02020603050405020304" pitchFamily="18" charset="0"/>
                <a:cs typeface="Times New Roman" panose="02020603050405020304" pitchFamily="18" charset="0"/>
              </a:rPr>
              <a:t>No Data Visualization:</a:t>
            </a:r>
            <a:r>
              <a:rPr lang="en-US" sz="2900" dirty="0">
                <a:latin typeface="Times New Roman" panose="02020603050405020304" pitchFamily="18" charset="0"/>
                <a:cs typeface="Times New Roman" panose="02020603050405020304" pitchFamily="18" charset="0"/>
              </a:rPr>
              <a:t> Villagers cannot easily interpret budget information due to lack of visual representation.</a:t>
            </a:r>
          </a:p>
          <a:p>
            <a:pPr algn="just"/>
            <a:endParaRPr lang="en-US" sz="2900" dirty="0">
              <a:latin typeface="Times New Roman" panose="02020603050405020304" pitchFamily="18" charset="0"/>
              <a:cs typeface="Times New Roman" panose="02020603050405020304" pitchFamily="18" charset="0"/>
            </a:endParaRPr>
          </a:p>
          <a:p>
            <a:pPr algn="just"/>
            <a:r>
              <a:rPr lang="en-US" sz="2900" b="1" dirty="0">
                <a:latin typeface="Times New Roman" panose="02020603050405020304" pitchFamily="18" charset="0"/>
                <a:cs typeface="Times New Roman" panose="02020603050405020304" pitchFamily="18" charset="0"/>
              </a:rPr>
              <a:t>Limited Accountability:</a:t>
            </a:r>
            <a:r>
              <a:rPr lang="en-US" sz="2900" dirty="0">
                <a:latin typeface="Times New Roman" panose="02020603050405020304" pitchFamily="18" charset="0"/>
                <a:cs typeface="Times New Roman" panose="02020603050405020304" pitchFamily="18" charset="0"/>
              </a:rPr>
              <a:t> There is no clear record to hold local administrators accountable for funds and complaints.</a:t>
            </a:r>
          </a:p>
          <a:p>
            <a:pPr algn="just"/>
            <a:endParaRPr lang="en-US" sz="2900" dirty="0">
              <a:latin typeface="Times New Roman" panose="02020603050405020304" pitchFamily="18" charset="0"/>
              <a:cs typeface="Times New Roman" panose="02020603050405020304" pitchFamily="18" charset="0"/>
            </a:endParaRPr>
          </a:p>
          <a:p>
            <a:pPr algn="just"/>
            <a:r>
              <a:rPr lang="en-US" sz="2900" dirty="0">
                <a:latin typeface="Times New Roman" panose="02020603050405020304" pitchFamily="18" charset="0"/>
                <a:cs typeface="Times New Roman" panose="02020603050405020304" pitchFamily="18" charset="0"/>
              </a:rPr>
              <a:t>Overall, the traditional system is fragmented, time-consuming, and excludes citizens from active participation in governance.</a:t>
            </a:r>
          </a:p>
        </p:txBody>
      </p:sp>
      <p:sp>
        <p:nvSpPr>
          <p:cNvPr id="6" name="TextBox 5">
            <a:extLst>
              <a:ext uri="{FF2B5EF4-FFF2-40B4-BE49-F238E27FC236}">
                <a16:creationId xmlns:a16="http://schemas.microsoft.com/office/drawing/2014/main" id="{299E626A-1B51-BE8B-BAB6-40E1AF8AC5AF}"/>
              </a:ext>
            </a:extLst>
          </p:cNvPr>
          <p:cNvSpPr txBox="1"/>
          <p:nvPr/>
        </p:nvSpPr>
        <p:spPr>
          <a:xfrm>
            <a:off x="7086600" y="267966"/>
            <a:ext cx="6096000" cy="553998"/>
          </a:xfrm>
          <a:prstGeom prst="rect">
            <a:avLst/>
          </a:prstGeom>
          <a:noFill/>
        </p:spPr>
        <p:txBody>
          <a:bodyPr wrap="square" rtlCol="0">
            <a:spAutoFit/>
          </a:bodyPr>
          <a:lstStyle/>
          <a:p>
            <a:r>
              <a:rPr lang="en-US" sz="3000" b="1" dirty="0">
                <a:latin typeface="Times New Roman" panose="02020603050405020304" pitchFamily="18" charset="0"/>
                <a:cs typeface="Times New Roman" panose="02020603050405020304" pitchFamily="18" charset="0"/>
              </a:rPr>
              <a:t>EXISTING SOLUTION</a:t>
            </a:r>
            <a:endParaRPr lang="en-IN" sz="3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86" y="0"/>
            <a:ext cx="18283428" cy="10287000"/>
            <a:chOff x="0" y="0"/>
            <a:chExt cx="24377904" cy="13716000"/>
          </a:xfrm>
        </p:grpSpPr>
        <p:sp>
          <p:nvSpPr>
            <p:cNvPr id="3" name="Freeform 3"/>
            <p:cNvSpPr/>
            <p:nvPr/>
          </p:nvSpPr>
          <p:spPr>
            <a:xfrm>
              <a:off x="0" y="0"/>
              <a:ext cx="24377904" cy="13716000"/>
            </a:xfrm>
            <a:custGeom>
              <a:avLst/>
              <a:gdLst/>
              <a:ahLst/>
              <a:cxnLst/>
              <a:rect l="l" t="t" r="r" b="b"/>
              <a:pathLst>
                <a:path w="24377904" h="13716000">
                  <a:moveTo>
                    <a:pt x="0" y="0"/>
                  </a:moveTo>
                  <a:lnTo>
                    <a:pt x="24377904" y="0"/>
                  </a:lnTo>
                  <a:lnTo>
                    <a:pt x="24377904" y="13716000"/>
                  </a:lnTo>
                  <a:lnTo>
                    <a:pt x="0" y="13716000"/>
                  </a:lnTo>
                  <a:close/>
                  <a:moveTo>
                    <a:pt x="982599" y="982599"/>
                  </a:moveTo>
                  <a:lnTo>
                    <a:pt x="982599" y="12733401"/>
                  </a:lnTo>
                  <a:lnTo>
                    <a:pt x="23395305" y="12733401"/>
                  </a:lnTo>
                  <a:lnTo>
                    <a:pt x="23395305" y="982599"/>
                  </a:lnTo>
                  <a:close/>
                </a:path>
              </a:pathLst>
            </a:custGeom>
            <a:gradFill rotWithShape="1">
              <a:gsLst>
                <a:gs pos="0">
                  <a:srgbClr val="4D4EE6">
                    <a:alpha val="40000"/>
                  </a:srgbClr>
                </a:gs>
                <a:gs pos="100000">
                  <a:srgbClr val="F900A0">
                    <a:alpha val="40000"/>
                  </a:srgbClr>
                </a:gs>
              </a:gsLst>
              <a:lin ang="3638167"/>
            </a:gradFill>
          </p:spPr>
          <p:txBody>
            <a:bodyPr/>
            <a:lstStyle/>
            <a:p>
              <a:endParaRPr lang="en-IN"/>
            </a:p>
          </p:txBody>
        </p:sp>
      </p:grpSp>
      <p:grpSp>
        <p:nvGrpSpPr>
          <p:cNvPr id="4" name="Group 4"/>
          <p:cNvGrpSpPr/>
          <p:nvPr/>
        </p:nvGrpSpPr>
        <p:grpSpPr>
          <a:xfrm>
            <a:off x="14748" y="-408194"/>
            <a:ext cx="18283428" cy="10287000"/>
            <a:chOff x="0" y="0"/>
            <a:chExt cx="24377904" cy="13716000"/>
          </a:xfrm>
        </p:grpSpPr>
        <p:sp>
          <p:nvSpPr>
            <p:cNvPr id="5" name="Freeform 5"/>
            <p:cNvSpPr/>
            <p:nvPr/>
          </p:nvSpPr>
          <p:spPr>
            <a:xfrm>
              <a:off x="0" y="0"/>
              <a:ext cx="24377904" cy="13716000"/>
            </a:xfrm>
            <a:custGeom>
              <a:avLst/>
              <a:gdLst/>
              <a:ahLst/>
              <a:cxnLst/>
              <a:rect l="l" t="t" r="r" b="b"/>
              <a:pathLst>
                <a:path w="24377904" h="13716000">
                  <a:moveTo>
                    <a:pt x="0" y="0"/>
                  </a:moveTo>
                  <a:lnTo>
                    <a:pt x="24377904" y="0"/>
                  </a:lnTo>
                  <a:lnTo>
                    <a:pt x="24377904" y="13716000"/>
                  </a:lnTo>
                  <a:lnTo>
                    <a:pt x="0" y="13716000"/>
                  </a:lnTo>
                  <a:close/>
                </a:path>
              </a:pathLst>
            </a:custGeom>
            <a:solidFill>
              <a:srgbClr val="FFFFFF"/>
            </a:solidFill>
          </p:spPr>
          <p:txBody>
            <a:bodyPr/>
            <a:lstStyle/>
            <a:p>
              <a:endParaRPr lang="en-US"/>
            </a:p>
          </p:txBody>
        </p:sp>
      </p:grpSp>
      <p:grpSp>
        <p:nvGrpSpPr>
          <p:cNvPr id="8" name="Group 8"/>
          <p:cNvGrpSpPr/>
          <p:nvPr/>
        </p:nvGrpSpPr>
        <p:grpSpPr>
          <a:xfrm>
            <a:off x="2286" y="-13917"/>
            <a:ext cx="18283428" cy="10287000"/>
            <a:chOff x="0" y="0"/>
            <a:chExt cx="24377904" cy="13716000"/>
          </a:xfrm>
        </p:grpSpPr>
        <p:sp>
          <p:nvSpPr>
            <p:cNvPr id="9" name="Freeform 9"/>
            <p:cNvSpPr/>
            <p:nvPr/>
          </p:nvSpPr>
          <p:spPr>
            <a:xfrm>
              <a:off x="0" y="0"/>
              <a:ext cx="24377904" cy="13716000"/>
            </a:xfrm>
            <a:custGeom>
              <a:avLst/>
              <a:gdLst/>
              <a:ahLst/>
              <a:cxnLst/>
              <a:rect l="l" t="t" r="r" b="b"/>
              <a:pathLst>
                <a:path w="24377904" h="13716000">
                  <a:moveTo>
                    <a:pt x="0" y="0"/>
                  </a:moveTo>
                  <a:lnTo>
                    <a:pt x="24377904" y="0"/>
                  </a:lnTo>
                  <a:lnTo>
                    <a:pt x="24377904" y="13716000"/>
                  </a:lnTo>
                  <a:lnTo>
                    <a:pt x="0" y="13716000"/>
                  </a:lnTo>
                  <a:close/>
                  <a:moveTo>
                    <a:pt x="982599" y="982599"/>
                  </a:moveTo>
                  <a:lnTo>
                    <a:pt x="982599" y="12733401"/>
                  </a:lnTo>
                  <a:lnTo>
                    <a:pt x="23395305" y="12733401"/>
                  </a:lnTo>
                  <a:lnTo>
                    <a:pt x="23395305" y="982599"/>
                  </a:lnTo>
                  <a:close/>
                </a:path>
              </a:pathLst>
            </a:custGeom>
            <a:solidFill>
              <a:srgbClr val="FFFFFF"/>
            </a:solidFill>
          </p:spPr>
          <p:txBody>
            <a:bodyPr/>
            <a:lstStyle/>
            <a:p>
              <a:endParaRPr lang="en-IN"/>
            </a:p>
          </p:txBody>
        </p:sp>
      </p:grpSp>
      <p:grpSp>
        <p:nvGrpSpPr>
          <p:cNvPr id="10" name="Group 10"/>
          <p:cNvGrpSpPr/>
          <p:nvPr/>
        </p:nvGrpSpPr>
        <p:grpSpPr>
          <a:xfrm>
            <a:off x="7335157" y="1081103"/>
            <a:ext cx="3961737" cy="1591489"/>
            <a:chOff x="0" y="0"/>
            <a:chExt cx="5282316" cy="2121985"/>
          </a:xfrm>
        </p:grpSpPr>
        <p:sp>
          <p:nvSpPr>
            <p:cNvPr id="11" name="Freeform 11"/>
            <p:cNvSpPr/>
            <p:nvPr/>
          </p:nvSpPr>
          <p:spPr>
            <a:xfrm>
              <a:off x="0" y="0"/>
              <a:ext cx="5282316" cy="2121985"/>
            </a:xfrm>
            <a:custGeom>
              <a:avLst/>
              <a:gdLst/>
              <a:ahLst/>
              <a:cxnLst/>
              <a:rect l="l" t="t" r="r" b="b"/>
              <a:pathLst>
                <a:path w="5282316" h="2121985">
                  <a:moveTo>
                    <a:pt x="0" y="0"/>
                  </a:moveTo>
                  <a:lnTo>
                    <a:pt x="5282316" y="0"/>
                  </a:lnTo>
                  <a:lnTo>
                    <a:pt x="5282316" y="2121985"/>
                  </a:lnTo>
                  <a:lnTo>
                    <a:pt x="0" y="2121985"/>
                  </a:lnTo>
                  <a:close/>
                </a:path>
              </a:pathLst>
            </a:custGeom>
            <a:solidFill>
              <a:srgbClr val="000000">
                <a:alpha val="0"/>
              </a:srgbClr>
            </a:solidFill>
          </p:spPr>
          <p:txBody>
            <a:bodyPr/>
            <a:lstStyle/>
            <a:p>
              <a:endParaRPr lang="en-IN"/>
            </a:p>
          </p:txBody>
        </p:sp>
        <p:sp>
          <p:nvSpPr>
            <p:cNvPr id="12" name="TextBox 12"/>
            <p:cNvSpPr txBox="1"/>
            <p:nvPr/>
          </p:nvSpPr>
          <p:spPr>
            <a:xfrm>
              <a:off x="0" y="47625"/>
              <a:ext cx="5282316" cy="2074360"/>
            </a:xfrm>
            <a:prstGeom prst="rect">
              <a:avLst/>
            </a:prstGeom>
          </p:spPr>
          <p:txBody>
            <a:bodyPr lIns="0" tIns="0" rIns="0" bIns="0" rtlCol="0" anchor="ctr"/>
            <a:lstStyle/>
            <a:p>
              <a:pPr algn="l">
                <a:lnSpc>
                  <a:spcPts val="8424"/>
                </a:lnSpc>
              </a:pPr>
              <a:r>
                <a:rPr lang="en-US" sz="7800">
                  <a:solidFill>
                    <a:srgbClr val="FFFFFF"/>
                  </a:solidFill>
                  <a:latin typeface="Arimo"/>
                  <a:ea typeface="Arimo"/>
                  <a:cs typeface="Arimo"/>
                  <a:sym typeface="Arimo"/>
                </a:rPr>
                <a:t>DESIGN</a:t>
              </a:r>
            </a:p>
          </p:txBody>
        </p:sp>
      </p:grpSp>
      <p:sp>
        <p:nvSpPr>
          <p:cNvPr id="7" name="TextBox 6">
            <a:extLst>
              <a:ext uri="{FF2B5EF4-FFF2-40B4-BE49-F238E27FC236}">
                <a16:creationId xmlns:a16="http://schemas.microsoft.com/office/drawing/2014/main" id="{3E0FF3FC-717D-B956-2DF2-72DFCE9F00FC}"/>
              </a:ext>
            </a:extLst>
          </p:cNvPr>
          <p:cNvSpPr txBox="1"/>
          <p:nvPr/>
        </p:nvSpPr>
        <p:spPr>
          <a:xfrm>
            <a:off x="717306" y="1160387"/>
            <a:ext cx="16848815" cy="9140964"/>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The proposed </a:t>
            </a:r>
            <a:r>
              <a:rPr lang="en-US" sz="2800" b="1" dirty="0">
                <a:latin typeface="Times New Roman" panose="02020603050405020304" pitchFamily="18" charset="0"/>
                <a:cs typeface="Times New Roman" panose="02020603050405020304" pitchFamily="18" charset="0"/>
              </a:rPr>
              <a:t>Village Funds and Transparency Management System with Automated PDS Integration</a:t>
            </a:r>
            <a:r>
              <a:rPr lang="en-US" sz="2800" dirty="0">
                <a:latin typeface="Times New Roman" panose="02020603050405020304" pitchFamily="18" charset="0"/>
                <a:cs typeface="Times New Roman" panose="02020603050405020304" pitchFamily="18" charset="0"/>
              </a:rPr>
              <a:t> provides a unified, transparent, and automated governance solution.</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Key Features:</a:t>
            </a:r>
          </a:p>
          <a:p>
            <a:pPr algn="just"/>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Fund Transparency:</a:t>
            </a:r>
            <a:r>
              <a:rPr lang="en-US" sz="2800" dirty="0">
                <a:latin typeface="Times New Roman" panose="02020603050405020304" pitchFamily="18" charset="0"/>
                <a:cs typeface="Times New Roman" panose="02020603050405020304" pitchFamily="18" charset="0"/>
              </a:rPr>
              <a:t> Real-time visibility into government fund allocations, village-level expenses, and donations.</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Donation Management:</a:t>
            </a:r>
            <a:r>
              <a:rPr lang="en-US" sz="2800" dirty="0">
                <a:latin typeface="Times New Roman" panose="02020603050405020304" pitchFamily="18" charset="0"/>
                <a:cs typeface="Times New Roman" panose="02020603050405020304" pitchFamily="18" charset="0"/>
              </a:rPr>
              <a:t> Citizens or external donors can contribute to village development, and contributions are publicly displayed.</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Issue Reporting:</a:t>
            </a:r>
            <a:r>
              <a:rPr lang="en-US" sz="2800" dirty="0">
                <a:latin typeface="Times New Roman" panose="02020603050405020304" pitchFamily="18" charset="0"/>
                <a:cs typeface="Times New Roman" panose="02020603050405020304" pitchFamily="18" charset="0"/>
              </a:rPr>
              <a:t> Villagers can raise issues related to basic services and monitor resolution progress.</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Automated PDS Module:</a:t>
            </a:r>
            <a:endParaRPr lang="en-US" sz="2800" dirty="0">
              <a:latin typeface="Times New Roman" panose="02020603050405020304" pitchFamily="18" charset="0"/>
              <a:cs typeface="Times New Roman" panose="02020603050405020304" pitchFamily="18" charset="0"/>
            </a:endParaRPr>
          </a:p>
          <a:p>
            <a:pPr lvl="1" algn="just"/>
            <a:r>
              <a:rPr lang="en-US" sz="2800" dirty="0">
                <a:latin typeface="Times New Roman" panose="02020603050405020304" pitchFamily="18" charset="0"/>
                <a:cs typeface="Times New Roman" panose="02020603050405020304" pitchFamily="18" charset="0"/>
              </a:rPr>
              <a:t>Digital registration for ration beneficiaries.</a:t>
            </a:r>
          </a:p>
          <a:p>
            <a:pPr lvl="1" algn="just"/>
            <a:r>
              <a:rPr lang="en-US" sz="2800" dirty="0">
                <a:latin typeface="Times New Roman" panose="02020603050405020304" pitchFamily="18" charset="0"/>
                <a:cs typeface="Times New Roman" panose="02020603050405020304" pitchFamily="18" charset="0"/>
              </a:rPr>
              <a:t>Token-based system to manage queues.</a:t>
            </a:r>
          </a:p>
          <a:p>
            <a:pPr lvl="1" algn="just"/>
            <a:r>
              <a:rPr lang="en-US" sz="2800" dirty="0">
                <a:latin typeface="Times New Roman" panose="02020603050405020304" pitchFamily="18" charset="0"/>
                <a:cs typeface="Times New Roman" panose="02020603050405020304" pitchFamily="18" charset="0"/>
              </a:rPr>
              <a:t>Smart scheduling to reduce waiting times.</a:t>
            </a:r>
          </a:p>
          <a:p>
            <a:pPr lvl="1" algn="just"/>
            <a:r>
              <a:rPr lang="en-US" sz="2800" dirty="0">
                <a:latin typeface="Times New Roman" panose="02020603050405020304" pitchFamily="18" charset="0"/>
                <a:cs typeface="Times New Roman" panose="02020603050405020304" pitchFamily="18" charset="0"/>
              </a:rPr>
              <a:t>Digital records of ration distribution and stock availability.</a:t>
            </a:r>
          </a:p>
          <a:p>
            <a:pPr lvl="1"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User Accessibility:</a:t>
            </a:r>
            <a:endParaRPr lang="en-US" sz="2800" dirty="0">
              <a:latin typeface="Times New Roman" panose="02020603050405020304" pitchFamily="18" charset="0"/>
              <a:cs typeface="Times New Roman" panose="02020603050405020304" pitchFamily="18" charset="0"/>
            </a:endParaRPr>
          </a:p>
          <a:p>
            <a:pPr lvl="1" algn="just"/>
            <a:r>
              <a:rPr lang="en-US" sz="2800" dirty="0">
                <a:latin typeface="Times New Roman" panose="02020603050405020304" pitchFamily="18" charset="0"/>
                <a:cs typeface="Times New Roman" panose="02020603050405020304" pitchFamily="18" charset="0"/>
              </a:rPr>
              <a:t>Villagers can access via web or mobile browser.</a:t>
            </a:r>
          </a:p>
          <a:p>
            <a:pPr lvl="1" algn="just"/>
            <a:r>
              <a:rPr lang="en-US" sz="2800" dirty="0">
                <a:latin typeface="Times New Roman" panose="02020603050405020304" pitchFamily="18" charset="0"/>
                <a:cs typeface="Times New Roman" panose="02020603050405020304" pitchFamily="18" charset="0"/>
              </a:rPr>
              <a:t>Supports multiple languages for inclusivity.</a:t>
            </a:r>
          </a:p>
        </p:txBody>
      </p:sp>
      <p:sp>
        <p:nvSpPr>
          <p:cNvPr id="6" name="TextBox 5">
            <a:extLst>
              <a:ext uri="{FF2B5EF4-FFF2-40B4-BE49-F238E27FC236}">
                <a16:creationId xmlns:a16="http://schemas.microsoft.com/office/drawing/2014/main" id="{AC96832D-EB12-F27D-5A2D-0441EE0D8362}"/>
              </a:ext>
            </a:extLst>
          </p:cNvPr>
          <p:cNvSpPr txBox="1"/>
          <p:nvPr/>
        </p:nvSpPr>
        <p:spPr>
          <a:xfrm>
            <a:off x="6019800" y="98017"/>
            <a:ext cx="5105400" cy="553998"/>
          </a:xfrm>
          <a:prstGeom prst="rect">
            <a:avLst/>
          </a:prstGeom>
          <a:noFill/>
        </p:spPr>
        <p:txBody>
          <a:bodyPr wrap="square" rtlCol="0">
            <a:spAutoFit/>
          </a:bodyPr>
          <a:lstStyle/>
          <a:p>
            <a:r>
              <a:rPr lang="en-US" sz="3000" b="1" dirty="0">
                <a:latin typeface="Times New Roman" panose="02020603050405020304" pitchFamily="18" charset="0"/>
                <a:cs typeface="Times New Roman" panose="02020603050405020304" pitchFamily="18" charset="0"/>
              </a:rPr>
              <a:t>PROPOSED SOLUTION</a:t>
            </a:r>
            <a:endParaRPr lang="en-IN"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5096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257300" y="9644062"/>
            <a:ext cx="4114800" cy="547688"/>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txBody>
          <a:bodyPr/>
          <a:lstStyle/>
          <a:p>
            <a:endParaRPr lang="en-IN"/>
          </a:p>
        </p:txBody>
      </p:sp>
      <p:grpSp>
        <p:nvGrpSpPr>
          <p:cNvPr id="10" name="Group 10"/>
          <p:cNvGrpSpPr/>
          <p:nvPr/>
        </p:nvGrpSpPr>
        <p:grpSpPr>
          <a:xfrm>
            <a:off x="12915900" y="9644062"/>
            <a:ext cx="4114800" cy="547688"/>
            <a:chOff x="0" y="0"/>
            <a:chExt cx="5486400" cy="730250"/>
          </a:xfrm>
        </p:grpSpPr>
        <p:sp>
          <p:nvSpPr>
            <p:cNvPr id="11" name="Freeform 11"/>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txBody>
            <a:bodyPr/>
            <a:lstStyle/>
            <a:p>
              <a:endParaRPr lang="en-IN"/>
            </a:p>
          </p:txBody>
        </p:sp>
        <p:sp>
          <p:nvSpPr>
            <p:cNvPr id="12" name="TextBox 12"/>
            <p:cNvSpPr txBox="1"/>
            <p:nvPr/>
          </p:nvSpPr>
          <p:spPr>
            <a:xfrm>
              <a:off x="0" y="0"/>
              <a:ext cx="5486400" cy="730250"/>
            </a:xfrm>
            <a:prstGeom prst="rect">
              <a:avLst/>
            </a:prstGeom>
          </p:spPr>
          <p:txBody>
            <a:bodyPr lIns="0" tIns="0" rIns="0" bIns="0" rtlCol="0" anchor="ctr"/>
            <a:lstStyle/>
            <a:p>
              <a:pPr algn="r">
                <a:lnSpc>
                  <a:spcPts val="1620"/>
                </a:lnSpc>
              </a:pPr>
              <a:r>
                <a:rPr lang="en-US" sz="1350" spc="225">
                  <a:solidFill>
                    <a:srgbClr val="FFFFFF"/>
                  </a:solidFill>
                  <a:latin typeface=" Avenir Next Arabic"/>
                  <a:ea typeface=" Avenir Next Arabic"/>
                  <a:cs typeface=" Avenir Next Arabic"/>
                  <a:sym typeface=" Avenir Next Arabic"/>
                </a:rPr>
                <a:t>5</a:t>
              </a:r>
            </a:p>
          </p:txBody>
        </p:sp>
      </p:grpSp>
      <p:sp>
        <p:nvSpPr>
          <p:cNvPr id="2" name="TextBox 1">
            <a:extLst>
              <a:ext uri="{FF2B5EF4-FFF2-40B4-BE49-F238E27FC236}">
                <a16:creationId xmlns:a16="http://schemas.microsoft.com/office/drawing/2014/main" id="{8CFA4715-38E2-EEF3-4580-D23CEC915370}"/>
              </a:ext>
            </a:extLst>
          </p:cNvPr>
          <p:cNvSpPr txBox="1"/>
          <p:nvPr/>
        </p:nvSpPr>
        <p:spPr>
          <a:xfrm>
            <a:off x="577645" y="553502"/>
            <a:ext cx="464820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Literature Survey</a:t>
            </a:r>
            <a:endParaRPr lang="en-IN" sz="3600" b="1" dirty="0">
              <a:latin typeface="Times New Roman" panose="02020603050405020304" pitchFamily="18" charset="0"/>
              <a:cs typeface="Times New Roman" panose="02020603050405020304" pitchFamily="18" charset="0"/>
            </a:endParaRPr>
          </a:p>
        </p:txBody>
      </p:sp>
      <p:sp>
        <p:nvSpPr>
          <p:cNvPr id="14" name="Rectangle 3">
            <a:extLst>
              <a:ext uri="{FF2B5EF4-FFF2-40B4-BE49-F238E27FC236}">
                <a16:creationId xmlns:a16="http://schemas.microsoft.com/office/drawing/2014/main" id="{877D2AB5-9D2F-15CD-BFE0-411F8261D571}"/>
              </a:ext>
            </a:extLst>
          </p:cNvPr>
          <p:cNvSpPr>
            <a:spLocks noChangeArrowheads="1"/>
          </p:cNvSpPr>
          <p:nvPr/>
        </p:nvSpPr>
        <p:spPr bwMode="auto">
          <a:xfrm>
            <a:off x="609600" y="1308506"/>
            <a:ext cx="17543206" cy="8494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altLang="en-US" sz="2600" b="1" dirty="0">
                <a:latin typeface="Times New Roman" panose="02020603050405020304" pitchFamily="18" charset="0"/>
                <a:cs typeface="Times New Roman" panose="02020603050405020304" pitchFamily="18" charset="0"/>
              </a:rPr>
              <a:t>1.Village Fund Management Transparency: A Lesson Learned (2018):</a:t>
            </a:r>
          </a:p>
          <a:p>
            <a:pPr lvl="0" algn="just" eaLnBrk="0" fontAlgn="base" hangingPunct="0">
              <a:spcBef>
                <a:spcPct val="0"/>
              </a:spcBef>
              <a:spcAft>
                <a:spcPct val="0"/>
              </a:spcAft>
            </a:pPr>
            <a:r>
              <a:rPr lang="en-US" altLang="en-US" sz="2600" dirty="0">
                <a:latin typeface="Times New Roman" panose="02020603050405020304" pitchFamily="18" charset="0"/>
                <a:cs typeface="Times New Roman" panose="02020603050405020304" pitchFamily="18" charset="0"/>
              </a:rPr>
              <a:t>Focuses on village-fund management in a rural setting, investigating transparency, budget planning, community participation etc. Very relevant to your “fund      tracking and transparency” objective in the village context.</a:t>
            </a:r>
          </a:p>
          <a:p>
            <a:pPr lvl="0" algn="just" eaLnBrk="0" fontAlgn="base" hangingPunct="0">
              <a:spcBef>
                <a:spcPct val="0"/>
              </a:spcBef>
              <a:spcAft>
                <a:spcPct val="0"/>
              </a:spcAft>
            </a:pPr>
            <a:r>
              <a:rPr lang="en-US" altLang="en-US" sz="2600" dirty="0">
                <a:latin typeface="Times New Roman" panose="02020603050405020304" pitchFamily="18" charset="0"/>
                <a:cs typeface="Times New Roman" panose="02020603050405020304" pitchFamily="18" charset="0"/>
              </a:rPr>
              <a:t> Relevance: Offers empirical insights into what works (and what doesn’t) for transparent village fund management—good grounding for your web system design.</a:t>
            </a:r>
          </a:p>
          <a:p>
            <a:pPr lvl="0" algn="just" eaLnBrk="0" fontAlgn="base" hangingPunct="0">
              <a:spcBef>
                <a:spcPct val="0"/>
              </a:spcBef>
              <a:spcAft>
                <a:spcPct val="0"/>
              </a:spcAft>
            </a:pPr>
            <a:endParaRPr lang="en-US" altLang="en-US" sz="26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altLang="en-US" sz="2600" b="1" dirty="0">
                <a:latin typeface="Times New Roman" panose="02020603050405020304" pitchFamily="18" charset="0"/>
                <a:cs typeface="Times New Roman" panose="02020603050405020304" pitchFamily="18" charset="0"/>
              </a:rPr>
              <a:t>Link : </a:t>
            </a:r>
            <a:r>
              <a:rPr lang="en-US" altLang="en-US" sz="2600" dirty="0">
                <a:latin typeface="Times New Roman" panose="02020603050405020304" pitchFamily="18" charset="0"/>
                <a:cs typeface="Times New Roman" panose="02020603050405020304" pitchFamily="18" charset="0"/>
              </a:rPr>
              <a:t>https://www.researchgate.net/publication/330734410_Village_Fund_Management_Transparency_A_Lesson_Learned</a:t>
            </a:r>
          </a:p>
          <a:p>
            <a:pPr lvl="0" algn="just" eaLnBrk="0" fontAlgn="base" hangingPunct="0">
              <a:spcBef>
                <a:spcPct val="0"/>
              </a:spcBef>
              <a:spcAft>
                <a:spcPct val="0"/>
              </a:spcAft>
            </a:pPr>
            <a:endParaRPr lang="en-US" altLang="en-US" sz="26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altLang="en-US" sz="2600" b="1" dirty="0">
                <a:latin typeface="Times New Roman" panose="02020603050405020304" pitchFamily="18" charset="0"/>
                <a:cs typeface="Times New Roman" panose="02020603050405020304" pitchFamily="18" charset="0"/>
              </a:rPr>
              <a:t>2.Analysis of Accountability, Transparency and Participation of Village Fund Management (2021):</a:t>
            </a:r>
          </a:p>
          <a:p>
            <a:pPr lvl="0" algn="just" eaLnBrk="0" fontAlgn="base" hangingPunct="0">
              <a:spcBef>
                <a:spcPct val="0"/>
              </a:spcBef>
              <a:spcAft>
                <a:spcPct val="0"/>
              </a:spcAft>
            </a:pPr>
            <a:r>
              <a:rPr lang="en-US" altLang="en-US" sz="2600" dirty="0">
                <a:latin typeface="Times New Roman" panose="02020603050405020304" pitchFamily="18" charset="0"/>
                <a:cs typeface="Times New Roman" panose="02020603050405020304" pitchFamily="18" charset="0"/>
              </a:rPr>
              <a:t> Analyzes how village government manages village funds, with focus on accountability, transparency, participation.</a:t>
            </a:r>
          </a:p>
          <a:p>
            <a:pPr lvl="0" algn="just" eaLnBrk="0" fontAlgn="base" hangingPunct="0">
              <a:spcBef>
                <a:spcPct val="0"/>
              </a:spcBef>
              <a:spcAft>
                <a:spcPct val="0"/>
              </a:spcAft>
            </a:pPr>
            <a:endParaRPr lang="en-US" altLang="en-US" sz="26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altLang="en-US" sz="2600" b="1" dirty="0">
                <a:latin typeface="Times New Roman" panose="02020603050405020304" pitchFamily="18" charset="0"/>
                <a:cs typeface="Times New Roman" panose="02020603050405020304" pitchFamily="18" charset="0"/>
              </a:rPr>
              <a:t>Link : </a:t>
            </a:r>
            <a:r>
              <a:rPr lang="en-IN" sz="2600" dirty="0">
                <a:latin typeface="Times New Roman" panose="02020603050405020304" pitchFamily="18" charset="0"/>
                <a:cs typeface="Times New Roman" panose="02020603050405020304" pitchFamily="18" charset="0"/>
              </a:rPr>
              <a:t>https://nstproceeding.com/index.php/nuscientech/article/view/373/359?</a:t>
            </a:r>
            <a:endParaRPr lang="en-US" altLang="en-US" sz="26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endParaRPr lang="en-US" altLang="en-US" sz="26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altLang="en-US" sz="2600" b="1" dirty="0">
                <a:latin typeface="Times New Roman" panose="02020603050405020304" pitchFamily="18" charset="0"/>
                <a:cs typeface="Times New Roman" panose="02020603050405020304" pitchFamily="18" charset="0"/>
              </a:rPr>
              <a:t>3. ICT for Rural Development: Application and Challenges – A Review (2021):</a:t>
            </a:r>
          </a:p>
          <a:p>
            <a:pPr lvl="0" algn="just" eaLnBrk="0" fontAlgn="base" hangingPunct="0">
              <a:spcBef>
                <a:spcPct val="0"/>
              </a:spcBef>
              <a:spcAft>
                <a:spcPct val="0"/>
              </a:spcAft>
            </a:pPr>
            <a:r>
              <a:rPr lang="en-US" altLang="en-US" sz="2600" b="1" dirty="0">
                <a:latin typeface="Times New Roman" panose="02020603050405020304" pitchFamily="18" charset="0"/>
                <a:cs typeface="Times New Roman" panose="02020603050405020304" pitchFamily="18" charset="0"/>
              </a:rPr>
              <a:t>Summary: </a:t>
            </a:r>
            <a:r>
              <a:rPr lang="en-US" altLang="en-US" sz="2600" dirty="0">
                <a:latin typeface="Times New Roman" panose="02020603050405020304" pitchFamily="18" charset="0"/>
                <a:cs typeface="Times New Roman" panose="02020603050405020304" pitchFamily="18" charset="0"/>
              </a:rPr>
              <a:t>Focuses broadly on ICT applications in rural sectors (education, agriculture, health) and the challenges of ICT adoption (infrastructure, awareness, </a:t>
            </a:r>
            <a:r>
              <a:rPr lang="en-US" altLang="en-US" sz="2600" dirty="0" err="1">
                <a:latin typeface="Times New Roman" panose="02020603050405020304" pitchFamily="18" charset="0"/>
                <a:cs typeface="Times New Roman" panose="02020603050405020304" pitchFamily="18" charset="0"/>
              </a:rPr>
              <a:t>etc</a:t>
            </a:r>
            <a:r>
              <a:rPr lang="en-US" altLang="en-US" sz="2600" dirty="0">
                <a:latin typeface="Times New Roman" panose="02020603050405020304" pitchFamily="18" charset="0"/>
                <a:cs typeface="Times New Roman" panose="02020603050405020304" pitchFamily="18" charset="0"/>
              </a:rPr>
              <a:t>).</a:t>
            </a:r>
          </a:p>
          <a:p>
            <a:pPr lvl="0" algn="just" eaLnBrk="0" fontAlgn="base" hangingPunct="0">
              <a:spcBef>
                <a:spcPct val="0"/>
              </a:spcBef>
              <a:spcAft>
                <a:spcPct val="0"/>
              </a:spcAft>
            </a:pPr>
            <a:r>
              <a:rPr lang="en-US" altLang="en-US" sz="2600" b="1" dirty="0">
                <a:latin typeface="Times New Roman" panose="02020603050405020304" pitchFamily="18" charset="0"/>
                <a:cs typeface="Times New Roman" panose="02020603050405020304" pitchFamily="18" charset="0"/>
              </a:rPr>
              <a:t>Relevance: </a:t>
            </a:r>
            <a:r>
              <a:rPr lang="en-US" altLang="en-US" sz="2600" dirty="0">
                <a:latin typeface="Times New Roman" panose="02020603050405020304" pitchFamily="18" charset="0"/>
                <a:cs typeface="Times New Roman" panose="02020603050405020304" pitchFamily="18" charset="0"/>
              </a:rPr>
              <a:t>Useful background for designing your system: understanding barriers (digital literacy, connectivity) and how you might design for rural village context.</a:t>
            </a:r>
          </a:p>
          <a:p>
            <a:pPr lvl="0" algn="just" eaLnBrk="0" fontAlgn="base" hangingPunct="0">
              <a:spcBef>
                <a:spcPct val="0"/>
              </a:spcBef>
              <a:spcAft>
                <a:spcPct val="0"/>
              </a:spcAft>
            </a:pPr>
            <a:endParaRPr lang="en-US" altLang="en-US" sz="26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altLang="en-US" sz="2600" b="1" dirty="0">
                <a:latin typeface="Times New Roman" panose="02020603050405020304" pitchFamily="18" charset="0"/>
                <a:cs typeface="Times New Roman" panose="02020603050405020304" pitchFamily="18" charset="0"/>
              </a:rPr>
              <a:t>Link :</a:t>
            </a:r>
          </a:p>
          <a:p>
            <a:pPr lvl="0" algn="just" eaLnBrk="0" fontAlgn="base" hangingPunct="0">
              <a:spcBef>
                <a:spcPct val="0"/>
              </a:spcBef>
              <a:spcAft>
                <a:spcPct val="0"/>
              </a:spcAft>
            </a:pPr>
            <a:r>
              <a:rPr lang="en-US" altLang="en-US" sz="2600" b="1" dirty="0">
                <a:latin typeface="Times New Roman" panose="02020603050405020304" pitchFamily="18" charset="0"/>
                <a:cs typeface="Times New Roman" panose="02020603050405020304" pitchFamily="18" charset="0"/>
              </a:rPr>
              <a:t> </a:t>
            </a:r>
            <a:r>
              <a:rPr lang="en-IN" sz="2600" dirty="0">
                <a:latin typeface="Times New Roman" panose="02020603050405020304" pitchFamily="18" charset="0"/>
                <a:cs typeface="Times New Roman" panose="02020603050405020304" pitchFamily="18" charset="0"/>
              </a:rPr>
              <a:t>https://www.researchgate.net/publication/357598174_ICT_in_Rural_Development_Application_and_Challenges_-_A_Review</a:t>
            </a:r>
            <a:endParaRPr lang="en-US" alt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ED7A8-2A0B-F461-B7C3-327E3AE2750C}"/>
            </a:ext>
          </a:extLst>
        </p:cNvPr>
        <p:cNvGrpSpPr/>
        <p:nvPr/>
      </p:nvGrpSpPr>
      <p:grpSpPr>
        <a:xfrm>
          <a:off x="0" y="0"/>
          <a:ext cx="0" cy="0"/>
          <a:chOff x="0" y="0"/>
          <a:chExt cx="0" cy="0"/>
        </a:xfrm>
      </p:grpSpPr>
      <p:sp>
        <p:nvSpPr>
          <p:cNvPr id="8" name="Freeform 8">
            <a:extLst>
              <a:ext uri="{FF2B5EF4-FFF2-40B4-BE49-F238E27FC236}">
                <a16:creationId xmlns:a16="http://schemas.microsoft.com/office/drawing/2014/main" id="{F58DF071-A587-EC8B-B0A5-C4178A2F7796}"/>
              </a:ext>
            </a:extLst>
          </p:cNvPr>
          <p:cNvSpPr/>
          <p:nvPr/>
        </p:nvSpPr>
        <p:spPr>
          <a:xfrm>
            <a:off x="1257300" y="9644062"/>
            <a:ext cx="4114800" cy="547688"/>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txBody>
          <a:bodyPr/>
          <a:lstStyle/>
          <a:p>
            <a:endParaRPr lang="en-IN"/>
          </a:p>
        </p:txBody>
      </p:sp>
      <p:grpSp>
        <p:nvGrpSpPr>
          <p:cNvPr id="10" name="Group 10">
            <a:extLst>
              <a:ext uri="{FF2B5EF4-FFF2-40B4-BE49-F238E27FC236}">
                <a16:creationId xmlns:a16="http://schemas.microsoft.com/office/drawing/2014/main" id="{C27DCD1D-1804-4908-1807-8B9C1F3D478F}"/>
              </a:ext>
            </a:extLst>
          </p:cNvPr>
          <p:cNvGrpSpPr/>
          <p:nvPr/>
        </p:nvGrpSpPr>
        <p:grpSpPr>
          <a:xfrm>
            <a:off x="12915900" y="9644062"/>
            <a:ext cx="4114800" cy="547688"/>
            <a:chOff x="0" y="0"/>
            <a:chExt cx="5486400" cy="730250"/>
          </a:xfrm>
        </p:grpSpPr>
        <p:sp>
          <p:nvSpPr>
            <p:cNvPr id="11" name="Freeform 11">
              <a:extLst>
                <a:ext uri="{FF2B5EF4-FFF2-40B4-BE49-F238E27FC236}">
                  <a16:creationId xmlns:a16="http://schemas.microsoft.com/office/drawing/2014/main" id="{B3E47985-F551-E025-7365-472339D4B34D}"/>
                </a:ext>
              </a:extLst>
            </p:cNvPr>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txBody>
            <a:bodyPr/>
            <a:lstStyle/>
            <a:p>
              <a:endParaRPr lang="en-IN"/>
            </a:p>
          </p:txBody>
        </p:sp>
        <p:sp>
          <p:nvSpPr>
            <p:cNvPr id="12" name="TextBox 12">
              <a:extLst>
                <a:ext uri="{FF2B5EF4-FFF2-40B4-BE49-F238E27FC236}">
                  <a16:creationId xmlns:a16="http://schemas.microsoft.com/office/drawing/2014/main" id="{02A554D3-12EB-B2B3-BE43-C843305B129A}"/>
                </a:ext>
              </a:extLst>
            </p:cNvPr>
            <p:cNvSpPr txBox="1"/>
            <p:nvPr/>
          </p:nvSpPr>
          <p:spPr>
            <a:xfrm>
              <a:off x="0" y="0"/>
              <a:ext cx="5486400" cy="730250"/>
            </a:xfrm>
            <a:prstGeom prst="rect">
              <a:avLst/>
            </a:prstGeom>
          </p:spPr>
          <p:txBody>
            <a:bodyPr lIns="0" tIns="0" rIns="0" bIns="0" rtlCol="0" anchor="ctr"/>
            <a:lstStyle/>
            <a:p>
              <a:pPr algn="r">
                <a:lnSpc>
                  <a:spcPts val="1620"/>
                </a:lnSpc>
              </a:pPr>
              <a:r>
                <a:rPr lang="en-US" sz="1350" spc="225">
                  <a:solidFill>
                    <a:srgbClr val="FFFFFF"/>
                  </a:solidFill>
                  <a:latin typeface=" Avenir Next Arabic"/>
                  <a:ea typeface=" Avenir Next Arabic"/>
                  <a:cs typeface=" Avenir Next Arabic"/>
                  <a:sym typeface=" Avenir Next Arabic"/>
                </a:rPr>
                <a:t>5</a:t>
              </a:r>
            </a:p>
          </p:txBody>
        </p:sp>
      </p:grpSp>
      <p:sp>
        <p:nvSpPr>
          <p:cNvPr id="2" name="TextBox 1">
            <a:extLst>
              <a:ext uri="{FF2B5EF4-FFF2-40B4-BE49-F238E27FC236}">
                <a16:creationId xmlns:a16="http://schemas.microsoft.com/office/drawing/2014/main" id="{2E09162F-A3AC-DF3D-2314-9A77E2DF81F2}"/>
              </a:ext>
            </a:extLst>
          </p:cNvPr>
          <p:cNvSpPr txBox="1"/>
          <p:nvPr/>
        </p:nvSpPr>
        <p:spPr>
          <a:xfrm>
            <a:off x="577645" y="553502"/>
            <a:ext cx="464820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Literature Survey</a:t>
            </a:r>
            <a:endParaRPr lang="en-IN" sz="3600" b="1" dirty="0">
              <a:latin typeface="Times New Roman" panose="02020603050405020304" pitchFamily="18" charset="0"/>
              <a:cs typeface="Times New Roman" panose="02020603050405020304" pitchFamily="18" charset="0"/>
            </a:endParaRPr>
          </a:p>
        </p:txBody>
      </p:sp>
      <p:sp>
        <p:nvSpPr>
          <p:cNvPr id="14" name="Rectangle 3">
            <a:extLst>
              <a:ext uri="{FF2B5EF4-FFF2-40B4-BE49-F238E27FC236}">
                <a16:creationId xmlns:a16="http://schemas.microsoft.com/office/drawing/2014/main" id="{11AE773A-6F84-FB01-B310-C8270D2B20A8}"/>
              </a:ext>
            </a:extLst>
          </p:cNvPr>
          <p:cNvSpPr>
            <a:spLocks noChangeArrowheads="1"/>
          </p:cNvSpPr>
          <p:nvPr/>
        </p:nvSpPr>
        <p:spPr bwMode="auto">
          <a:xfrm>
            <a:off x="577645" y="1943100"/>
            <a:ext cx="17543206"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altLang="en-US" sz="2600" b="1" dirty="0">
                <a:latin typeface="Times New Roman" panose="02020603050405020304" pitchFamily="18" charset="0"/>
                <a:cs typeface="Times New Roman" panose="02020603050405020304" pitchFamily="18" charset="0"/>
              </a:rPr>
              <a:t>4. Optimizing budget policy in village fund allocation (ADD) (2025):</a:t>
            </a:r>
          </a:p>
          <a:p>
            <a:pPr lvl="0" algn="just" eaLnBrk="0" fontAlgn="base" hangingPunct="0">
              <a:spcBef>
                <a:spcPct val="0"/>
              </a:spcBef>
              <a:spcAft>
                <a:spcPct val="0"/>
              </a:spcAft>
            </a:pPr>
            <a:r>
              <a:rPr lang="en-US" altLang="en-US" sz="2600" b="1" dirty="0">
                <a:latin typeface="Times New Roman" panose="02020603050405020304" pitchFamily="18" charset="0"/>
                <a:cs typeface="Times New Roman" panose="02020603050405020304" pitchFamily="18" charset="0"/>
              </a:rPr>
              <a:t>Summary: </a:t>
            </a:r>
            <a:r>
              <a:rPr lang="en-US" altLang="en-US" sz="2600" dirty="0">
                <a:latin typeface="Times New Roman" panose="02020603050405020304" pitchFamily="18" charset="0"/>
                <a:cs typeface="Times New Roman" panose="02020603050405020304" pitchFamily="18" charset="0"/>
              </a:rPr>
              <a:t>Analyses village budget policy (ADD in Indonesia) focusing on transparency, accountability, participation, and how good governance drives effective rural development.</a:t>
            </a:r>
          </a:p>
          <a:p>
            <a:pPr lvl="0" algn="just" eaLnBrk="0" fontAlgn="base" hangingPunct="0">
              <a:spcBef>
                <a:spcPct val="0"/>
              </a:spcBef>
              <a:spcAft>
                <a:spcPct val="0"/>
              </a:spcAft>
            </a:pPr>
            <a:r>
              <a:rPr lang="en-US" altLang="en-US" sz="2600" b="1" dirty="0">
                <a:latin typeface="Times New Roman" panose="02020603050405020304" pitchFamily="18" charset="0"/>
                <a:cs typeface="Times New Roman" panose="02020603050405020304" pitchFamily="18" charset="0"/>
              </a:rPr>
              <a:t>Relevance: </a:t>
            </a:r>
            <a:r>
              <a:rPr lang="en-US" altLang="en-US" sz="2600" dirty="0">
                <a:latin typeface="Times New Roman" panose="02020603050405020304" pitchFamily="18" charset="0"/>
                <a:cs typeface="Times New Roman" panose="02020603050405020304" pitchFamily="18" charset="0"/>
              </a:rPr>
              <a:t>Aligns strongly with your “fund allocation, tracking, and citizen engagement” theme; provides empirical research on how these relate to development outcomes.</a:t>
            </a:r>
          </a:p>
          <a:p>
            <a:pPr lvl="0" algn="just" eaLnBrk="0" fontAlgn="base" hangingPunct="0">
              <a:spcBef>
                <a:spcPct val="0"/>
              </a:spcBef>
              <a:spcAft>
                <a:spcPct val="0"/>
              </a:spcAft>
            </a:pPr>
            <a:r>
              <a:rPr lang="en-US" altLang="en-US" sz="2600" b="1" dirty="0">
                <a:latin typeface="Times New Roman" panose="02020603050405020304" pitchFamily="18" charset="0"/>
                <a:cs typeface="Times New Roman" panose="02020603050405020304" pitchFamily="18" charset="0"/>
              </a:rPr>
              <a:t>Link : </a:t>
            </a:r>
            <a:r>
              <a:rPr lang="en-IN" sz="2400" dirty="0">
                <a:latin typeface="Times New Roman" panose="02020603050405020304" pitchFamily="18" charset="0"/>
                <a:cs typeface="Times New Roman" panose="02020603050405020304" pitchFamily="18" charset="0"/>
              </a:rPr>
              <a:t>https://www.frontiersin.org/journals/political-science/articles/10.3389/fpos.2025.1581806/full</a:t>
            </a:r>
            <a:endParaRPr lang="en-US" altLang="en-US" sz="24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endParaRPr lang="en-US" altLang="en-US" sz="26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altLang="en-US" sz="2600" b="1" dirty="0">
                <a:latin typeface="Times New Roman" panose="02020603050405020304" pitchFamily="18" charset="0"/>
                <a:cs typeface="Times New Roman" panose="02020603050405020304" pitchFamily="18" charset="0"/>
              </a:rPr>
              <a:t>5.  Accountability and Transparency in Governance (Thematic Report – DMEO, NITI Aayog) (2022):</a:t>
            </a:r>
          </a:p>
          <a:p>
            <a:pPr lvl="0" algn="just" eaLnBrk="0" fontAlgn="base" hangingPunct="0">
              <a:spcBef>
                <a:spcPct val="0"/>
              </a:spcBef>
              <a:spcAft>
                <a:spcPct val="0"/>
              </a:spcAft>
            </a:pPr>
            <a:r>
              <a:rPr lang="en-US" altLang="en-US" sz="2600" dirty="0">
                <a:latin typeface="Times New Roman" panose="02020603050405020304" pitchFamily="18" charset="0"/>
                <a:cs typeface="Times New Roman" panose="02020603050405020304" pitchFamily="18" charset="0"/>
              </a:rPr>
              <a:t> </a:t>
            </a:r>
            <a:r>
              <a:rPr lang="en-US" altLang="en-US" sz="2600" b="1" dirty="0">
                <a:latin typeface="Times New Roman" panose="02020603050405020304" pitchFamily="18" charset="0"/>
                <a:cs typeface="Times New Roman" panose="02020603050405020304" pitchFamily="18" charset="0"/>
              </a:rPr>
              <a:t>Summary: </a:t>
            </a:r>
            <a:r>
              <a:rPr lang="en-US" altLang="en-US" sz="2600" dirty="0">
                <a:latin typeface="Times New Roman" panose="02020603050405020304" pitchFamily="18" charset="0"/>
                <a:cs typeface="Times New Roman" panose="02020603050405020304" pitchFamily="18" charset="0"/>
              </a:rPr>
              <a:t>A policy “thematic report” by Indian government partly covering transparency, accountability, use of technology, citizen feedback mechanisms etc.</a:t>
            </a:r>
          </a:p>
          <a:p>
            <a:pPr lvl="0" algn="just" eaLnBrk="0" fontAlgn="base" hangingPunct="0">
              <a:spcBef>
                <a:spcPct val="0"/>
              </a:spcBef>
              <a:spcAft>
                <a:spcPct val="0"/>
              </a:spcAft>
            </a:pPr>
            <a:r>
              <a:rPr lang="en-US" altLang="en-US" sz="2600" b="1" dirty="0">
                <a:latin typeface="Times New Roman" panose="02020603050405020304" pitchFamily="18" charset="0"/>
                <a:cs typeface="Times New Roman" panose="02020603050405020304" pitchFamily="18" charset="0"/>
              </a:rPr>
              <a:t>Relevance: </a:t>
            </a:r>
            <a:r>
              <a:rPr lang="en-US" altLang="en-US" sz="2600" dirty="0">
                <a:latin typeface="Times New Roman" panose="02020603050405020304" pitchFamily="18" charset="0"/>
                <a:cs typeface="Times New Roman" panose="02020603050405020304" pitchFamily="18" charset="0"/>
              </a:rPr>
              <a:t>Gives a macro-perspective (India) on issues of transparency that your system aims to address in a village context. Could help you with framing the justification and objectives in your proposal., participation.</a:t>
            </a:r>
          </a:p>
          <a:p>
            <a:pPr lvl="0" algn="just" eaLnBrk="0" fontAlgn="base" hangingPunct="0">
              <a:spcBef>
                <a:spcPct val="0"/>
              </a:spcBef>
              <a:spcAft>
                <a:spcPct val="0"/>
              </a:spcAft>
            </a:pPr>
            <a:endParaRPr lang="en-US" altLang="en-US" sz="26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altLang="en-US" sz="2600" b="1" dirty="0">
                <a:latin typeface="Times New Roman" panose="02020603050405020304" pitchFamily="18" charset="0"/>
                <a:cs typeface="Times New Roman" panose="02020603050405020304" pitchFamily="18" charset="0"/>
              </a:rPr>
              <a:t>Link : </a:t>
            </a:r>
            <a:r>
              <a:rPr lang="en-IN" sz="2400" dirty="0">
                <a:latin typeface="Times New Roman" panose="02020603050405020304" pitchFamily="18" charset="0"/>
                <a:cs typeface="Times New Roman" panose="02020603050405020304" pitchFamily="18" charset="0"/>
              </a:rPr>
              <a:t>https://dmeo.gov.in/sites/default/files/2022-04/Thematic_Report_Accountability_and_Transparency_22042022.pdf</a:t>
            </a: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9875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1257300" y="9644062"/>
            <a:ext cx="4114800" cy="547688"/>
            <a:chOff x="0" y="0"/>
            <a:chExt cx="5486400" cy="730250"/>
          </a:xfrm>
        </p:grpSpPr>
        <p:sp>
          <p:nvSpPr>
            <p:cNvPr id="8" name="Freeform 8"/>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txBody>
            <a:bodyPr/>
            <a:lstStyle/>
            <a:p>
              <a:endParaRPr lang="en-IN"/>
            </a:p>
          </p:txBody>
        </p:sp>
        <p:sp>
          <p:nvSpPr>
            <p:cNvPr id="9" name="TextBox 9"/>
            <p:cNvSpPr txBox="1"/>
            <p:nvPr/>
          </p:nvSpPr>
          <p:spPr>
            <a:xfrm>
              <a:off x="0" y="0"/>
              <a:ext cx="5486400" cy="730250"/>
            </a:xfrm>
            <a:prstGeom prst="rect">
              <a:avLst/>
            </a:prstGeom>
          </p:spPr>
          <p:txBody>
            <a:bodyPr lIns="0" tIns="0" rIns="0" bIns="0" rtlCol="0" anchor="ctr"/>
            <a:lstStyle/>
            <a:p>
              <a:pPr algn="l">
                <a:lnSpc>
                  <a:spcPts val="1620"/>
                </a:lnSpc>
              </a:pPr>
              <a:r>
                <a:rPr lang="en-US" sz="1350" spc="225">
                  <a:solidFill>
                    <a:srgbClr val="FFFFFF"/>
                  </a:solidFill>
                  <a:latin typeface=" Avenir Next Arabic"/>
                  <a:ea typeface=" Avenir Next Arabic"/>
                  <a:cs typeface=" Avenir Next Arabic"/>
                  <a:sym typeface=" Avenir Next Arabic"/>
                </a:rPr>
                <a:t> </a:t>
              </a:r>
            </a:p>
          </p:txBody>
        </p:sp>
      </p:grpSp>
      <p:sp>
        <p:nvSpPr>
          <p:cNvPr id="11" name="Freeform 11"/>
          <p:cNvSpPr/>
          <p:nvPr/>
        </p:nvSpPr>
        <p:spPr>
          <a:xfrm>
            <a:off x="6057900" y="9644062"/>
            <a:ext cx="6172200" cy="547688"/>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txBody>
          <a:bodyPr/>
          <a:lstStyle/>
          <a:p>
            <a:endParaRPr lang="en-IN"/>
          </a:p>
        </p:txBody>
      </p:sp>
      <p:grpSp>
        <p:nvGrpSpPr>
          <p:cNvPr id="13" name="Group 13"/>
          <p:cNvGrpSpPr/>
          <p:nvPr/>
        </p:nvGrpSpPr>
        <p:grpSpPr>
          <a:xfrm>
            <a:off x="12915900" y="9644062"/>
            <a:ext cx="4114800" cy="547688"/>
            <a:chOff x="0" y="0"/>
            <a:chExt cx="5486400" cy="730250"/>
          </a:xfrm>
        </p:grpSpPr>
        <p:sp>
          <p:nvSpPr>
            <p:cNvPr id="14" name="Freeform 14"/>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txBody>
            <a:bodyPr/>
            <a:lstStyle/>
            <a:p>
              <a:endParaRPr lang="en-IN"/>
            </a:p>
          </p:txBody>
        </p:sp>
        <p:sp>
          <p:nvSpPr>
            <p:cNvPr id="15" name="TextBox 15"/>
            <p:cNvSpPr txBox="1"/>
            <p:nvPr/>
          </p:nvSpPr>
          <p:spPr>
            <a:xfrm>
              <a:off x="0" y="0"/>
              <a:ext cx="5486400" cy="730250"/>
            </a:xfrm>
            <a:prstGeom prst="rect">
              <a:avLst/>
            </a:prstGeom>
          </p:spPr>
          <p:txBody>
            <a:bodyPr lIns="0" tIns="0" rIns="0" bIns="0" rtlCol="0" anchor="ctr"/>
            <a:lstStyle/>
            <a:p>
              <a:pPr algn="r">
                <a:lnSpc>
                  <a:spcPts val="1620"/>
                </a:lnSpc>
              </a:pPr>
              <a:r>
                <a:rPr lang="en-US" sz="1350" spc="225">
                  <a:solidFill>
                    <a:srgbClr val="FFFFFF"/>
                  </a:solidFill>
                  <a:latin typeface=" Avenir Next Arabic"/>
                  <a:ea typeface=" Avenir Next Arabic"/>
                  <a:cs typeface=" Avenir Next Arabic"/>
                  <a:sym typeface=" Avenir Next Arabic"/>
                </a:rPr>
                <a:t>6</a:t>
              </a:r>
            </a:p>
          </p:txBody>
        </p:sp>
      </p:grpSp>
      <p:sp>
        <p:nvSpPr>
          <p:cNvPr id="2" name="TextBox 1">
            <a:extLst>
              <a:ext uri="{FF2B5EF4-FFF2-40B4-BE49-F238E27FC236}">
                <a16:creationId xmlns:a16="http://schemas.microsoft.com/office/drawing/2014/main" id="{AB09C2F8-F886-C34A-2C49-5908ED364623}"/>
              </a:ext>
            </a:extLst>
          </p:cNvPr>
          <p:cNvSpPr txBox="1"/>
          <p:nvPr/>
        </p:nvSpPr>
        <p:spPr>
          <a:xfrm>
            <a:off x="914400" y="897638"/>
            <a:ext cx="6324600" cy="553998"/>
          </a:xfrm>
          <a:prstGeom prst="rect">
            <a:avLst/>
          </a:prstGeom>
          <a:noFill/>
        </p:spPr>
        <p:txBody>
          <a:bodyPr wrap="square" rtlCol="0">
            <a:spAutoFit/>
          </a:bodyPr>
          <a:lstStyle/>
          <a:p>
            <a:r>
              <a:rPr lang="en-US" sz="3000" b="1" dirty="0">
                <a:latin typeface="Times New Roman" panose="02020603050405020304" pitchFamily="18" charset="0"/>
                <a:cs typeface="Times New Roman" panose="02020603050405020304" pitchFamily="18" charset="0"/>
              </a:rPr>
              <a:t>SOFTWARE REQUIREMENTS</a:t>
            </a:r>
            <a:endParaRPr lang="en-IN" sz="3000" b="1"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EF23C01A-277F-421B-34E7-DC8D18C79051}"/>
              </a:ext>
            </a:extLst>
          </p:cNvPr>
          <p:cNvGraphicFramePr>
            <a:graphicFrameLocks noGrp="1"/>
          </p:cNvGraphicFramePr>
          <p:nvPr>
            <p:extLst>
              <p:ext uri="{D42A27DB-BD31-4B8C-83A1-F6EECF244321}">
                <p14:modId xmlns:p14="http://schemas.microsoft.com/office/powerpoint/2010/main" val="484619544"/>
              </p:ext>
            </p:extLst>
          </p:nvPr>
        </p:nvGraphicFramePr>
        <p:xfrm>
          <a:off x="1981200" y="1716343"/>
          <a:ext cx="14706600" cy="7091419"/>
        </p:xfrm>
        <a:graphic>
          <a:graphicData uri="http://schemas.openxmlformats.org/drawingml/2006/table">
            <a:tbl>
              <a:tblPr/>
              <a:tblGrid>
                <a:gridCol w="7249732">
                  <a:extLst>
                    <a:ext uri="{9D8B030D-6E8A-4147-A177-3AD203B41FA5}">
                      <a16:colId xmlns:a16="http://schemas.microsoft.com/office/drawing/2014/main" val="576669517"/>
                    </a:ext>
                  </a:extLst>
                </a:gridCol>
                <a:gridCol w="7456868">
                  <a:extLst>
                    <a:ext uri="{9D8B030D-6E8A-4147-A177-3AD203B41FA5}">
                      <a16:colId xmlns:a16="http://schemas.microsoft.com/office/drawing/2014/main" val="593371797"/>
                    </a:ext>
                  </a:extLst>
                </a:gridCol>
              </a:tblGrid>
              <a:tr h="710487">
                <a:tc>
                  <a:txBody>
                    <a:bodyPr/>
                    <a:lstStyle/>
                    <a:p>
                      <a:pPr>
                        <a:buNone/>
                      </a:pPr>
                      <a:r>
                        <a:rPr lang="en-IN" sz="2400" b="1" dirty="0">
                          <a:latin typeface="Times New Roman" panose="02020603050405020304" pitchFamily="18" charset="0"/>
                          <a:cs typeface="Times New Roman" panose="02020603050405020304" pitchFamily="18" charset="0"/>
                        </a:rPr>
                        <a:t>Category</a:t>
                      </a:r>
                    </a:p>
                    <a:p>
                      <a:pPr>
                        <a:buNone/>
                      </a:pPr>
                      <a:endParaRPr lang="en-IN" sz="2400" dirty="0">
                        <a:latin typeface="Times New Roman" panose="02020603050405020304" pitchFamily="18" charset="0"/>
                        <a:cs typeface="Times New Roman" panose="02020603050405020304" pitchFamily="18" charset="0"/>
                      </a:endParaRPr>
                    </a:p>
                  </a:txBody>
                  <a:tcPr marL="61829" marR="61829" marT="30914" marB="30914" anchor="ctr">
                    <a:lnL>
                      <a:noFill/>
                    </a:lnL>
                    <a:lnR>
                      <a:noFill/>
                    </a:lnR>
                    <a:lnT>
                      <a:noFill/>
                    </a:lnT>
                    <a:lnB>
                      <a:noFill/>
                    </a:lnB>
                    <a:noFill/>
                  </a:tcPr>
                </a:tc>
                <a:tc>
                  <a:txBody>
                    <a:bodyPr/>
                    <a:lstStyle/>
                    <a:p>
                      <a:pPr>
                        <a:buNone/>
                      </a:pPr>
                      <a:r>
                        <a:rPr lang="en-IN" sz="2400" b="1" dirty="0">
                          <a:latin typeface="Times New Roman" panose="02020603050405020304" pitchFamily="18" charset="0"/>
                          <a:cs typeface="Times New Roman" panose="02020603050405020304" pitchFamily="18" charset="0"/>
                        </a:rPr>
                        <a:t>Technology / Tool</a:t>
                      </a:r>
                    </a:p>
                    <a:p>
                      <a:pPr>
                        <a:buNone/>
                      </a:pPr>
                      <a:endParaRPr lang="en-IN" sz="2400" dirty="0">
                        <a:latin typeface="Times New Roman" panose="02020603050405020304" pitchFamily="18" charset="0"/>
                        <a:cs typeface="Times New Roman" panose="02020603050405020304" pitchFamily="18" charset="0"/>
                      </a:endParaRPr>
                    </a:p>
                  </a:txBody>
                  <a:tcPr marL="61829" marR="61829" marT="30914" marB="30914" anchor="ctr">
                    <a:lnL>
                      <a:noFill/>
                    </a:lnL>
                    <a:lnR>
                      <a:noFill/>
                    </a:lnR>
                    <a:lnT>
                      <a:noFill/>
                    </a:lnT>
                    <a:lnB>
                      <a:noFill/>
                    </a:lnB>
                    <a:noFill/>
                  </a:tcPr>
                </a:tc>
                <a:extLst>
                  <a:ext uri="{0D108BD9-81ED-4DB2-BD59-A6C34878D82A}">
                    <a16:rowId xmlns:a16="http://schemas.microsoft.com/office/drawing/2014/main" val="551682895"/>
                  </a:ext>
                </a:extLst>
              </a:tr>
              <a:tr h="475326">
                <a:tc>
                  <a:txBody>
                    <a:bodyPr/>
                    <a:lstStyle/>
                    <a:p>
                      <a:pPr>
                        <a:buNone/>
                      </a:pPr>
                      <a:r>
                        <a:rPr lang="en-IN" sz="2400" b="1">
                          <a:latin typeface="Times New Roman" panose="02020603050405020304" pitchFamily="18" charset="0"/>
                          <a:cs typeface="Times New Roman" panose="02020603050405020304" pitchFamily="18" charset="0"/>
                        </a:rPr>
                        <a:t>Frontend</a:t>
                      </a:r>
                      <a:endParaRPr lang="en-IN" sz="2400">
                        <a:latin typeface="Times New Roman" panose="02020603050405020304" pitchFamily="18" charset="0"/>
                        <a:cs typeface="Times New Roman" panose="02020603050405020304" pitchFamily="18" charset="0"/>
                      </a:endParaRPr>
                    </a:p>
                  </a:txBody>
                  <a:tcPr marL="61829" marR="61829" marT="30914" marB="30914"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React.js, HTML5, CSS3, JavaScript</a:t>
                      </a:r>
                    </a:p>
                  </a:txBody>
                  <a:tcPr marL="61829" marR="61829" marT="30914" marB="30914" anchor="ctr">
                    <a:lnL>
                      <a:noFill/>
                    </a:lnL>
                    <a:lnR>
                      <a:noFill/>
                    </a:lnR>
                    <a:lnT>
                      <a:noFill/>
                    </a:lnT>
                    <a:lnB>
                      <a:noFill/>
                    </a:lnB>
                    <a:noFill/>
                  </a:tcPr>
                </a:tc>
                <a:extLst>
                  <a:ext uri="{0D108BD9-81ED-4DB2-BD59-A6C34878D82A}">
                    <a16:rowId xmlns:a16="http://schemas.microsoft.com/office/drawing/2014/main" val="278834579"/>
                  </a:ext>
                </a:extLst>
              </a:tr>
              <a:tr h="475326">
                <a:tc>
                  <a:txBody>
                    <a:bodyPr/>
                    <a:lstStyle/>
                    <a:p>
                      <a:pPr>
                        <a:buNone/>
                      </a:pPr>
                      <a:r>
                        <a:rPr lang="en-IN" sz="2400" b="1">
                          <a:latin typeface="Times New Roman" panose="02020603050405020304" pitchFamily="18" charset="0"/>
                          <a:cs typeface="Times New Roman" panose="02020603050405020304" pitchFamily="18" charset="0"/>
                        </a:rPr>
                        <a:t>Backend</a:t>
                      </a:r>
                      <a:endParaRPr lang="en-IN" sz="2400">
                        <a:latin typeface="Times New Roman" panose="02020603050405020304" pitchFamily="18" charset="0"/>
                        <a:cs typeface="Times New Roman" panose="02020603050405020304" pitchFamily="18" charset="0"/>
                      </a:endParaRPr>
                    </a:p>
                  </a:txBody>
                  <a:tcPr marL="61829" marR="61829" marT="30914" marB="30914"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Node.js with Express.js</a:t>
                      </a:r>
                    </a:p>
                  </a:txBody>
                  <a:tcPr marL="61829" marR="61829" marT="30914" marB="30914" anchor="ctr">
                    <a:lnL>
                      <a:noFill/>
                    </a:lnL>
                    <a:lnR>
                      <a:noFill/>
                    </a:lnR>
                    <a:lnT>
                      <a:noFill/>
                    </a:lnT>
                    <a:lnB>
                      <a:noFill/>
                    </a:lnB>
                    <a:noFill/>
                  </a:tcPr>
                </a:tc>
                <a:extLst>
                  <a:ext uri="{0D108BD9-81ED-4DB2-BD59-A6C34878D82A}">
                    <a16:rowId xmlns:a16="http://schemas.microsoft.com/office/drawing/2014/main" val="348789773"/>
                  </a:ext>
                </a:extLst>
              </a:tr>
              <a:tr h="475326">
                <a:tc>
                  <a:txBody>
                    <a:bodyPr/>
                    <a:lstStyle/>
                    <a:p>
                      <a:pPr>
                        <a:buNone/>
                      </a:pPr>
                      <a:r>
                        <a:rPr lang="en-IN" sz="2400" b="1" dirty="0">
                          <a:latin typeface="Times New Roman" panose="02020603050405020304" pitchFamily="18" charset="0"/>
                          <a:cs typeface="Times New Roman" panose="02020603050405020304" pitchFamily="18" charset="0"/>
                        </a:rPr>
                        <a:t>Database</a:t>
                      </a:r>
                      <a:endParaRPr lang="en-IN" sz="2400" dirty="0">
                        <a:latin typeface="Times New Roman" panose="02020603050405020304" pitchFamily="18" charset="0"/>
                        <a:cs typeface="Times New Roman" panose="02020603050405020304" pitchFamily="18" charset="0"/>
                      </a:endParaRPr>
                    </a:p>
                  </a:txBody>
                  <a:tcPr marL="61829" marR="61829" marT="30914" marB="30914"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MongoDB (for flexible, scalable document-based storage)</a:t>
                      </a:r>
                    </a:p>
                  </a:txBody>
                  <a:tcPr marL="61829" marR="61829" marT="30914" marB="30914" anchor="ctr">
                    <a:lnL>
                      <a:noFill/>
                    </a:lnL>
                    <a:lnR>
                      <a:noFill/>
                    </a:lnR>
                    <a:lnT>
                      <a:noFill/>
                    </a:lnT>
                    <a:lnB>
                      <a:noFill/>
                    </a:lnB>
                    <a:noFill/>
                  </a:tcPr>
                </a:tc>
                <a:extLst>
                  <a:ext uri="{0D108BD9-81ED-4DB2-BD59-A6C34878D82A}">
                    <a16:rowId xmlns:a16="http://schemas.microsoft.com/office/drawing/2014/main" val="1802181095"/>
                  </a:ext>
                </a:extLst>
              </a:tr>
              <a:tr h="475326">
                <a:tc>
                  <a:txBody>
                    <a:bodyPr/>
                    <a:lstStyle/>
                    <a:p>
                      <a:pPr>
                        <a:buNone/>
                      </a:pPr>
                      <a:endParaRPr lang="en-IN" sz="2400" dirty="0">
                        <a:latin typeface="Times New Roman" panose="02020603050405020304" pitchFamily="18" charset="0"/>
                        <a:cs typeface="Times New Roman" panose="02020603050405020304" pitchFamily="18" charset="0"/>
                      </a:endParaRPr>
                    </a:p>
                  </a:txBody>
                  <a:tcPr marL="61829" marR="61829" marT="30914" marB="30914" anchor="ctr">
                    <a:lnL>
                      <a:noFill/>
                    </a:lnL>
                    <a:lnR>
                      <a:noFill/>
                    </a:lnR>
                    <a:lnT>
                      <a:noFill/>
                    </a:lnT>
                    <a:lnB>
                      <a:noFill/>
                    </a:lnB>
                    <a:noFill/>
                  </a:tcPr>
                </a:tc>
                <a:tc>
                  <a:txBody>
                    <a:bodyPr/>
                    <a:lstStyle/>
                    <a:p>
                      <a:pPr>
                        <a:buNone/>
                      </a:pPr>
                      <a:endParaRPr lang="en-US" sz="2400" dirty="0">
                        <a:latin typeface="Times New Roman" panose="02020603050405020304" pitchFamily="18" charset="0"/>
                        <a:cs typeface="Times New Roman" panose="02020603050405020304" pitchFamily="18" charset="0"/>
                      </a:endParaRPr>
                    </a:p>
                  </a:txBody>
                  <a:tcPr marL="61829" marR="61829" marT="30914" marB="30914" anchor="ctr">
                    <a:lnL>
                      <a:noFill/>
                    </a:lnL>
                    <a:lnR>
                      <a:noFill/>
                    </a:lnR>
                    <a:lnT>
                      <a:noFill/>
                    </a:lnT>
                    <a:lnB>
                      <a:noFill/>
                    </a:lnB>
                    <a:noFill/>
                  </a:tcPr>
                </a:tc>
                <a:extLst>
                  <a:ext uri="{0D108BD9-81ED-4DB2-BD59-A6C34878D82A}">
                    <a16:rowId xmlns:a16="http://schemas.microsoft.com/office/drawing/2014/main" val="1489855116"/>
                  </a:ext>
                </a:extLst>
              </a:tr>
              <a:tr h="831821">
                <a:tc>
                  <a:txBody>
                    <a:bodyPr/>
                    <a:lstStyle/>
                    <a:p>
                      <a:pPr>
                        <a:buNone/>
                      </a:pPr>
                      <a:r>
                        <a:rPr lang="en-IN" sz="2400" b="1" dirty="0">
                          <a:latin typeface="Times New Roman" panose="02020603050405020304" pitchFamily="18" charset="0"/>
                          <a:cs typeface="Times New Roman" panose="02020603050405020304" pitchFamily="18" charset="0"/>
                        </a:rPr>
                        <a:t>Server Environment</a:t>
                      </a:r>
                      <a:endParaRPr lang="en-IN" sz="2400" dirty="0">
                        <a:latin typeface="Times New Roman" panose="02020603050405020304" pitchFamily="18" charset="0"/>
                        <a:cs typeface="Times New Roman" panose="02020603050405020304" pitchFamily="18" charset="0"/>
                      </a:endParaRPr>
                    </a:p>
                  </a:txBody>
                  <a:tcPr marL="61829" marR="61829" marT="30914" marB="30914"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XAMPP (for local testing) or Cloud Deployment on AWS / Azure / Render</a:t>
                      </a:r>
                    </a:p>
                  </a:txBody>
                  <a:tcPr marL="61829" marR="61829" marT="30914" marB="30914" anchor="ctr">
                    <a:lnL>
                      <a:noFill/>
                    </a:lnL>
                    <a:lnR>
                      <a:noFill/>
                    </a:lnR>
                    <a:lnT>
                      <a:noFill/>
                    </a:lnT>
                    <a:lnB>
                      <a:noFill/>
                    </a:lnB>
                    <a:noFill/>
                  </a:tcPr>
                </a:tc>
                <a:extLst>
                  <a:ext uri="{0D108BD9-81ED-4DB2-BD59-A6C34878D82A}">
                    <a16:rowId xmlns:a16="http://schemas.microsoft.com/office/drawing/2014/main" val="4038012829"/>
                  </a:ext>
                </a:extLst>
              </a:tr>
              <a:tr h="475326">
                <a:tc>
                  <a:txBody>
                    <a:bodyPr/>
                    <a:lstStyle/>
                    <a:p>
                      <a:pPr>
                        <a:buNone/>
                      </a:pPr>
                      <a:r>
                        <a:rPr lang="en-IN" sz="2400" b="1">
                          <a:latin typeface="Times New Roman" panose="02020603050405020304" pitchFamily="18" charset="0"/>
                          <a:cs typeface="Times New Roman" panose="02020603050405020304" pitchFamily="18" charset="0"/>
                        </a:rPr>
                        <a:t>Version Control</a:t>
                      </a:r>
                      <a:endParaRPr lang="en-IN" sz="2400">
                        <a:latin typeface="Times New Roman" panose="02020603050405020304" pitchFamily="18" charset="0"/>
                        <a:cs typeface="Times New Roman" panose="02020603050405020304" pitchFamily="18" charset="0"/>
                      </a:endParaRPr>
                    </a:p>
                  </a:txBody>
                  <a:tcPr marL="61829" marR="61829" marT="30914" marB="30914"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Git and GitHub</a:t>
                      </a:r>
                    </a:p>
                  </a:txBody>
                  <a:tcPr marL="61829" marR="61829" marT="30914" marB="30914" anchor="ctr">
                    <a:lnL>
                      <a:noFill/>
                    </a:lnL>
                    <a:lnR>
                      <a:noFill/>
                    </a:lnR>
                    <a:lnT>
                      <a:noFill/>
                    </a:lnT>
                    <a:lnB>
                      <a:noFill/>
                    </a:lnB>
                    <a:noFill/>
                  </a:tcPr>
                </a:tc>
                <a:extLst>
                  <a:ext uri="{0D108BD9-81ED-4DB2-BD59-A6C34878D82A}">
                    <a16:rowId xmlns:a16="http://schemas.microsoft.com/office/drawing/2014/main" val="1637617142"/>
                  </a:ext>
                </a:extLst>
              </a:tr>
              <a:tr h="831821">
                <a:tc>
                  <a:txBody>
                    <a:bodyPr/>
                    <a:lstStyle/>
                    <a:p>
                      <a:pPr>
                        <a:buNone/>
                      </a:pPr>
                      <a:r>
                        <a:rPr lang="en-IN" sz="2400" b="1">
                          <a:latin typeface="Times New Roman" panose="02020603050405020304" pitchFamily="18" charset="0"/>
                          <a:cs typeface="Times New Roman" panose="02020603050405020304" pitchFamily="18" charset="0"/>
                        </a:rPr>
                        <a:t>Operating System</a:t>
                      </a:r>
                      <a:endParaRPr lang="en-IN" sz="2400">
                        <a:latin typeface="Times New Roman" panose="02020603050405020304" pitchFamily="18" charset="0"/>
                        <a:cs typeface="Times New Roman" panose="02020603050405020304" pitchFamily="18" charset="0"/>
                      </a:endParaRPr>
                    </a:p>
                  </a:txBody>
                  <a:tcPr marL="61829" marR="61829" marT="30914" marB="30914"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Windows 10 / 11 or Linux (Ubuntu preferred for deployment)</a:t>
                      </a:r>
                    </a:p>
                  </a:txBody>
                  <a:tcPr marL="61829" marR="61829" marT="30914" marB="30914" anchor="ctr">
                    <a:lnL>
                      <a:noFill/>
                    </a:lnL>
                    <a:lnR>
                      <a:noFill/>
                    </a:lnR>
                    <a:lnT>
                      <a:noFill/>
                    </a:lnT>
                    <a:lnB>
                      <a:noFill/>
                    </a:lnB>
                    <a:noFill/>
                  </a:tcPr>
                </a:tc>
                <a:extLst>
                  <a:ext uri="{0D108BD9-81ED-4DB2-BD59-A6C34878D82A}">
                    <a16:rowId xmlns:a16="http://schemas.microsoft.com/office/drawing/2014/main" val="497110086"/>
                  </a:ext>
                </a:extLst>
              </a:tr>
              <a:tr h="475326">
                <a:tc>
                  <a:txBody>
                    <a:bodyPr/>
                    <a:lstStyle/>
                    <a:p>
                      <a:pPr>
                        <a:buNone/>
                      </a:pPr>
                      <a:r>
                        <a:rPr lang="en-IN" sz="2400" b="1" dirty="0">
                          <a:latin typeface="Times New Roman" panose="02020603050405020304" pitchFamily="18" charset="0"/>
                          <a:cs typeface="Times New Roman" panose="02020603050405020304" pitchFamily="18" charset="0"/>
                        </a:rPr>
                        <a:t>Development IDE / Editor</a:t>
                      </a:r>
                      <a:endParaRPr lang="en-IN" sz="2400" dirty="0">
                        <a:latin typeface="Times New Roman" panose="02020603050405020304" pitchFamily="18" charset="0"/>
                        <a:cs typeface="Times New Roman" panose="02020603050405020304" pitchFamily="18" charset="0"/>
                      </a:endParaRPr>
                    </a:p>
                  </a:txBody>
                  <a:tcPr marL="61829" marR="61829" marT="30914" marB="30914"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Visual Studio Code</a:t>
                      </a:r>
                    </a:p>
                  </a:txBody>
                  <a:tcPr marL="61829" marR="61829" marT="30914" marB="30914" anchor="ctr">
                    <a:lnL>
                      <a:noFill/>
                    </a:lnL>
                    <a:lnR>
                      <a:noFill/>
                    </a:lnR>
                    <a:lnT>
                      <a:noFill/>
                    </a:lnT>
                    <a:lnB>
                      <a:noFill/>
                    </a:lnB>
                    <a:noFill/>
                  </a:tcPr>
                </a:tc>
                <a:extLst>
                  <a:ext uri="{0D108BD9-81ED-4DB2-BD59-A6C34878D82A}">
                    <a16:rowId xmlns:a16="http://schemas.microsoft.com/office/drawing/2014/main" val="1676902498"/>
                  </a:ext>
                </a:extLst>
              </a:tr>
              <a:tr h="475326">
                <a:tc>
                  <a:txBody>
                    <a:bodyPr/>
                    <a:lstStyle/>
                    <a:p>
                      <a:pPr>
                        <a:buNone/>
                      </a:pPr>
                      <a:r>
                        <a:rPr lang="en-IN" sz="2400" b="1">
                          <a:latin typeface="Times New Roman" panose="02020603050405020304" pitchFamily="18" charset="0"/>
                          <a:cs typeface="Times New Roman" panose="02020603050405020304" pitchFamily="18" charset="0"/>
                        </a:rPr>
                        <a:t>Package Manager</a:t>
                      </a:r>
                      <a:endParaRPr lang="en-IN" sz="2400">
                        <a:latin typeface="Times New Roman" panose="02020603050405020304" pitchFamily="18" charset="0"/>
                        <a:cs typeface="Times New Roman" panose="02020603050405020304" pitchFamily="18" charset="0"/>
                      </a:endParaRPr>
                    </a:p>
                  </a:txBody>
                  <a:tcPr marL="61829" marR="61829" marT="30914" marB="30914"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npm (Node Package Manager)</a:t>
                      </a:r>
                    </a:p>
                  </a:txBody>
                  <a:tcPr marL="61829" marR="61829" marT="30914" marB="30914" anchor="ctr">
                    <a:lnL>
                      <a:noFill/>
                    </a:lnL>
                    <a:lnR>
                      <a:noFill/>
                    </a:lnR>
                    <a:lnT>
                      <a:noFill/>
                    </a:lnT>
                    <a:lnB>
                      <a:noFill/>
                    </a:lnB>
                    <a:noFill/>
                  </a:tcPr>
                </a:tc>
                <a:extLst>
                  <a:ext uri="{0D108BD9-81ED-4DB2-BD59-A6C34878D82A}">
                    <a16:rowId xmlns:a16="http://schemas.microsoft.com/office/drawing/2014/main" val="1124622252"/>
                  </a:ext>
                </a:extLst>
              </a:tr>
              <a:tr h="475326">
                <a:tc>
                  <a:txBody>
                    <a:bodyPr/>
                    <a:lstStyle/>
                    <a:p>
                      <a:pPr>
                        <a:buNone/>
                      </a:pPr>
                      <a:r>
                        <a:rPr lang="en-IN" sz="2400" b="1">
                          <a:latin typeface="Times New Roman" panose="02020603050405020304" pitchFamily="18" charset="0"/>
                          <a:cs typeface="Times New Roman" panose="02020603050405020304" pitchFamily="18" charset="0"/>
                        </a:rPr>
                        <a:t>Browser Compatibility</a:t>
                      </a:r>
                      <a:endParaRPr lang="en-IN" sz="2400">
                        <a:latin typeface="Times New Roman" panose="02020603050405020304" pitchFamily="18" charset="0"/>
                        <a:cs typeface="Times New Roman" panose="02020603050405020304" pitchFamily="18" charset="0"/>
                      </a:endParaRPr>
                    </a:p>
                  </a:txBody>
                  <a:tcPr marL="61829" marR="61829" marT="30914" marB="30914"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Google Chrome, Mozilla Firefox, Microsoft Edge</a:t>
                      </a:r>
                    </a:p>
                  </a:txBody>
                  <a:tcPr marL="61829" marR="61829" marT="30914" marB="30914" anchor="ctr">
                    <a:lnL>
                      <a:noFill/>
                    </a:lnL>
                    <a:lnR>
                      <a:noFill/>
                    </a:lnR>
                    <a:lnT>
                      <a:noFill/>
                    </a:lnT>
                    <a:lnB>
                      <a:noFill/>
                    </a:lnB>
                    <a:noFill/>
                  </a:tcPr>
                </a:tc>
                <a:extLst>
                  <a:ext uri="{0D108BD9-81ED-4DB2-BD59-A6C34878D82A}">
                    <a16:rowId xmlns:a16="http://schemas.microsoft.com/office/drawing/2014/main" val="1445539302"/>
                  </a:ext>
                </a:extLst>
              </a:tr>
              <a:tr h="831821">
                <a:tc>
                  <a:txBody>
                    <a:bodyPr/>
                    <a:lstStyle/>
                    <a:p>
                      <a:pPr>
                        <a:buNone/>
                      </a:pPr>
                      <a:endParaRPr lang="en-US" sz="2400" dirty="0">
                        <a:latin typeface="Times New Roman" panose="02020603050405020304" pitchFamily="18" charset="0"/>
                        <a:cs typeface="Times New Roman" panose="02020603050405020304" pitchFamily="18" charset="0"/>
                      </a:endParaRPr>
                    </a:p>
                  </a:txBody>
                  <a:tcPr marL="61829" marR="61829" marT="30914" marB="30914" anchor="ctr">
                    <a:lnL>
                      <a:noFill/>
                    </a:lnL>
                    <a:lnR>
                      <a:noFill/>
                    </a:lnR>
                    <a:lnT>
                      <a:noFill/>
                    </a:lnT>
                    <a:lnB>
                      <a:noFill/>
                    </a:lnB>
                    <a:noFill/>
                  </a:tcPr>
                </a:tc>
                <a:tc>
                  <a:txBody>
                    <a:bodyPr/>
                    <a:lstStyle/>
                    <a:p>
                      <a:pPr>
                        <a:buNone/>
                      </a:pPr>
                      <a:endParaRPr lang="en-US" sz="2400" dirty="0">
                        <a:latin typeface="Times New Roman" panose="02020603050405020304" pitchFamily="18" charset="0"/>
                        <a:cs typeface="Times New Roman" panose="02020603050405020304" pitchFamily="18" charset="0"/>
                      </a:endParaRPr>
                    </a:p>
                  </a:txBody>
                  <a:tcPr marL="61829" marR="61829" marT="30914" marB="30914" anchor="ctr">
                    <a:lnL>
                      <a:noFill/>
                    </a:lnL>
                    <a:lnR>
                      <a:noFill/>
                    </a:lnR>
                    <a:lnT>
                      <a:noFill/>
                    </a:lnT>
                    <a:lnB>
                      <a:noFill/>
                    </a:lnB>
                    <a:noFill/>
                  </a:tcPr>
                </a:tc>
                <a:extLst>
                  <a:ext uri="{0D108BD9-81ED-4DB2-BD59-A6C34878D82A}">
                    <a16:rowId xmlns:a16="http://schemas.microsoft.com/office/drawing/2014/main" val="2529880450"/>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65B8E-7E67-F780-A5E7-F104B3472251}"/>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1668212B-0746-7815-9007-60E204130C8A}"/>
              </a:ext>
            </a:extLst>
          </p:cNvPr>
          <p:cNvGrpSpPr/>
          <p:nvPr/>
        </p:nvGrpSpPr>
        <p:grpSpPr>
          <a:xfrm>
            <a:off x="1257300" y="9644062"/>
            <a:ext cx="4114800" cy="547688"/>
            <a:chOff x="0" y="0"/>
            <a:chExt cx="5486400" cy="730250"/>
          </a:xfrm>
        </p:grpSpPr>
        <p:sp>
          <p:nvSpPr>
            <p:cNvPr id="8" name="Freeform 8">
              <a:extLst>
                <a:ext uri="{FF2B5EF4-FFF2-40B4-BE49-F238E27FC236}">
                  <a16:creationId xmlns:a16="http://schemas.microsoft.com/office/drawing/2014/main" id="{A099D97D-452F-60EC-A21E-76FF2FA8DCFA}"/>
                </a:ext>
              </a:extLst>
            </p:cNvPr>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txBody>
            <a:bodyPr/>
            <a:lstStyle/>
            <a:p>
              <a:endParaRPr lang="en-IN"/>
            </a:p>
          </p:txBody>
        </p:sp>
        <p:sp>
          <p:nvSpPr>
            <p:cNvPr id="9" name="TextBox 9">
              <a:extLst>
                <a:ext uri="{FF2B5EF4-FFF2-40B4-BE49-F238E27FC236}">
                  <a16:creationId xmlns:a16="http://schemas.microsoft.com/office/drawing/2014/main" id="{07EACACB-260C-35FE-CD84-8FF508289C68}"/>
                </a:ext>
              </a:extLst>
            </p:cNvPr>
            <p:cNvSpPr txBox="1"/>
            <p:nvPr/>
          </p:nvSpPr>
          <p:spPr>
            <a:xfrm>
              <a:off x="0" y="0"/>
              <a:ext cx="5486400" cy="730250"/>
            </a:xfrm>
            <a:prstGeom prst="rect">
              <a:avLst/>
            </a:prstGeom>
          </p:spPr>
          <p:txBody>
            <a:bodyPr lIns="0" tIns="0" rIns="0" bIns="0" rtlCol="0" anchor="ctr"/>
            <a:lstStyle/>
            <a:p>
              <a:pPr algn="l">
                <a:lnSpc>
                  <a:spcPts val="1620"/>
                </a:lnSpc>
              </a:pPr>
              <a:r>
                <a:rPr lang="en-US" sz="1350" spc="225">
                  <a:solidFill>
                    <a:srgbClr val="FFFFFF"/>
                  </a:solidFill>
                  <a:latin typeface=" Avenir Next Arabic"/>
                  <a:ea typeface=" Avenir Next Arabic"/>
                  <a:cs typeface=" Avenir Next Arabic"/>
                  <a:sym typeface=" Avenir Next Arabic"/>
                </a:rPr>
                <a:t> </a:t>
              </a:r>
            </a:p>
          </p:txBody>
        </p:sp>
      </p:grpSp>
      <p:sp>
        <p:nvSpPr>
          <p:cNvPr id="11" name="Freeform 11">
            <a:extLst>
              <a:ext uri="{FF2B5EF4-FFF2-40B4-BE49-F238E27FC236}">
                <a16:creationId xmlns:a16="http://schemas.microsoft.com/office/drawing/2014/main" id="{C5B1AA3A-B8F2-FC0F-6888-8DE02DF7EC0A}"/>
              </a:ext>
            </a:extLst>
          </p:cNvPr>
          <p:cNvSpPr/>
          <p:nvPr/>
        </p:nvSpPr>
        <p:spPr>
          <a:xfrm>
            <a:off x="6057900" y="9644062"/>
            <a:ext cx="6172200" cy="547688"/>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txBody>
          <a:bodyPr/>
          <a:lstStyle/>
          <a:p>
            <a:endParaRPr lang="en-IN"/>
          </a:p>
        </p:txBody>
      </p:sp>
      <p:grpSp>
        <p:nvGrpSpPr>
          <p:cNvPr id="13" name="Group 13">
            <a:extLst>
              <a:ext uri="{FF2B5EF4-FFF2-40B4-BE49-F238E27FC236}">
                <a16:creationId xmlns:a16="http://schemas.microsoft.com/office/drawing/2014/main" id="{93D702BF-8B70-430F-25DB-E2336255AD45}"/>
              </a:ext>
            </a:extLst>
          </p:cNvPr>
          <p:cNvGrpSpPr/>
          <p:nvPr/>
        </p:nvGrpSpPr>
        <p:grpSpPr>
          <a:xfrm>
            <a:off x="12915900" y="9644062"/>
            <a:ext cx="4114800" cy="547688"/>
            <a:chOff x="0" y="0"/>
            <a:chExt cx="5486400" cy="730250"/>
          </a:xfrm>
        </p:grpSpPr>
        <p:sp>
          <p:nvSpPr>
            <p:cNvPr id="14" name="Freeform 14">
              <a:extLst>
                <a:ext uri="{FF2B5EF4-FFF2-40B4-BE49-F238E27FC236}">
                  <a16:creationId xmlns:a16="http://schemas.microsoft.com/office/drawing/2014/main" id="{094A2EC4-0541-1807-FC20-87F8E1AF8F83}"/>
                </a:ext>
              </a:extLst>
            </p:cNvPr>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txBody>
            <a:bodyPr/>
            <a:lstStyle/>
            <a:p>
              <a:endParaRPr lang="en-IN"/>
            </a:p>
          </p:txBody>
        </p:sp>
        <p:sp>
          <p:nvSpPr>
            <p:cNvPr id="15" name="TextBox 15">
              <a:extLst>
                <a:ext uri="{FF2B5EF4-FFF2-40B4-BE49-F238E27FC236}">
                  <a16:creationId xmlns:a16="http://schemas.microsoft.com/office/drawing/2014/main" id="{9DB66FB2-715F-087B-98BB-24B725EA1FD9}"/>
                </a:ext>
              </a:extLst>
            </p:cNvPr>
            <p:cNvSpPr txBox="1"/>
            <p:nvPr/>
          </p:nvSpPr>
          <p:spPr>
            <a:xfrm>
              <a:off x="0" y="0"/>
              <a:ext cx="5486400" cy="730250"/>
            </a:xfrm>
            <a:prstGeom prst="rect">
              <a:avLst/>
            </a:prstGeom>
          </p:spPr>
          <p:txBody>
            <a:bodyPr lIns="0" tIns="0" rIns="0" bIns="0" rtlCol="0" anchor="ctr"/>
            <a:lstStyle/>
            <a:p>
              <a:pPr algn="r">
                <a:lnSpc>
                  <a:spcPts val="1620"/>
                </a:lnSpc>
              </a:pPr>
              <a:r>
                <a:rPr lang="en-US" sz="1350" spc="225">
                  <a:solidFill>
                    <a:srgbClr val="FFFFFF"/>
                  </a:solidFill>
                  <a:latin typeface=" Avenir Next Arabic"/>
                  <a:ea typeface=" Avenir Next Arabic"/>
                  <a:cs typeface=" Avenir Next Arabic"/>
                  <a:sym typeface=" Avenir Next Arabic"/>
                </a:rPr>
                <a:t>6</a:t>
              </a:r>
            </a:p>
          </p:txBody>
        </p:sp>
      </p:grpSp>
      <p:sp>
        <p:nvSpPr>
          <p:cNvPr id="2" name="TextBox 1">
            <a:extLst>
              <a:ext uri="{FF2B5EF4-FFF2-40B4-BE49-F238E27FC236}">
                <a16:creationId xmlns:a16="http://schemas.microsoft.com/office/drawing/2014/main" id="{337333E4-A824-1437-DDA1-09BD164601FF}"/>
              </a:ext>
            </a:extLst>
          </p:cNvPr>
          <p:cNvSpPr txBox="1"/>
          <p:nvPr/>
        </p:nvSpPr>
        <p:spPr>
          <a:xfrm>
            <a:off x="914400" y="897638"/>
            <a:ext cx="6324600" cy="553998"/>
          </a:xfrm>
          <a:prstGeom prst="rect">
            <a:avLst/>
          </a:prstGeom>
          <a:noFill/>
        </p:spPr>
        <p:txBody>
          <a:bodyPr wrap="square" rtlCol="0">
            <a:spAutoFit/>
          </a:bodyPr>
          <a:lstStyle/>
          <a:p>
            <a:r>
              <a:rPr lang="en-US" sz="3000" b="1" dirty="0">
                <a:latin typeface="Times New Roman" panose="02020603050405020304" pitchFamily="18" charset="0"/>
                <a:cs typeface="Times New Roman" panose="02020603050405020304" pitchFamily="18" charset="0"/>
              </a:rPr>
              <a:t>HARDWARE REQUIREMENTS</a:t>
            </a:r>
            <a:endParaRPr lang="en-IN" sz="3000" b="1"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C60892AC-D2E9-83B2-392B-1172D9685330}"/>
              </a:ext>
            </a:extLst>
          </p:cNvPr>
          <p:cNvGraphicFramePr>
            <a:graphicFrameLocks noGrp="1"/>
          </p:cNvGraphicFramePr>
          <p:nvPr>
            <p:extLst>
              <p:ext uri="{D42A27DB-BD31-4B8C-83A1-F6EECF244321}">
                <p14:modId xmlns:p14="http://schemas.microsoft.com/office/powerpoint/2010/main" val="3951333994"/>
              </p:ext>
            </p:extLst>
          </p:nvPr>
        </p:nvGraphicFramePr>
        <p:xfrm>
          <a:off x="2514600" y="1962508"/>
          <a:ext cx="13106400" cy="4612482"/>
        </p:xfrm>
        <a:graphic>
          <a:graphicData uri="http://schemas.openxmlformats.org/drawingml/2006/table">
            <a:tbl>
              <a:tblPr/>
              <a:tblGrid>
                <a:gridCol w="6553200">
                  <a:extLst>
                    <a:ext uri="{9D8B030D-6E8A-4147-A177-3AD203B41FA5}">
                      <a16:colId xmlns:a16="http://schemas.microsoft.com/office/drawing/2014/main" val="2690277391"/>
                    </a:ext>
                  </a:extLst>
                </a:gridCol>
                <a:gridCol w="6553200">
                  <a:extLst>
                    <a:ext uri="{9D8B030D-6E8A-4147-A177-3AD203B41FA5}">
                      <a16:colId xmlns:a16="http://schemas.microsoft.com/office/drawing/2014/main" val="911274973"/>
                    </a:ext>
                  </a:extLst>
                </a:gridCol>
              </a:tblGrid>
              <a:tr h="621427">
                <a:tc>
                  <a:txBody>
                    <a:bodyPr/>
                    <a:lstStyle/>
                    <a:p>
                      <a:pPr>
                        <a:buNone/>
                      </a:pPr>
                      <a:r>
                        <a:rPr lang="en-IN" sz="2600" b="1" dirty="0">
                          <a:latin typeface="Times New Roman" panose="02020603050405020304" pitchFamily="18" charset="0"/>
                          <a:cs typeface="Times New Roman" panose="02020603050405020304" pitchFamily="18" charset="0"/>
                        </a:rPr>
                        <a:t>Component</a:t>
                      </a:r>
                      <a:endParaRPr lang="en-IN" sz="26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2600" b="1">
                          <a:latin typeface="Times New Roman" panose="02020603050405020304" pitchFamily="18" charset="0"/>
                          <a:cs typeface="Times New Roman" panose="02020603050405020304" pitchFamily="18" charset="0"/>
                        </a:rPr>
                        <a:t>Specification / Description</a:t>
                      </a:r>
                      <a:endParaRPr lang="en-IN" sz="2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2622937894"/>
                  </a:ext>
                </a:extLst>
              </a:tr>
              <a:tr h="621427">
                <a:tc>
                  <a:txBody>
                    <a:bodyPr/>
                    <a:lstStyle/>
                    <a:p>
                      <a:pPr>
                        <a:buNone/>
                      </a:pPr>
                      <a:r>
                        <a:rPr lang="en-IN" sz="2600" b="1">
                          <a:latin typeface="Times New Roman" panose="02020603050405020304" pitchFamily="18" charset="0"/>
                          <a:cs typeface="Times New Roman" panose="02020603050405020304" pitchFamily="18" charset="0"/>
                        </a:rPr>
                        <a:t>Processor</a:t>
                      </a:r>
                      <a:endParaRPr lang="en-IN" sz="2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600">
                          <a:latin typeface="Times New Roman" panose="02020603050405020304" pitchFamily="18" charset="0"/>
                          <a:cs typeface="Times New Roman" panose="02020603050405020304" pitchFamily="18" charset="0"/>
                        </a:rPr>
                        <a:t>Intel Core i3 or higher</a:t>
                      </a:r>
                    </a:p>
                  </a:txBody>
                  <a:tcPr anchor="ctr">
                    <a:lnL>
                      <a:noFill/>
                    </a:lnL>
                    <a:lnR>
                      <a:noFill/>
                    </a:lnR>
                    <a:lnT>
                      <a:noFill/>
                    </a:lnT>
                    <a:lnB>
                      <a:noFill/>
                    </a:lnB>
                    <a:noFill/>
                  </a:tcPr>
                </a:tc>
                <a:extLst>
                  <a:ext uri="{0D108BD9-81ED-4DB2-BD59-A6C34878D82A}">
                    <a16:rowId xmlns:a16="http://schemas.microsoft.com/office/drawing/2014/main" val="413098656"/>
                  </a:ext>
                </a:extLst>
              </a:tr>
              <a:tr h="621427">
                <a:tc>
                  <a:txBody>
                    <a:bodyPr/>
                    <a:lstStyle/>
                    <a:p>
                      <a:pPr>
                        <a:buNone/>
                      </a:pPr>
                      <a:r>
                        <a:rPr lang="en-IN" sz="2600" b="1">
                          <a:latin typeface="Times New Roman" panose="02020603050405020304" pitchFamily="18" charset="0"/>
                          <a:cs typeface="Times New Roman" panose="02020603050405020304" pitchFamily="18" charset="0"/>
                        </a:rPr>
                        <a:t>RAM</a:t>
                      </a:r>
                      <a:endParaRPr lang="en-IN" sz="2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600">
                          <a:latin typeface="Times New Roman" panose="02020603050405020304" pitchFamily="18" charset="0"/>
                          <a:cs typeface="Times New Roman" panose="02020603050405020304" pitchFamily="18" charset="0"/>
                        </a:rPr>
                        <a:t>Minimum 4 GB (8 GB recommended for development)</a:t>
                      </a:r>
                    </a:p>
                  </a:txBody>
                  <a:tcPr anchor="ctr">
                    <a:lnL>
                      <a:noFill/>
                    </a:lnL>
                    <a:lnR>
                      <a:noFill/>
                    </a:lnR>
                    <a:lnT>
                      <a:noFill/>
                    </a:lnT>
                    <a:lnB>
                      <a:noFill/>
                    </a:lnB>
                    <a:noFill/>
                  </a:tcPr>
                </a:tc>
                <a:extLst>
                  <a:ext uri="{0D108BD9-81ED-4DB2-BD59-A6C34878D82A}">
                    <a16:rowId xmlns:a16="http://schemas.microsoft.com/office/drawing/2014/main" val="1259633108"/>
                  </a:ext>
                </a:extLst>
              </a:tr>
              <a:tr h="621427">
                <a:tc>
                  <a:txBody>
                    <a:bodyPr/>
                    <a:lstStyle/>
                    <a:p>
                      <a:pPr>
                        <a:buNone/>
                      </a:pPr>
                      <a:r>
                        <a:rPr lang="en-IN" sz="2600" b="1">
                          <a:latin typeface="Times New Roman" panose="02020603050405020304" pitchFamily="18" charset="0"/>
                          <a:cs typeface="Times New Roman" panose="02020603050405020304" pitchFamily="18" charset="0"/>
                        </a:rPr>
                        <a:t>Storage (Hard Disk / SSD)</a:t>
                      </a:r>
                      <a:endParaRPr lang="en-IN" sz="2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600">
                          <a:latin typeface="Times New Roman" panose="02020603050405020304" pitchFamily="18" charset="0"/>
                          <a:cs typeface="Times New Roman" panose="02020603050405020304" pitchFamily="18" charset="0"/>
                        </a:rPr>
                        <a:t>Minimum 100 GB free space</a:t>
                      </a:r>
                    </a:p>
                  </a:txBody>
                  <a:tcPr anchor="ctr">
                    <a:lnL>
                      <a:noFill/>
                    </a:lnL>
                    <a:lnR>
                      <a:noFill/>
                    </a:lnR>
                    <a:lnT>
                      <a:noFill/>
                    </a:lnT>
                    <a:lnB>
                      <a:noFill/>
                    </a:lnB>
                    <a:noFill/>
                  </a:tcPr>
                </a:tc>
                <a:extLst>
                  <a:ext uri="{0D108BD9-81ED-4DB2-BD59-A6C34878D82A}">
                    <a16:rowId xmlns:a16="http://schemas.microsoft.com/office/drawing/2014/main" val="3986760155"/>
                  </a:ext>
                </a:extLst>
              </a:tr>
              <a:tr h="621427">
                <a:tc>
                  <a:txBody>
                    <a:bodyPr/>
                    <a:lstStyle/>
                    <a:p>
                      <a:pPr>
                        <a:buNone/>
                      </a:pPr>
                      <a:r>
                        <a:rPr lang="en-IN" sz="2600" b="1">
                          <a:latin typeface="Times New Roman" panose="02020603050405020304" pitchFamily="18" charset="0"/>
                          <a:cs typeface="Times New Roman" panose="02020603050405020304" pitchFamily="18" charset="0"/>
                        </a:rPr>
                        <a:t>Display</a:t>
                      </a:r>
                      <a:endParaRPr lang="en-IN" sz="2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600">
                          <a:latin typeface="Times New Roman" panose="02020603050405020304" pitchFamily="18" charset="0"/>
                          <a:cs typeface="Times New Roman" panose="02020603050405020304" pitchFamily="18" charset="0"/>
                        </a:rPr>
                        <a:t>1024 × 768 resolution or higher</a:t>
                      </a:r>
                    </a:p>
                  </a:txBody>
                  <a:tcPr anchor="ctr">
                    <a:lnL>
                      <a:noFill/>
                    </a:lnL>
                    <a:lnR>
                      <a:noFill/>
                    </a:lnR>
                    <a:lnT>
                      <a:noFill/>
                    </a:lnT>
                    <a:lnB>
                      <a:noFill/>
                    </a:lnB>
                    <a:noFill/>
                  </a:tcPr>
                </a:tc>
                <a:extLst>
                  <a:ext uri="{0D108BD9-81ED-4DB2-BD59-A6C34878D82A}">
                    <a16:rowId xmlns:a16="http://schemas.microsoft.com/office/drawing/2014/main" val="1341702861"/>
                  </a:ext>
                </a:extLst>
              </a:tr>
              <a:tr h="621427">
                <a:tc>
                  <a:txBody>
                    <a:bodyPr/>
                    <a:lstStyle/>
                    <a:p>
                      <a:pPr>
                        <a:buNone/>
                      </a:pPr>
                      <a:r>
                        <a:rPr lang="en-IN" sz="2600" b="1">
                          <a:latin typeface="Times New Roman" panose="02020603050405020304" pitchFamily="18" charset="0"/>
                          <a:cs typeface="Times New Roman" panose="02020603050405020304" pitchFamily="18" charset="0"/>
                        </a:rPr>
                        <a:t>Network Connectivity</a:t>
                      </a:r>
                      <a:endParaRPr lang="en-IN" sz="2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2600">
                          <a:latin typeface="Times New Roman" panose="02020603050405020304" pitchFamily="18" charset="0"/>
                          <a:cs typeface="Times New Roman" panose="02020603050405020304" pitchFamily="18" charset="0"/>
                        </a:rPr>
                        <a:t>Stable broadband internet connection</a:t>
                      </a:r>
                    </a:p>
                  </a:txBody>
                  <a:tcPr anchor="ctr">
                    <a:lnL>
                      <a:noFill/>
                    </a:lnL>
                    <a:lnR>
                      <a:noFill/>
                    </a:lnR>
                    <a:lnT>
                      <a:noFill/>
                    </a:lnT>
                    <a:lnB>
                      <a:noFill/>
                    </a:lnB>
                    <a:noFill/>
                  </a:tcPr>
                </a:tc>
                <a:extLst>
                  <a:ext uri="{0D108BD9-81ED-4DB2-BD59-A6C34878D82A}">
                    <a16:rowId xmlns:a16="http://schemas.microsoft.com/office/drawing/2014/main" val="326947177"/>
                  </a:ext>
                </a:extLst>
              </a:tr>
              <a:tr h="621427">
                <a:tc>
                  <a:txBody>
                    <a:bodyPr/>
                    <a:lstStyle/>
                    <a:p>
                      <a:pPr>
                        <a:buNone/>
                      </a:pPr>
                      <a:r>
                        <a:rPr lang="en-IN" sz="2600" b="1">
                          <a:latin typeface="Times New Roman" panose="02020603050405020304" pitchFamily="18" charset="0"/>
                          <a:cs typeface="Times New Roman" panose="02020603050405020304" pitchFamily="18" charset="0"/>
                        </a:rPr>
                        <a:t>Peripheral Devices</a:t>
                      </a:r>
                      <a:endParaRPr lang="en-IN" sz="2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600" dirty="0">
                          <a:latin typeface="Times New Roman" panose="02020603050405020304" pitchFamily="18" charset="0"/>
                          <a:cs typeface="Times New Roman" panose="02020603050405020304" pitchFamily="18" charset="0"/>
                        </a:rPr>
                        <a:t>Keyboard, Mouse, Printer (optional for reports)</a:t>
                      </a:r>
                    </a:p>
                  </a:txBody>
                  <a:tcPr anchor="ctr">
                    <a:lnL>
                      <a:noFill/>
                    </a:lnL>
                    <a:lnR>
                      <a:noFill/>
                    </a:lnR>
                    <a:lnT>
                      <a:noFill/>
                    </a:lnT>
                    <a:lnB>
                      <a:noFill/>
                    </a:lnB>
                    <a:noFill/>
                  </a:tcPr>
                </a:tc>
                <a:extLst>
                  <a:ext uri="{0D108BD9-81ED-4DB2-BD59-A6C34878D82A}">
                    <a16:rowId xmlns:a16="http://schemas.microsoft.com/office/drawing/2014/main" val="1430970868"/>
                  </a:ext>
                </a:extLst>
              </a:tr>
            </a:tbl>
          </a:graphicData>
        </a:graphic>
      </p:graphicFrame>
    </p:spTree>
    <p:extLst>
      <p:ext uri="{BB962C8B-B14F-4D97-AF65-F5344CB8AC3E}">
        <p14:creationId xmlns:p14="http://schemas.microsoft.com/office/powerpoint/2010/main" val="1384777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1B3A6-E7BE-F0D7-D9CC-D3269A6195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E0FAB88-D0B9-5A8C-AC82-FE494F180B3A}"/>
              </a:ext>
            </a:extLst>
          </p:cNvPr>
          <p:cNvSpPr txBox="1"/>
          <p:nvPr/>
        </p:nvSpPr>
        <p:spPr>
          <a:xfrm>
            <a:off x="1372854" y="3001883"/>
            <a:ext cx="15542292" cy="5632311"/>
          </a:xfrm>
          <a:prstGeom prst="rect">
            <a:avLst/>
          </a:prstGeom>
          <a:noFill/>
        </p:spPr>
        <p:txBody>
          <a:bodyPr wrap="square">
            <a:spAutoFit/>
          </a:bodyPr>
          <a:lstStyle/>
          <a:p>
            <a:r>
              <a:rPr lang="en-US" sz="3000" dirty="0">
                <a:latin typeface="Times New Roman" panose="02020603050405020304" pitchFamily="18" charset="0"/>
                <a:cs typeface="Times New Roman" panose="02020603050405020304" pitchFamily="18" charset="0"/>
              </a:rPr>
              <a:t>The </a:t>
            </a:r>
            <a:r>
              <a:rPr lang="en-US" sz="3000" b="1" dirty="0">
                <a:latin typeface="Times New Roman" panose="02020603050405020304" pitchFamily="18" charset="0"/>
                <a:cs typeface="Times New Roman" panose="02020603050405020304" pitchFamily="18" charset="0"/>
              </a:rPr>
              <a:t>Voice of Village: Fund Transparency, Issue Reporting &amp; Automated PDS Management System</a:t>
            </a:r>
            <a:r>
              <a:rPr lang="en-US" sz="3000" dirty="0">
                <a:latin typeface="Times New Roman" panose="02020603050405020304" pitchFamily="18" charset="0"/>
                <a:cs typeface="Times New Roman" panose="02020603050405020304" pitchFamily="18" charset="0"/>
              </a:rPr>
              <a:t> represents a significant step forward in promoting </a:t>
            </a:r>
            <a:r>
              <a:rPr lang="en-US" sz="3000" b="1" dirty="0">
                <a:latin typeface="Times New Roman" panose="02020603050405020304" pitchFamily="18" charset="0"/>
                <a:cs typeface="Times New Roman" panose="02020603050405020304" pitchFamily="18" charset="0"/>
              </a:rPr>
              <a:t>digital governance, transparency, and citizen empowerment</a:t>
            </a:r>
            <a:r>
              <a:rPr lang="en-US" sz="3000" dirty="0">
                <a:latin typeface="Times New Roman" panose="02020603050405020304" pitchFamily="18" charset="0"/>
                <a:cs typeface="Times New Roman" panose="02020603050405020304" pitchFamily="18" charset="0"/>
              </a:rPr>
              <a:t> in rural areas. By combining fund tracking, complaint management, and an automated Public Distribution System (PDS) under one platform, the system ensures that village administration becomes more transparent, accountable, and efficient.</a:t>
            </a:r>
          </a:p>
          <a:p>
            <a:endParaRPr lang="en-US" sz="3000" dirty="0">
              <a:latin typeface="Times New Roman" panose="02020603050405020304" pitchFamily="18" charset="0"/>
              <a:cs typeface="Times New Roman" panose="02020603050405020304" pitchFamily="18" charset="0"/>
            </a:endParaRPr>
          </a:p>
          <a:p>
            <a:endParaRPr lang="en-US" sz="3000" dirty="0">
              <a:latin typeface="Times New Roman" panose="02020603050405020304" pitchFamily="18" charset="0"/>
              <a:cs typeface="Times New Roman" panose="02020603050405020304" pitchFamily="18" charset="0"/>
            </a:endParaRPr>
          </a:p>
          <a:p>
            <a:r>
              <a:rPr lang="en-US" sz="3000" dirty="0">
                <a:latin typeface="Times New Roman" panose="02020603050405020304" pitchFamily="18" charset="0"/>
                <a:cs typeface="Times New Roman" panose="02020603050405020304" pitchFamily="18" charset="0"/>
              </a:rPr>
              <a:t>Overall, this project not only digitizes rural fund management and complaint handling but also promotes </a:t>
            </a:r>
            <a:r>
              <a:rPr lang="en-US" sz="3000" b="1" dirty="0">
                <a:latin typeface="Times New Roman" panose="02020603050405020304" pitchFamily="18" charset="0"/>
                <a:cs typeface="Times New Roman" panose="02020603050405020304" pitchFamily="18" charset="0"/>
              </a:rPr>
              <a:t>participatory governance</a:t>
            </a:r>
            <a:r>
              <a:rPr lang="en-US" sz="3000" dirty="0">
                <a:latin typeface="Times New Roman" panose="02020603050405020304" pitchFamily="18" charset="0"/>
                <a:cs typeface="Times New Roman" panose="02020603050405020304" pitchFamily="18" charset="0"/>
              </a:rPr>
              <a:t> by involving citizens directly in monitoring and decision-making. With further enhancements and real-time deployment, it can serve as a model for </a:t>
            </a:r>
            <a:r>
              <a:rPr lang="en-US" sz="3000" b="1" dirty="0">
                <a:latin typeface="Times New Roman" panose="02020603050405020304" pitchFamily="18" charset="0"/>
                <a:cs typeface="Times New Roman" panose="02020603050405020304" pitchFamily="18" charset="0"/>
              </a:rPr>
              <a:t>smart village development</a:t>
            </a:r>
            <a:r>
              <a:rPr lang="en-US" sz="3000" dirty="0">
                <a:latin typeface="Times New Roman" panose="02020603050405020304" pitchFamily="18" charset="0"/>
                <a:cs typeface="Times New Roman" panose="02020603050405020304" pitchFamily="18" charset="0"/>
              </a:rPr>
              <a:t>, fostering trust between citizens and local authorities, and supporting the government’s </a:t>
            </a:r>
            <a:r>
              <a:rPr lang="en-US" sz="3000" b="1" dirty="0">
                <a:latin typeface="Times New Roman" panose="02020603050405020304" pitchFamily="18" charset="0"/>
                <a:cs typeface="Times New Roman" panose="02020603050405020304" pitchFamily="18" charset="0"/>
              </a:rPr>
              <a:t>Digital India</a:t>
            </a:r>
            <a:r>
              <a:rPr lang="en-US" sz="3000" dirty="0">
                <a:latin typeface="Times New Roman" panose="02020603050405020304" pitchFamily="18" charset="0"/>
                <a:cs typeface="Times New Roman" panose="02020603050405020304" pitchFamily="18" charset="0"/>
              </a:rPr>
              <a:t> and </a:t>
            </a:r>
            <a:r>
              <a:rPr lang="en-US" sz="3000" b="1" dirty="0">
                <a:latin typeface="Times New Roman" panose="02020603050405020304" pitchFamily="18" charset="0"/>
                <a:cs typeface="Times New Roman" panose="02020603050405020304" pitchFamily="18" charset="0"/>
              </a:rPr>
              <a:t>Smart Village</a:t>
            </a:r>
            <a:r>
              <a:rPr lang="en-US" sz="3000" dirty="0">
                <a:latin typeface="Times New Roman" panose="02020603050405020304" pitchFamily="18" charset="0"/>
                <a:cs typeface="Times New Roman" panose="02020603050405020304" pitchFamily="18" charset="0"/>
              </a:rPr>
              <a:t> initiatives.</a:t>
            </a:r>
          </a:p>
        </p:txBody>
      </p:sp>
      <p:sp>
        <p:nvSpPr>
          <p:cNvPr id="2" name="TextBox 1">
            <a:extLst>
              <a:ext uri="{FF2B5EF4-FFF2-40B4-BE49-F238E27FC236}">
                <a16:creationId xmlns:a16="http://schemas.microsoft.com/office/drawing/2014/main" id="{478AEA03-074D-A638-62AC-288232CAC27F}"/>
              </a:ext>
            </a:extLst>
          </p:cNvPr>
          <p:cNvSpPr txBox="1"/>
          <p:nvPr/>
        </p:nvSpPr>
        <p:spPr>
          <a:xfrm>
            <a:off x="1372854" y="1375807"/>
            <a:ext cx="2819400" cy="553998"/>
          </a:xfrm>
          <a:prstGeom prst="rect">
            <a:avLst/>
          </a:prstGeom>
          <a:noFill/>
        </p:spPr>
        <p:txBody>
          <a:bodyPr wrap="square" rtlCol="0">
            <a:spAutoFit/>
          </a:bodyPr>
          <a:lstStyle/>
          <a:p>
            <a:r>
              <a:rPr lang="en-US" sz="3000" b="1" dirty="0">
                <a:latin typeface="Times New Roman" panose="02020603050405020304" pitchFamily="18" charset="0"/>
                <a:cs typeface="Times New Roman" panose="02020603050405020304" pitchFamily="18" charset="0"/>
              </a:rPr>
              <a:t>CONCLUSION</a:t>
            </a:r>
            <a:endParaRPr lang="en-IN"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2174523"/>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otalTime>120</TotalTime>
  <Words>1425</Words>
  <Application>Microsoft Office PowerPoint</Application>
  <PresentationFormat>Custom</PresentationFormat>
  <Paragraphs>137</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Gill Sans MT</vt:lpstr>
      <vt:lpstr>Wingdings 2</vt:lpstr>
      <vt:lpstr>Times New Roman</vt:lpstr>
      <vt:lpstr> Avenir Next Arabic</vt:lpstr>
      <vt:lpstr>Arimo</vt:lpstr>
      <vt:lpstr>Arial</vt:lpstr>
      <vt:lpstr>Dividend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geethanjali college OF engineering and technoloy MINOR PROJECT</dc:title>
  <dc:creator>ADMIN</dc:creator>
  <cp:lastModifiedBy>uday peraboina</cp:lastModifiedBy>
  <cp:revision>14</cp:revision>
  <dcterms:created xsi:type="dcterms:W3CDTF">2006-08-16T00:00:00Z</dcterms:created>
  <dcterms:modified xsi:type="dcterms:W3CDTF">2025-10-22T15:25:35Z</dcterms:modified>
  <dc:identifier>DAGvBCb7s2k</dc:identifier>
</cp:coreProperties>
</file>