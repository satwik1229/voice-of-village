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600"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F34E3-95EF-F2A4-D553-52762485E0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682429-ABE7-306A-7036-5A6680E519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0D50F9-8E15-A975-2148-223738343AB5}"/>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A2CC7380-2239-9ECE-4805-15BF8EEF57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96303C-F174-F99D-F48C-5334CAA7F8AD}"/>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254007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292E-4CC7-C098-3EA8-4F067F1EC1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91442C-3D6D-24DF-E1C1-825F6DCC19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C7FDE2-7AF4-EB1A-7AB9-3D27C7CFB01F}"/>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7F69CD85-1533-D7B5-8ABF-7E8E582800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EB6D0B-864D-AC0A-D8FC-471281F236FE}"/>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1312078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DCDE8-A031-19D1-BD2F-5CA07A2743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0E0EA4-690A-E89F-081C-0E0646FB21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B40817-A31B-CB9B-3879-A5F4CBFAA57D}"/>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79C2E81F-E305-94C0-22B6-8F53C49B0E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7EE27C-8A1C-E1EE-4C1C-A0D1C0DC1A1D}"/>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3131276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A2DE9-F36B-72AF-24AB-011E925280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3CE975-930C-E08F-B169-783EC703CD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A8AF0B-62A3-6CEB-AB96-E4B27600C2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80C9E8-5FDB-E363-7FD3-19C85F663CE9}"/>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6" name="Footer Placeholder 5">
            <a:extLst>
              <a:ext uri="{FF2B5EF4-FFF2-40B4-BE49-F238E27FC236}">
                <a16:creationId xmlns:a16="http://schemas.microsoft.com/office/drawing/2014/main" id="{998F8F34-0D5A-CC0C-8AF8-B524A00876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3F4AA1-1BB4-ABF9-CFE6-C19CFBE2DC2B}"/>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4509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9D37A-E6DC-4051-613F-F6939BBA77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BB50AC-5287-307D-057F-01EADDE949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A2D787-4CA0-832E-58A4-0582A63AA3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6D7C1B-A7D9-07E1-4F6E-EA71AAA1E1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59D4C3-8562-31DA-F426-A39D71618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AE1F5BD-1FAE-EB34-EBCC-AEFE253C3FBE}"/>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8" name="Footer Placeholder 7">
            <a:extLst>
              <a:ext uri="{FF2B5EF4-FFF2-40B4-BE49-F238E27FC236}">
                <a16:creationId xmlns:a16="http://schemas.microsoft.com/office/drawing/2014/main" id="{5D39F4C6-D81C-B34E-CDBB-424E3C737A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179A6B6-E8F5-F40A-02CF-CEB24941BEB6}"/>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375980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EE049-1ADA-4EEE-E37A-04EE4396FC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D49712-CD4D-0A9F-6CB6-0243088DC83F}"/>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4" name="Footer Placeholder 3">
            <a:extLst>
              <a:ext uri="{FF2B5EF4-FFF2-40B4-BE49-F238E27FC236}">
                <a16:creationId xmlns:a16="http://schemas.microsoft.com/office/drawing/2014/main" id="{7E2442F5-F4CF-3143-BB94-6F99EAB2E1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B4CCC3-CA42-26A4-6A00-4B26209C18DE}"/>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3032641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F0A555-D8F6-AF80-0F32-A6A06731247D}"/>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3" name="Footer Placeholder 2">
            <a:extLst>
              <a:ext uri="{FF2B5EF4-FFF2-40B4-BE49-F238E27FC236}">
                <a16:creationId xmlns:a16="http://schemas.microsoft.com/office/drawing/2014/main" id="{1402DFD8-181C-10B0-FE36-234F7EDC8D1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0FD047-82CA-1400-6C38-E77E12F344A7}"/>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2015736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7EF6-59C2-153A-2CF4-FCAEF86D39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B1D148-1F75-718F-A028-5FB7C7D8A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8B8525-9F1E-9712-2A6B-660F860B6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697DF-C268-6852-969E-134EFE3B83ED}"/>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6" name="Footer Placeholder 5">
            <a:extLst>
              <a:ext uri="{FF2B5EF4-FFF2-40B4-BE49-F238E27FC236}">
                <a16:creationId xmlns:a16="http://schemas.microsoft.com/office/drawing/2014/main" id="{30C37C2A-B1D1-73D7-823B-94663979C0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662F0C-C699-94E0-5341-2B2A8E304F89}"/>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3690658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62166-2158-4B71-6737-3F8EBE93AF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146313-188C-D3E8-F381-1B0D2220BE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4DD092-1EFD-915E-31A0-AD07D5ADFD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7863B9-4E3D-626A-90C4-AF99351A9EF3}"/>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6" name="Footer Placeholder 5">
            <a:extLst>
              <a:ext uri="{FF2B5EF4-FFF2-40B4-BE49-F238E27FC236}">
                <a16:creationId xmlns:a16="http://schemas.microsoft.com/office/drawing/2014/main" id="{8D9CA518-B13B-9CCF-2C6E-A6FCE5B059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1686EB-43E6-C570-2882-4F96C4A946F8}"/>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1418579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3C0A5-DCE5-6E7E-64FD-E33212133F0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51D391-AA87-CA67-ECFD-8D4835CF43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CC51E2-3D50-C9A0-0408-D15673D26761}"/>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6828C933-9A79-6451-A2AE-BC554B8F85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96A18C-AD9A-04D4-E125-5E417CC6193D}"/>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65284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88D70B-8C20-3D25-B1E9-0DC4CFFB35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2C267D-441C-3AA2-0BF7-203F29ADD5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7208EB-890E-C817-B9F5-B1FE255312FB}"/>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FBBC6FBA-EA9D-AF09-37A7-A09A5B1867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C7290D-5EF1-48D5-C4C4-076294C33682}"/>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2692168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F062A1-9B4B-9B45-F93D-C4DE7D66E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BA75DB-4C4F-571B-3865-A3C946138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85EE8E-A6E2-0D49-0E18-4C1844FD4D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26457725-B909-2C2B-BCD9-0B1AA4F213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1BF4C2D-AC33-A02C-33B2-6637031F2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543AC0-FB4B-4816-BD7A-C6803597220C}" type="slidenum">
              <a:rPr lang="en-IN" smtClean="0"/>
              <a:t>‹#›</a:t>
            </a:fld>
            <a:endParaRPr lang="en-IN"/>
          </a:p>
        </p:txBody>
      </p:sp>
    </p:spTree>
    <p:extLst>
      <p:ext uri="{BB962C8B-B14F-4D97-AF65-F5344CB8AC3E}">
        <p14:creationId xmlns:p14="http://schemas.microsoft.com/office/powerpoint/2010/main" val="2267631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40B6-9EC6-B0C7-5312-867983DDBFB1}"/>
              </a:ext>
            </a:extLst>
          </p:cNvPr>
          <p:cNvSpPr>
            <a:spLocks noGrp="1"/>
          </p:cNvSpPr>
          <p:nvPr>
            <p:ph type="ctrTitle"/>
          </p:nvPr>
        </p:nvSpPr>
        <p:spPr>
          <a:xfrm>
            <a:off x="2126974" y="1253917"/>
            <a:ext cx="7938052" cy="1029597"/>
          </a:xfrm>
        </p:spPr>
        <p:txBody>
          <a:bodyPr>
            <a:noAutofit/>
          </a:bodyPr>
          <a:lstStyle/>
          <a:p>
            <a:br>
              <a:rPr lang="en-IN" sz="3200" dirty="0"/>
            </a:br>
            <a:br>
              <a:rPr lang="en-IN" sz="3200" dirty="0"/>
            </a:br>
            <a:r>
              <a:rPr lang="en-IN" sz="3200" b="1" dirty="0">
                <a:latin typeface="Times New Roman" panose="02020603050405020304" pitchFamily="18" charset="0"/>
                <a:cs typeface="Times New Roman" panose="02020603050405020304" pitchFamily="18" charset="0"/>
              </a:rPr>
              <a:t>Voice Of Village </a:t>
            </a:r>
            <a:r>
              <a:rPr lang="en-IN" sz="3200" dirty="0">
                <a:latin typeface="Times New Roman" panose="02020603050405020304" pitchFamily="18" charset="0"/>
                <a:cs typeface="Times New Roman" panose="02020603050405020304" pitchFamily="18" charset="0"/>
              </a:rPr>
              <a:t>: Fund Transparency and Issue Reporting System</a:t>
            </a:r>
          </a:p>
        </p:txBody>
      </p:sp>
      <p:sp>
        <p:nvSpPr>
          <p:cNvPr id="3" name="Subtitle 2">
            <a:extLst>
              <a:ext uri="{FF2B5EF4-FFF2-40B4-BE49-F238E27FC236}">
                <a16:creationId xmlns:a16="http://schemas.microsoft.com/office/drawing/2014/main" id="{7EA3414E-B75F-42CA-ECC6-2A4B3EDF6FD0}"/>
              </a:ext>
            </a:extLst>
          </p:cNvPr>
          <p:cNvSpPr>
            <a:spLocks noGrp="1"/>
          </p:cNvSpPr>
          <p:nvPr>
            <p:ph type="subTitle" idx="1"/>
          </p:nvPr>
        </p:nvSpPr>
        <p:spPr>
          <a:xfrm>
            <a:off x="5493026" y="3333138"/>
            <a:ext cx="9144000" cy="2669622"/>
          </a:xfrm>
        </p:spPr>
        <p:txBody>
          <a:bodyPr>
            <a:normAutofit/>
          </a:bodyPr>
          <a:lstStyle/>
          <a:p>
            <a:pPr lvl="1" algn="l"/>
            <a:r>
              <a:rPr lang="en-IN" dirty="0">
                <a:latin typeface="Times New Roman" panose="02020603050405020304" pitchFamily="18" charset="0"/>
                <a:cs typeface="Times New Roman" panose="02020603050405020304" pitchFamily="18" charset="0"/>
              </a:rPr>
              <a:t>Presented By :</a:t>
            </a:r>
          </a:p>
          <a:p>
            <a:pPr lvl="1" algn="l"/>
            <a:r>
              <a:rPr lang="en-IN" dirty="0">
                <a:latin typeface="Times New Roman" panose="02020603050405020304" pitchFamily="18" charset="0"/>
                <a:cs typeface="Times New Roman" panose="02020603050405020304" pitchFamily="18" charset="0"/>
              </a:rPr>
              <a:t>Batch no : CSE2526MNP – E9</a:t>
            </a:r>
          </a:p>
          <a:p>
            <a:pPr lvl="1" algn="l"/>
            <a:r>
              <a:rPr lang="en-IN" dirty="0" err="1">
                <a:latin typeface="Times New Roman" panose="02020603050405020304" pitchFamily="18" charset="0"/>
                <a:cs typeface="Times New Roman" panose="02020603050405020304" pitchFamily="18" charset="0"/>
              </a:rPr>
              <a:t>P.Uday</a:t>
            </a:r>
            <a:r>
              <a:rPr lang="en-IN" dirty="0">
                <a:latin typeface="Times New Roman" panose="02020603050405020304" pitchFamily="18" charset="0"/>
                <a:cs typeface="Times New Roman" panose="02020603050405020304" pitchFamily="18" charset="0"/>
              </a:rPr>
              <a:t>                           –  22R11A05M9</a:t>
            </a:r>
          </a:p>
          <a:p>
            <a:pPr lvl="1" algn="l"/>
            <a:r>
              <a:rPr lang="en-IN" dirty="0" err="1">
                <a:latin typeface="Times New Roman" panose="02020603050405020304" pitchFamily="18" charset="0"/>
                <a:cs typeface="Times New Roman" panose="02020603050405020304" pitchFamily="18" charset="0"/>
              </a:rPr>
              <a:t>V.Satwik</a:t>
            </a:r>
            <a:r>
              <a:rPr lang="en-IN" dirty="0">
                <a:latin typeface="Times New Roman" panose="02020603050405020304" pitchFamily="18" charset="0"/>
                <a:cs typeface="Times New Roman" panose="02020603050405020304" pitchFamily="18" charset="0"/>
              </a:rPr>
              <a:t> Reddy            -  22R11A05N9</a:t>
            </a:r>
          </a:p>
          <a:p>
            <a:pPr lvl="1" algn="l"/>
            <a:r>
              <a:rPr lang="en-IN" dirty="0" err="1">
                <a:latin typeface="Times New Roman" panose="02020603050405020304" pitchFamily="18" charset="0"/>
                <a:cs typeface="Times New Roman" panose="02020603050405020304" pitchFamily="18" charset="0"/>
              </a:rPr>
              <a:t>M.Manikanth</a:t>
            </a:r>
            <a:r>
              <a:rPr lang="en-IN" dirty="0">
                <a:latin typeface="Times New Roman" panose="02020603050405020304" pitchFamily="18" charset="0"/>
                <a:cs typeface="Times New Roman" panose="02020603050405020304" pitchFamily="18" charset="0"/>
              </a:rPr>
              <a:t> Reddy     – 22R11A05M0</a:t>
            </a:r>
          </a:p>
        </p:txBody>
      </p:sp>
      <p:sp>
        <p:nvSpPr>
          <p:cNvPr id="4" name="TextBox 3">
            <a:extLst>
              <a:ext uri="{FF2B5EF4-FFF2-40B4-BE49-F238E27FC236}">
                <a16:creationId xmlns:a16="http://schemas.microsoft.com/office/drawing/2014/main" id="{EDD5D325-44EF-37D1-610B-171003DC8804}"/>
              </a:ext>
            </a:extLst>
          </p:cNvPr>
          <p:cNvSpPr txBox="1"/>
          <p:nvPr/>
        </p:nvSpPr>
        <p:spPr>
          <a:xfrm>
            <a:off x="818322" y="441772"/>
            <a:ext cx="12430539"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GEETHANJALI COLLEGE OF ENGINEERING AND TECHNOLOGY</a:t>
            </a:r>
          </a:p>
        </p:txBody>
      </p:sp>
      <p:sp>
        <p:nvSpPr>
          <p:cNvPr id="5" name="TextBox 4">
            <a:extLst>
              <a:ext uri="{FF2B5EF4-FFF2-40B4-BE49-F238E27FC236}">
                <a16:creationId xmlns:a16="http://schemas.microsoft.com/office/drawing/2014/main" id="{82E3B107-EB4F-397F-7202-85F0006A6A36}"/>
              </a:ext>
            </a:extLst>
          </p:cNvPr>
          <p:cNvSpPr txBox="1"/>
          <p:nvPr/>
        </p:nvSpPr>
        <p:spPr>
          <a:xfrm>
            <a:off x="4144618" y="2341606"/>
            <a:ext cx="4134678"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Internal Guide : </a:t>
            </a:r>
            <a:r>
              <a:rPr lang="en-IN" sz="2400" dirty="0" err="1">
                <a:latin typeface="Times New Roman" panose="02020603050405020304" pitchFamily="18" charset="0"/>
                <a:cs typeface="Times New Roman" panose="02020603050405020304" pitchFamily="18" charset="0"/>
              </a:rPr>
              <a:t>Ch.Sandhya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50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87B0-EEC6-A79E-A804-F18E9469FAF3}"/>
              </a:ext>
            </a:extLst>
          </p:cNvPr>
          <p:cNvSpPr>
            <a:spLocks noGrp="1"/>
          </p:cNvSpPr>
          <p:nvPr>
            <p:ph type="title"/>
          </p:nvPr>
        </p:nvSpPr>
        <p:spPr>
          <a:xfrm>
            <a:off x="4572000" y="365125"/>
            <a:ext cx="3007360" cy="1325563"/>
          </a:xfrm>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78B3B3F-F131-1B01-700A-EA91BC201C18}"/>
              </a:ext>
            </a:extLst>
          </p:cNvPr>
          <p:cNvSpPr>
            <a:spLocks noGrp="1"/>
          </p:cNvSpPr>
          <p:nvPr>
            <p:ph idx="1"/>
          </p:nvPr>
        </p:nvSpPr>
        <p:spPr>
          <a:xfrm>
            <a:off x="1143000" y="1690688"/>
            <a:ext cx="10515600" cy="435133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Voice of Village: Fund Transparency and Issue Reporting System</a:t>
            </a:r>
            <a:r>
              <a:rPr lang="en-US" sz="2400" dirty="0">
                <a:latin typeface="Times New Roman" panose="02020603050405020304" pitchFamily="18" charset="0"/>
                <a:cs typeface="Times New Roman" panose="02020603050405020304" pitchFamily="18" charset="0"/>
              </a:rPr>
              <a:t> is a web-based e-governance platform designed to improve transparency, accountability, and citizen participation at the village level. It provides a centralized system where villagers can report issues, request essential services, view announcements, and track village-related activities digitally.</a:t>
            </a:r>
          </a:p>
          <a:p>
            <a:pPr marL="0" indent="0">
              <a:buNone/>
            </a:pPr>
            <a:r>
              <a:rPr lang="en-US" sz="2400" dirty="0">
                <a:latin typeface="Times New Roman" panose="02020603050405020304" pitchFamily="18" charset="0"/>
                <a:cs typeface="Times New Roman" panose="02020603050405020304" pitchFamily="18" charset="0"/>
              </a:rPr>
              <a:t>                                       This project mainly focuses on </a:t>
            </a:r>
            <a:r>
              <a:rPr lang="en-US" sz="2400" b="1" dirty="0">
                <a:latin typeface="Times New Roman" panose="02020603050405020304" pitchFamily="18" charset="0"/>
                <a:cs typeface="Times New Roman" panose="02020603050405020304" pitchFamily="18" charset="0"/>
              </a:rPr>
              <a:t>fund transparency</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issue tracking</a:t>
            </a:r>
            <a:r>
              <a:rPr lang="en-US" sz="2400" dirty="0">
                <a:latin typeface="Times New Roman" panose="02020603050405020304" pitchFamily="18" charset="0"/>
                <a:cs typeface="Times New Roman" panose="02020603050405020304" pitchFamily="18" charset="0"/>
              </a:rPr>
              <a:t>, where government fund usage is published with proof documents by the Sarpanch, and public issues are monitored through defined status stages. With </a:t>
            </a:r>
            <a:r>
              <a:rPr lang="en-US" sz="2400" b="1" dirty="0">
                <a:latin typeface="Times New Roman" panose="02020603050405020304" pitchFamily="18" charset="0"/>
                <a:cs typeface="Times New Roman" panose="02020603050405020304" pitchFamily="18" charset="0"/>
              </a:rPr>
              <a:t>role-based access</a:t>
            </a:r>
            <a:r>
              <a:rPr lang="en-US" sz="2400" dirty="0">
                <a:latin typeface="Times New Roman" panose="02020603050405020304" pitchFamily="18" charset="0"/>
                <a:cs typeface="Times New Roman" panose="02020603050405020304" pitchFamily="18" charset="0"/>
              </a:rPr>
              <a:t> for Villagers, Sarpanch, and PDS Shopkeeper, the system ensures secure operations, efficient service delivery, and promotes a transparent and accountable village governance model.</a:t>
            </a:r>
          </a:p>
        </p:txBody>
      </p:sp>
    </p:spTree>
    <p:extLst>
      <p:ext uri="{BB962C8B-B14F-4D97-AF65-F5344CB8AC3E}">
        <p14:creationId xmlns:p14="http://schemas.microsoft.com/office/powerpoint/2010/main" val="297068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5CD46-1BB9-243A-A619-F00D85E4AC4E}"/>
              </a:ext>
            </a:extLst>
          </p:cNvPr>
          <p:cNvSpPr>
            <a:spLocks noGrp="1"/>
          </p:cNvSpPr>
          <p:nvPr>
            <p:ph type="title"/>
          </p:nvPr>
        </p:nvSpPr>
        <p:spPr>
          <a:xfrm>
            <a:off x="4155440" y="253365"/>
            <a:ext cx="6598920" cy="1036955"/>
          </a:xfrm>
        </p:spPr>
        <p:txBody>
          <a:bodyPr/>
          <a:lstStyle/>
          <a:p>
            <a:r>
              <a:rPr lang="en-IN"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60C83E9A-3993-5A1C-E3CA-134DDE966B2D}"/>
              </a:ext>
            </a:extLst>
          </p:cNvPr>
          <p:cNvSpPr>
            <a:spLocks noGrp="1"/>
          </p:cNvSpPr>
          <p:nvPr>
            <p:ph idx="1"/>
          </p:nvPr>
        </p:nvSpPr>
        <p:spPr>
          <a:xfrm>
            <a:off x="838200" y="1483360"/>
            <a:ext cx="10515600" cy="4693603"/>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many villages, issues such as water supply, electricity, road maintenance, and fund utilization are still handled through manual processes, leading to delays, lack of transparency, and poor communication between citizens and authorities. Villagers often have no clear way to track issue status or understand how government funds are being spent.</a:t>
            </a:r>
          </a:p>
          <a:p>
            <a:pPr marL="0" indent="0">
              <a:buNone/>
            </a:pPr>
            <a:r>
              <a:rPr lang="en-US" sz="2400" dirty="0">
                <a:latin typeface="Times New Roman" panose="02020603050405020304" pitchFamily="18" charset="0"/>
                <a:cs typeface="Times New Roman" panose="02020603050405020304" pitchFamily="18" charset="0"/>
              </a:rPr>
              <a:t>                                            This project is motivated by the need to </a:t>
            </a:r>
            <a:r>
              <a:rPr lang="en-US" sz="2400" b="1" dirty="0">
                <a:latin typeface="Times New Roman" panose="02020603050405020304" pitchFamily="18" charset="0"/>
                <a:cs typeface="Times New Roman" panose="02020603050405020304" pitchFamily="18" charset="0"/>
              </a:rPr>
              <a:t>digitize village governance</a:t>
            </a:r>
            <a:r>
              <a:rPr lang="en-US" sz="2400" dirty="0">
                <a:latin typeface="Times New Roman" panose="02020603050405020304" pitchFamily="18" charset="0"/>
                <a:cs typeface="Times New Roman" panose="02020603050405020304" pitchFamily="18" charset="0"/>
              </a:rPr>
              <a:t>, improve </a:t>
            </a:r>
            <a:r>
              <a:rPr lang="en-US" sz="2400" b="1" dirty="0">
                <a:latin typeface="Times New Roman" panose="02020603050405020304" pitchFamily="18" charset="0"/>
                <a:cs typeface="Times New Roman" panose="02020603050405020304" pitchFamily="18" charset="0"/>
              </a:rPr>
              <a:t>public trust</a:t>
            </a:r>
            <a:r>
              <a:rPr lang="en-US" sz="2400" dirty="0">
                <a:latin typeface="Times New Roman" panose="02020603050405020304" pitchFamily="18" charset="0"/>
                <a:cs typeface="Times New Roman" panose="02020603050405020304" pitchFamily="18" charset="0"/>
              </a:rPr>
              <a:t>, and ensure </a:t>
            </a:r>
            <a:r>
              <a:rPr lang="en-US" sz="2400" b="1" dirty="0">
                <a:latin typeface="Times New Roman" panose="02020603050405020304" pitchFamily="18" charset="0"/>
                <a:cs typeface="Times New Roman" panose="02020603050405020304" pitchFamily="18" charset="0"/>
              </a:rPr>
              <a:t>accountability</a:t>
            </a:r>
            <a:r>
              <a:rPr lang="en-US" sz="2400" dirty="0">
                <a:latin typeface="Times New Roman" panose="02020603050405020304" pitchFamily="18" charset="0"/>
                <a:cs typeface="Times New Roman" panose="02020603050405020304" pitchFamily="18" charset="0"/>
              </a:rPr>
              <a:t> in administrative processes. By providing a transparent, role-based platform for issue reporting, fund tracking, donations, and PDS services, the system empowers villagers while enabling authorities to manage village operations more efficiently and responsibly.</a:t>
            </a:r>
          </a:p>
          <a:p>
            <a:endParaRPr lang="en-IN" dirty="0"/>
          </a:p>
        </p:txBody>
      </p:sp>
    </p:spTree>
    <p:extLst>
      <p:ext uri="{BB962C8B-B14F-4D97-AF65-F5344CB8AC3E}">
        <p14:creationId xmlns:p14="http://schemas.microsoft.com/office/powerpoint/2010/main" val="2781602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2BD0E-4459-7CBE-FE03-72D121F52EA3}"/>
              </a:ext>
            </a:extLst>
          </p:cNvPr>
          <p:cNvSpPr>
            <a:spLocks noGrp="1"/>
          </p:cNvSpPr>
          <p:nvPr>
            <p:ph type="title"/>
          </p:nvPr>
        </p:nvSpPr>
        <p:spPr>
          <a:xfrm>
            <a:off x="3444240" y="365125"/>
            <a:ext cx="7909560" cy="1325563"/>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12A4ECF-7D74-462F-C852-8A684FFA040A}"/>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many villages, issues such as water supply, electricity, road maintenance, and fund utilization are still handled through manual processes, leading to delays, lack of transparency, and poor communication between citizens and authorities. Villagers often have no clear way to track issue status or understand how government funds are being spent.</a:t>
            </a:r>
          </a:p>
          <a:p>
            <a:pPr marL="0" indent="0">
              <a:buNone/>
            </a:pPr>
            <a:r>
              <a:rPr lang="en-US" sz="2400" dirty="0">
                <a:latin typeface="Times New Roman" panose="02020603050405020304" pitchFamily="18" charset="0"/>
                <a:cs typeface="Times New Roman" panose="02020603050405020304" pitchFamily="18" charset="0"/>
              </a:rPr>
              <a:t>                                   This project is motivated by the need to </a:t>
            </a:r>
            <a:r>
              <a:rPr lang="en-US" sz="2400" b="1" dirty="0">
                <a:latin typeface="Times New Roman" panose="02020603050405020304" pitchFamily="18" charset="0"/>
                <a:cs typeface="Times New Roman" panose="02020603050405020304" pitchFamily="18" charset="0"/>
              </a:rPr>
              <a:t>digitize village governance</a:t>
            </a:r>
            <a:r>
              <a:rPr lang="en-US" sz="2400" dirty="0">
                <a:latin typeface="Times New Roman" panose="02020603050405020304" pitchFamily="18" charset="0"/>
                <a:cs typeface="Times New Roman" panose="02020603050405020304" pitchFamily="18" charset="0"/>
              </a:rPr>
              <a:t>, improve </a:t>
            </a:r>
            <a:r>
              <a:rPr lang="en-US" sz="2400" b="1" dirty="0">
                <a:latin typeface="Times New Roman" panose="02020603050405020304" pitchFamily="18" charset="0"/>
                <a:cs typeface="Times New Roman" panose="02020603050405020304" pitchFamily="18" charset="0"/>
              </a:rPr>
              <a:t>public trust</a:t>
            </a:r>
            <a:r>
              <a:rPr lang="en-US" sz="2400" dirty="0">
                <a:latin typeface="Times New Roman" panose="02020603050405020304" pitchFamily="18" charset="0"/>
                <a:cs typeface="Times New Roman" panose="02020603050405020304" pitchFamily="18" charset="0"/>
              </a:rPr>
              <a:t>, and ensure </a:t>
            </a:r>
            <a:r>
              <a:rPr lang="en-US" sz="2400" b="1" dirty="0">
                <a:latin typeface="Times New Roman" panose="02020603050405020304" pitchFamily="18" charset="0"/>
                <a:cs typeface="Times New Roman" panose="02020603050405020304" pitchFamily="18" charset="0"/>
              </a:rPr>
              <a:t>accountability</a:t>
            </a:r>
            <a:r>
              <a:rPr lang="en-US" sz="2400" dirty="0">
                <a:latin typeface="Times New Roman" panose="02020603050405020304" pitchFamily="18" charset="0"/>
                <a:cs typeface="Times New Roman" panose="02020603050405020304" pitchFamily="18" charset="0"/>
              </a:rPr>
              <a:t> in administrative processes. By providing a transparent, role-based platform for issue reporting, fund tracking, donations, and PDS services, the system empowers villagers while enabling authorities to manage village operations more efficiently and responsibly.</a:t>
            </a:r>
          </a:p>
          <a:p>
            <a:endParaRPr lang="en-IN" dirty="0"/>
          </a:p>
        </p:txBody>
      </p:sp>
    </p:spTree>
    <p:extLst>
      <p:ext uri="{BB962C8B-B14F-4D97-AF65-F5344CB8AC3E}">
        <p14:creationId xmlns:p14="http://schemas.microsoft.com/office/powerpoint/2010/main" val="1892911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3560B-9E7A-2D9B-C70D-5D49481AAFF4}"/>
              </a:ext>
            </a:extLst>
          </p:cNvPr>
          <p:cNvSpPr>
            <a:spLocks noGrp="1"/>
          </p:cNvSpPr>
          <p:nvPr>
            <p:ph type="title"/>
          </p:nvPr>
        </p:nvSpPr>
        <p:spPr>
          <a:xfrm>
            <a:off x="3508512" y="42310"/>
            <a:ext cx="9216887" cy="638727"/>
          </a:xfrm>
        </p:spPr>
        <p:txBody>
          <a:bodyPr>
            <a:normAutofit fontScale="90000"/>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B40D1D2-C522-9566-2EC5-A4D6569469EF}"/>
              </a:ext>
            </a:extLst>
          </p:cNvPr>
          <p:cNvSpPr>
            <a:spLocks noGrp="1"/>
          </p:cNvSpPr>
          <p:nvPr>
            <p:ph idx="1"/>
          </p:nvPr>
        </p:nvSpPr>
        <p:spPr>
          <a:xfrm>
            <a:off x="838200" y="1825625"/>
            <a:ext cx="10515600" cy="3293027"/>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primary objective of this project is to design a centralized digital platform that enables transparent and efficient village governance. The system aims to allow villagers to report issues, request services, make donations, book PDS slots, and stay informed through announcements.</a:t>
            </a:r>
          </a:p>
          <a:p>
            <a:pPr marL="0" indent="0">
              <a:buNone/>
            </a:pPr>
            <a:r>
              <a:rPr lang="en-US" sz="2400" dirty="0">
                <a:latin typeface="Times New Roman" panose="02020603050405020304" pitchFamily="18" charset="0"/>
                <a:cs typeface="Times New Roman" panose="02020603050405020304" pitchFamily="18" charset="0"/>
              </a:rPr>
              <a:t>                          Additionally, the project seeks to provide administrators with tools to manage issues, approve requests, publish fund usage with proof, and monitor village activities. Overall, the goal is to improve </a:t>
            </a:r>
            <a:r>
              <a:rPr lang="en-US" sz="2400" b="1" dirty="0">
                <a:latin typeface="Times New Roman" panose="02020603050405020304" pitchFamily="18" charset="0"/>
                <a:cs typeface="Times New Roman" panose="02020603050405020304" pitchFamily="18" charset="0"/>
              </a:rPr>
              <a:t>transparency, accountability, and citizen participation</a:t>
            </a:r>
            <a:r>
              <a:rPr lang="en-US" sz="2400" dirty="0">
                <a:latin typeface="Times New Roman" panose="02020603050405020304" pitchFamily="18" charset="0"/>
                <a:cs typeface="Times New Roman" panose="02020603050405020304" pitchFamily="18" charset="0"/>
              </a:rPr>
              <a:t> in village administration.</a:t>
            </a:r>
          </a:p>
          <a:p>
            <a:endParaRPr lang="en-IN" sz="2400" dirty="0"/>
          </a:p>
        </p:txBody>
      </p:sp>
      <p:sp>
        <p:nvSpPr>
          <p:cNvPr id="4" name="TextBox 3">
            <a:extLst>
              <a:ext uri="{FF2B5EF4-FFF2-40B4-BE49-F238E27FC236}">
                <a16:creationId xmlns:a16="http://schemas.microsoft.com/office/drawing/2014/main" id="{2B4C058A-8206-3F8B-AC6B-6231F22A2B72}"/>
              </a:ext>
            </a:extLst>
          </p:cNvPr>
          <p:cNvSpPr txBox="1"/>
          <p:nvPr/>
        </p:nvSpPr>
        <p:spPr>
          <a:xfrm>
            <a:off x="983974" y="1053548"/>
            <a:ext cx="2107096"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3931921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6727-32F2-8585-E373-9EBD7BA7B8DA}"/>
              </a:ext>
            </a:extLst>
          </p:cNvPr>
          <p:cNvSpPr>
            <a:spLocks noGrp="1"/>
          </p:cNvSpPr>
          <p:nvPr>
            <p:ph type="title"/>
          </p:nvPr>
        </p:nvSpPr>
        <p:spPr>
          <a:xfrm>
            <a:off x="3531704" y="18255"/>
            <a:ext cx="10515600" cy="965719"/>
          </a:xfrm>
        </p:spPr>
        <p:txBody>
          <a:bodyPr>
            <a:normAutofit/>
          </a:bodyPr>
          <a:lstStyle/>
          <a:p>
            <a:r>
              <a:rPr lang="en-IN" sz="40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7E4E6FB-643D-3B59-18AC-20E0A866FE85}"/>
              </a:ext>
            </a:extLst>
          </p:cNvPr>
          <p:cNvSpPr>
            <a:spLocks noGrp="1"/>
          </p:cNvSpPr>
          <p:nvPr>
            <p:ph idx="1"/>
          </p:nvPr>
        </p:nvSpPr>
        <p:spPr>
          <a:xfrm>
            <a:off x="2574234" y="1212573"/>
            <a:ext cx="10774017" cy="4800600"/>
          </a:xfrm>
        </p:spPr>
        <p:txBody>
          <a:bodyPr>
            <a:noAutofit/>
          </a:bodyPr>
          <a:lstStyle/>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Development of a web-based village e-governance system</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Digital issue reporting and tracking for village problems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Government fund transparency with proof document uploads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Role-based access for Villagers, Sarpanch, and Shopkeeper</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PDS slot booking and welfare service management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Users have access to the internet and basic digital devices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Admin (Sarpanch) updates data accurately and responsibly</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Villagers provide genuine and valid information</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Role-based authentication ensures secure system access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System is implemented for a single village environment</a:t>
            </a:r>
          </a:p>
          <a:p>
            <a:pPr marL="514350" indent="-514350">
              <a:buFont typeface="+mj-lt"/>
              <a:buAutoNum type="arabicPeriod"/>
            </a:pPr>
            <a:endParaRPr lang="en-US" sz="2400" dirty="0"/>
          </a:p>
        </p:txBody>
      </p:sp>
      <p:sp>
        <p:nvSpPr>
          <p:cNvPr id="4" name="TextBox 3">
            <a:extLst>
              <a:ext uri="{FF2B5EF4-FFF2-40B4-BE49-F238E27FC236}">
                <a16:creationId xmlns:a16="http://schemas.microsoft.com/office/drawing/2014/main" id="{F76D8C5C-F8A2-5350-2957-380AFF6DD588}"/>
              </a:ext>
            </a:extLst>
          </p:cNvPr>
          <p:cNvSpPr txBox="1"/>
          <p:nvPr/>
        </p:nvSpPr>
        <p:spPr>
          <a:xfrm>
            <a:off x="730526" y="722364"/>
            <a:ext cx="1669773"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Scope :</a:t>
            </a:r>
          </a:p>
        </p:txBody>
      </p:sp>
      <p:sp>
        <p:nvSpPr>
          <p:cNvPr id="5" name="TextBox 4">
            <a:extLst>
              <a:ext uri="{FF2B5EF4-FFF2-40B4-BE49-F238E27FC236}">
                <a16:creationId xmlns:a16="http://schemas.microsoft.com/office/drawing/2014/main" id="{743F832D-82F7-8EC6-D2F8-DC10B8C6128C}"/>
              </a:ext>
            </a:extLst>
          </p:cNvPr>
          <p:cNvSpPr txBox="1"/>
          <p:nvPr/>
        </p:nvSpPr>
        <p:spPr>
          <a:xfrm>
            <a:off x="320535" y="3351263"/>
            <a:ext cx="2442543"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Assumptions :</a:t>
            </a:r>
          </a:p>
        </p:txBody>
      </p:sp>
    </p:spTree>
    <p:extLst>
      <p:ext uri="{BB962C8B-B14F-4D97-AF65-F5344CB8AC3E}">
        <p14:creationId xmlns:p14="http://schemas.microsoft.com/office/powerpoint/2010/main" val="2103036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CC664-1463-CABE-047F-29F07F80F5B5}"/>
              </a:ext>
            </a:extLst>
          </p:cNvPr>
          <p:cNvSpPr>
            <a:spLocks noGrp="1"/>
          </p:cNvSpPr>
          <p:nvPr>
            <p:ph type="title"/>
          </p:nvPr>
        </p:nvSpPr>
        <p:spPr>
          <a:xfrm>
            <a:off x="2902226" y="365125"/>
            <a:ext cx="8451574" cy="549275"/>
          </a:xfrm>
        </p:spPr>
        <p:txBody>
          <a:bodyPr>
            <a:normAutofit fontScale="90000"/>
          </a:bodyPr>
          <a:lstStyle/>
          <a:p>
            <a:r>
              <a:rPr lang="en-IN" dirty="0">
                <a:latin typeface="Times New Roman" panose="02020603050405020304" pitchFamily="18" charset="0"/>
                <a:cs typeface="Times New Roman" panose="02020603050405020304" pitchFamily="18" charset="0"/>
              </a:rPr>
              <a:t>Existing Systems &amp; Limitations</a:t>
            </a:r>
          </a:p>
        </p:txBody>
      </p:sp>
      <p:sp>
        <p:nvSpPr>
          <p:cNvPr id="3" name="Content Placeholder 2">
            <a:extLst>
              <a:ext uri="{FF2B5EF4-FFF2-40B4-BE49-F238E27FC236}">
                <a16:creationId xmlns:a16="http://schemas.microsoft.com/office/drawing/2014/main" id="{D1499D7D-A243-5C51-F0CE-02C4E9278161}"/>
              </a:ext>
            </a:extLst>
          </p:cNvPr>
          <p:cNvSpPr>
            <a:spLocks noGrp="1"/>
          </p:cNvSpPr>
          <p:nvPr>
            <p:ph idx="1"/>
          </p:nvPr>
        </p:nvSpPr>
        <p:spPr>
          <a:xfrm>
            <a:off x="768626" y="1276350"/>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Village governance is largely managed through </a:t>
            </a:r>
            <a:r>
              <a:rPr lang="en-US" sz="2400" b="1" dirty="0">
                <a:latin typeface="Times New Roman" panose="02020603050405020304" pitchFamily="18" charset="0"/>
                <a:cs typeface="Times New Roman" panose="02020603050405020304" pitchFamily="18" charset="0"/>
              </a:rPr>
              <a:t>manual and paper-based processes</a:t>
            </a:r>
            <a:r>
              <a:rPr lang="en-US" sz="2400" dirty="0">
                <a:latin typeface="Times New Roman" panose="02020603050405020304" pitchFamily="18" charset="0"/>
                <a:cs typeface="Times New Roman" panose="02020603050405020304" pitchFamily="18" charset="0"/>
              </a:rPr>
              <a:t>, leading to inefficiency.</a:t>
            </a:r>
          </a:p>
          <a:p>
            <a:r>
              <a:rPr lang="en-US" sz="2400" dirty="0">
                <a:latin typeface="Times New Roman" panose="02020603050405020304" pitchFamily="18" charset="0"/>
                <a:cs typeface="Times New Roman" panose="02020603050405020304" pitchFamily="18" charset="0"/>
              </a:rPr>
              <a:t>Issues and service requests are reported </a:t>
            </a:r>
            <a:r>
              <a:rPr lang="en-US" sz="2400" b="1" dirty="0">
                <a:latin typeface="Times New Roman" panose="02020603050405020304" pitchFamily="18" charset="0"/>
                <a:cs typeface="Times New Roman" panose="02020603050405020304" pitchFamily="18" charset="0"/>
              </a:rPr>
              <a:t>verbally or through written applications</a:t>
            </a:r>
            <a:r>
              <a:rPr lang="en-US" sz="2400" dirty="0">
                <a:latin typeface="Times New Roman" panose="02020603050405020304" pitchFamily="18" charset="0"/>
                <a:cs typeface="Times New Roman" panose="02020603050405020304" pitchFamily="18" charset="0"/>
              </a:rPr>
              <a:t> without proper tracking.</a:t>
            </a:r>
          </a:p>
          <a:p>
            <a:r>
              <a:rPr lang="en-US" sz="2400" b="1" dirty="0">
                <a:latin typeface="Times New Roman" panose="02020603050405020304" pitchFamily="18" charset="0"/>
                <a:cs typeface="Times New Roman" panose="02020603050405020304" pitchFamily="18" charset="0"/>
              </a:rPr>
              <a:t>Government fund usage lacks transparency</a:t>
            </a:r>
            <a:r>
              <a:rPr lang="en-US" sz="2400" dirty="0">
                <a:latin typeface="Times New Roman" panose="02020603050405020304" pitchFamily="18" charset="0"/>
                <a:cs typeface="Times New Roman" panose="02020603050405020304" pitchFamily="18" charset="0"/>
              </a:rPr>
              <a:t>, with information limited to notice boards or registers.</a:t>
            </a:r>
          </a:p>
          <a:p>
            <a:r>
              <a:rPr lang="en-US" sz="2400" dirty="0">
                <a:latin typeface="Times New Roman" panose="02020603050405020304" pitchFamily="18" charset="0"/>
                <a:cs typeface="Times New Roman" panose="02020603050405020304" pitchFamily="18" charset="0"/>
              </a:rPr>
              <a:t>Manual handling results in </a:t>
            </a:r>
            <a:r>
              <a:rPr lang="en-US" sz="2400" b="1" dirty="0">
                <a:latin typeface="Times New Roman" panose="02020603050405020304" pitchFamily="18" charset="0"/>
                <a:cs typeface="Times New Roman" panose="02020603050405020304" pitchFamily="18" charset="0"/>
              </a:rPr>
              <a:t>delays, data inconsistency, and higher chances of errors</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Due to the absence of a unified digital platform, </a:t>
            </a:r>
            <a:r>
              <a:rPr lang="en-US" sz="2400" b="1" dirty="0">
                <a:latin typeface="Times New Roman" panose="02020603050405020304" pitchFamily="18" charset="0"/>
                <a:cs typeface="Times New Roman" panose="02020603050405020304" pitchFamily="18" charset="0"/>
              </a:rPr>
              <a:t>citizen participation and trust are low</a:t>
            </a:r>
            <a:r>
              <a:rPr lang="en-US" sz="24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07550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AE2A4-49B2-0EE5-BB59-1F4F33527831}"/>
              </a:ext>
            </a:extLst>
          </p:cNvPr>
          <p:cNvSpPr>
            <a:spLocks noGrp="1"/>
          </p:cNvSpPr>
          <p:nvPr>
            <p:ph type="title"/>
          </p:nvPr>
        </p:nvSpPr>
        <p:spPr>
          <a:xfrm>
            <a:off x="3538330" y="365126"/>
            <a:ext cx="7815470" cy="698361"/>
          </a:xfrm>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00D0FBB8-80D2-527A-B7A8-01D0C3051A52}"/>
              </a:ext>
            </a:extLst>
          </p:cNvPr>
          <p:cNvSpPr>
            <a:spLocks noGrp="1"/>
          </p:cNvSpPr>
          <p:nvPr>
            <p:ph idx="1"/>
          </p:nvPr>
        </p:nvSpPr>
        <p:spPr>
          <a:xfrm>
            <a:off x="410818" y="1858618"/>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Village Fund Management Transparency: A Lesson Learned (2018)</a:t>
            </a:r>
          </a:p>
          <a:p>
            <a:pPr marL="0" indent="0">
              <a:buNone/>
            </a:pPr>
            <a:endParaRPr lang="en-US" b="1"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This study examines village fund management practices in rural governance with emphasis on </a:t>
            </a:r>
            <a:r>
              <a:rPr lang="en-US" b="1" dirty="0">
                <a:latin typeface="Times New Roman" panose="02020603050405020304" pitchFamily="18" charset="0"/>
                <a:cs typeface="Times New Roman" panose="02020603050405020304" pitchFamily="18" charset="0"/>
              </a:rPr>
              <a:t>transparency, budgeting, and community participation</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It highlights how lack of digital tracking leads to </a:t>
            </a:r>
            <a:r>
              <a:rPr lang="en-US" b="1" dirty="0">
                <a:latin typeface="Times New Roman" panose="02020603050405020304" pitchFamily="18" charset="0"/>
                <a:cs typeface="Times New Roman" panose="02020603050405020304" pitchFamily="18" charset="0"/>
              </a:rPr>
              <a:t>misuse of funds and reduced public trust</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The paper stresses the importance of </a:t>
            </a:r>
            <a:r>
              <a:rPr lang="en-US" b="1" dirty="0">
                <a:latin typeface="Times New Roman" panose="02020603050405020304" pitchFamily="18" charset="0"/>
                <a:cs typeface="Times New Roman" panose="02020603050405020304" pitchFamily="18" charset="0"/>
              </a:rPr>
              <a:t>public access to financial records</a:t>
            </a:r>
            <a:r>
              <a:rPr lang="en-US" dirty="0">
                <a:latin typeface="Times New Roman" panose="02020603050405020304" pitchFamily="18" charset="0"/>
                <a:cs typeface="Times New Roman" panose="02020603050405020304" pitchFamily="18" charset="0"/>
              </a:rPr>
              <a:t> and citizen involvement.</a:t>
            </a:r>
          </a:p>
          <a:p>
            <a:pPr lvl="1"/>
            <a:r>
              <a:rPr lang="en-US" b="1" dirty="0">
                <a:latin typeface="Times New Roman" panose="02020603050405020304" pitchFamily="18" charset="0"/>
                <a:cs typeface="Times New Roman" panose="02020603050405020304" pitchFamily="18" charset="0"/>
              </a:rPr>
              <a:t>Relevance to Project: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work provides strong foundational support for implementing a </a:t>
            </a:r>
            <a:r>
              <a:rPr lang="en-US" b="1" dirty="0">
                <a:latin typeface="Times New Roman" panose="02020603050405020304" pitchFamily="18" charset="0"/>
                <a:cs typeface="Times New Roman" panose="02020603050405020304" pitchFamily="18" charset="0"/>
              </a:rPr>
              <a:t>web-based fund transparency system</a:t>
            </a:r>
            <a:r>
              <a:rPr lang="en-US" dirty="0">
                <a:latin typeface="Times New Roman" panose="02020603050405020304" pitchFamily="18" charset="0"/>
                <a:cs typeface="Times New Roman" panose="02020603050405020304" pitchFamily="18" charset="0"/>
              </a:rPr>
              <a:t> at village level.</a:t>
            </a:r>
          </a:p>
          <a:p>
            <a:endParaRPr lang="en-IN" dirty="0"/>
          </a:p>
        </p:txBody>
      </p:sp>
    </p:spTree>
    <p:extLst>
      <p:ext uri="{BB962C8B-B14F-4D97-AF65-F5344CB8AC3E}">
        <p14:creationId xmlns:p14="http://schemas.microsoft.com/office/powerpoint/2010/main" val="1428761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02F14-6215-CFEB-F88B-68B46CFA95E3}"/>
              </a:ext>
            </a:extLst>
          </p:cNvPr>
          <p:cNvSpPr>
            <a:spLocks noGrp="1"/>
          </p:cNvSpPr>
          <p:nvPr>
            <p:ph type="title"/>
          </p:nvPr>
        </p:nvSpPr>
        <p:spPr>
          <a:xfrm>
            <a:off x="3319670" y="365126"/>
            <a:ext cx="8034130" cy="559214"/>
          </a:xfrm>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D356520A-9A4D-E703-5E62-53DC508FFF48}"/>
              </a:ext>
            </a:extLst>
          </p:cNvPr>
          <p:cNvSpPr>
            <a:spLocks noGrp="1"/>
          </p:cNvSpPr>
          <p:nvPr>
            <p:ph idx="1"/>
          </p:nvPr>
        </p:nvSpPr>
        <p:spPr>
          <a:xfrm>
            <a:off x="331304" y="1597025"/>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Village Fund Management Transparency: A Lesson Learned (2018)</a:t>
            </a:r>
          </a:p>
          <a:p>
            <a:pPr marL="0" indent="0">
              <a:buNone/>
            </a:pPr>
            <a:endParaRPr lang="en-US" b="1"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This study examines village fund management practices in rural governance with emphasis on </a:t>
            </a:r>
            <a:r>
              <a:rPr lang="en-US" b="1" dirty="0">
                <a:latin typeface="Times New Roman" panose="02020603050405020304" pitchFamily="18" charset="0"/>
                <a:cs typeface="Times New Roman" panose="02020603050405020304" pitchFamily="18" charset="0"/>
              </a:rPr>
              <a:t>transparency, budgeting, and community participation</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It highlights how lack of digital tracking leads to </a:t>
            </a:r>
            <a:r>
              <a:rPr lang="en-US" b="1" dirty="0">
                <a:latin typeface="Times New Roman" panose="02020603050405020304" pitchFamily="18" charset="0"/>
                <a:cs typeface="Times New Roman" panose="02020603050405020304" pitchFamily="18" charset="0"/>
              </a:rPr>
              <a:t>misuse of funds and reduced public trust</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The paper stresses the importance of </a:t>
            </a:r>
            <a:r>
              <a:rPr lang="en-US" b="1" dirty="0">
                <a:latin typeface="Times New Roman" panose="02020603050405020304" pitchFamily="18" charset="0"/>
                <a:cs typeface="Times New Roman" panose="02020603050405020304" pitchFamily="18" charset="0"/>
              </a:rPr>
              <a:t>public access to financial records</a:t>
            </a:r>
            <a:r>
              <a:rPr lang="en-US" dirty="0">
                <a:latin typeface="Times New Roman" panose="02020603050405020304" pitchFamily="18" charset="0"/>
                <a:cs typeface="Times New Roman" panose="02020603050405020304" pitchFamily="18" charset="0"/>
              </a:rPr>
              <a:t> and citizen involvement.</a:t>
            </a:r>
          </a:p>
          <a:p>
            <a:pPr lvl="1"/>
            <a:r>
              <a:rPr lang="en-US" b="1" dirty="0">
                <a:latin typeface="Times New Roman" panose="02020603050405020304" pitchFamily="18" charset="0"/>
                <a:cs typeface="Times New Roman" panose="02020603050405020304" pitchFamily="18" charset="0"/>
              </a:rPr>
              <a:t>Relevance to Project: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work provides strong foundational support for implementing a </a:t>
            </a:r>
            <a:r>
              <a:rPr lang="en-US" b="1" dirty="0">
                <a:latin typeface="Times New Roman" panose="02020603050405020304" pitchFamily="18" charset="0"/>
                <a:cs typeface="Times New Roman" panose="02020603050405020304" pitchFamily="18" charset="0"/>
              </a:rPr>
              <a:t>web-based fund transparency system</a:t>
            </a:r>
            <a:r>
              <a:rPr lang="en-US" dirty="0">
                <a:latin typeface="Times New Roman" panose="02020603050405020304" pitchFamily="18" charset="0"/>
                <a:cs typeface="Times New Roman" panose="02020603050405020304" pitchFamily="18" charset="0"/>
              </a:rPr>
              <a:t> at village level.</a:t>
            </a:r>
          </a:p>
          <a:p>
            <a:endParaRPr lang="en-IN" dirty="0"/>
          </a:p>
        </p:txBody>
      </p:sp>
    </p:spTree>
    <p:extLst>
      <p:ext uri="{BB962C8B-B14F-4D97-AF65-F5344CB8AC3E}">
        <p14:creationId xmlns:p14="http://schemas.microsoft.com/office/powerpoint/2010/main" val="3079819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ADC6A-78F7-5802-FFA6-F3FA344AE637}"/>
              </a:ext>
            </a:extLst>
          </p:cNvPr>
          <p:cNvSpPr>
            <a:spLocks noGrp="1"/>
          </p:cNvSpPr>
          <p:nvPr>
            <p:ph type="title"/>
          </p:nvPr>
        </p:nvSpPr>
        <p:spPr>
          <a:xfrm>
            <a:off x="3329608" y="365125"/>
            <a:ext cx="8024191" cy="688423"/>
          </a:xfrm>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3B6C7E70-5C2A-1731-5B6C-099098611450}"/>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Analysis of Accountability, Transparency and Participation of Village Fund Management (2021)</a:t>
            </a:r>
          </a:p>
          <a:p>
            <a:pPr marL="0" indent="0">
              <a:buNone/>
            </a:pP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study analyzes how village administrations manage public funds with respect to </a:t>
            </a:r>
            <a:r>
              <a:rPr lang="en-US" sz="2400" b="1" dirty="0">
                <a:latin typeface="Times New Roman" panose="02020603050405020304" pitchFamily="18" charset="0"/>
                <a:cs typeface="Times New Roman" panose="02020603050405020304" pitchFamily="18" charset="0"/>
              </a:rPr>
              <a:t>accountability and transparency</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It identifies gaps in manual governance systems, especially in </a:t>
            </a:r>
            <a:r>
              <a:rPr lang="en-US" sz="2400" b="1" dirty="0">
                <a:latin typeface="Times New Roman" panose="02020603050405020304" pitchFamily="18" charset="0"/>
                <a:cs typeface="Times New Roman" panose="02020603050405020304" pitchFamily="18" charset="0"/>
              </a:rPr>
              <a:t>complaint handling and monitoring</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Community participation is shown to improve governance outcomes.</a:t>
            </a:r>
          </a:p>
          <a:p>
            <a:r>
              <a:rPr lang="en-US" sz="2400" b="1" dirty="0">
                <a:latin typeface="Times New Roman" panose="02020603050405020304" pitchFamily="18" charset="0"/>
                <a:cs typeface="Times New Roman" panose="02020603050405020304" pitchFamily="18" charset="0"/>
              </a:rPr>
              <a:t>Relevance to Project: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Supports the need for </a:t>
            </a:r>
            <a:r>
              <a:rPr lang="en-US" sz="2400" b="1" dirty="0">
                <a:latin typeface="Times New Roman" panose="02020603050405020304" pitchFamily="18" charset="0"/>
                <a:cs typeface="Times New Roman" panose="02020603050405020304" pitchFamily="18" charset="0"/>
              </a:rPr>
              <a:t>digital issue reporting and request tracking</a:t>
            </a:r>
            <a:r>
              <a:rPr lang="en-US" sz="2400" dirty="0">
                <a:latin typeface="Times New Roman" panose="02020603050405020304" pitchFamily="18" charset="0"/>
                <a:cs typeface="Times New Roman" panose="02020603050405020304" pitchFamily="18" charset="0"/>
              </a:rPr>
              <a:t>, aligning closely with the proposed system objectives.</a:t>
            </a:r>
          </a:p>
          <a:p>
            <a:endParaRPr lang="en-IN" sz="2400" dirty="0"/>
          </a:p>
        </p:txBody>
      </p:sp>
    </p:spTree>
    <p:extLst>
      <p:ext uri="{BB962C8B-B14F-4D97-AF65-F5344CB8AC3E}">
        <p14:creationId xmlns:p14="http://schemas.microsoft.com/office/powerpoint/2010/main" val="1666732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2D50A-7F11-36A5-C237-54FBB2C88F45}"/>
              </a:ext>
            </a:extLst>
          </p:cNvPr>
          <p:cNvSpPr>
            <a:spLocks noGrp="1"/>
          </p:cNvSpPr>
          <p:nvPr>
            <p:ph type="title"/>
          </p:nvPr>
        </p:nvSpPr>
        <p:spPr>
          <a:xfrm>
            <a:off x="3597965" y="1"/>
            <a:ext cx="5317436" cy="824948"/>
          </a:xfrm>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0A3D6B6C-46A9-8435-0EEC-14B1F4C61B96}"/>
              </a:ext>
            </a:extLst>
          </p:cNvPr>
          <p:cNvSpPr>
            <a:spLocks noGrp="1"/>
          </p:cNvSpPr>
          <p:nvPr>
            <p:ph idx="1"/>
          </p:nvPr>
        </p:nvSpPr>
        <p:spPr>
          <a:xfrm>
            <a:off x="629478" y="1253331"/>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Optimizing Budget Policy in Village Fund Allocation (2025)</a:t>
            </a:r>
          </a:p>
          <a:p>
            <a:pPr marL="0" indent="0">
              <a:buNone/>
            </a:pPr>
            <a:endParaRPr lang="en-US" b="1"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This research focuses on </a:t>
            </a:r>
            <a:r>
              <a:rPr lang="en-US" b="1" dirty="0">
                <a:latin typeface="Times New Roman" panose="02020603050405020304" pitchFamily="18" charset="0"/>
                <a:cs typeface="Times New Roman" panose="02020603050405020304" pitchFamily="18" charset="0"/>
              </a:rPr>
              <a:t>budget allocation policies</a:t>
            </a:r>
            <a:r>
              <a:rPr lang="en-US" dirty="0">
                <a:latin typeface="Times New Roman" panose="02020603050405020304" pitchFamily="18" charset="0"/>
                <a:cs typeface="Times New Roman" panose="02020603050405020304" pitchFamily="18" charset="0"/>
              </a:rPr>
              <a:t> and their impact on rural development.</a:t>
            </a:r>
          </a:p>
          <a:p>
            <a:pPr lvl="1"/>
            <a:r>
              <a:rPr lang="en-US" dirty="0">
                <a:latin typeface="Times New Roman" panose="02020603050405020304" pitchFamily="18" charset="0"/>
                <a:cs typeface="Times New Roman" panose="02020603050405020304" pitchFamily="18" charset="0"/>
              </a:rPr>
              <a:t>It links transparency and accountability with </a:t>
            </a:r>
            <a:r>
              <a:rPr lang="en-US" b="1" dirty="0">
                <a:latin typeface="Times New Roman" panose="02020603050405020304" pitchFamily="18" charset="0"/>
                <a:cs typeface="Times New Roman" panose="02020603050405020304" pitchFamily="18" charset="0"/>
              </a:rPr>
              <a:t>effective fund utilization</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Highlights governance improvements through structured digital systems.</a:t>
            </a:r>
          </a:p>
          <a:p>
            <a:pPr lvl="1"/>
            <a:r>
              <a:rPr lang="en-US" b="1" dirty="0">
                <a:latin typeface="Times New Roman" panose="02020603050405020304" pitchFamily="18" charset="0"/>
                <a:cs typeface="Times New Roman" panose="02020603050405020304" pitchFamily="18" charset="0"/>
              </a:rPr>
              <a:t>Relevance to Project: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Strongly supports the </a:t>
            </a:r>
            <a:r>
              <a:rPr lang="en-US" b="1" dirty="0">
                <a:latin typeface="Times New Roman" panose="02020603050405020304" pitchFamily="18" charset="0"/>
                <a:cs typeface="Times New Roman" panose="02020603050405020304" pitchFamily="18" charset="0"/>
              </a:rPr>
              <a:t>fund allocation tracking and expenditure visualization</a:t>
            </a:r>
            <a:r>
              <a:rPr lang="en-US" dirty="0">
                <a:latin typeface="Times New Roman" panose="02020603050405020304" pitchFamily="18" charset="0"/>
                <a:cs typeface="Times New Roman" panose="02020603050405020304" pitchFamily="18" charset="0"/>
              </a:rPr>
              <a:t> feature of the proposed system.</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6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743D4-1D2C-2163-D51A-1A8D126E51CD}"/>
              </a:ext>
            </a:extLst>
          </p:cNvPr>
          <p:cNvSpPr>
            <a:spLocks noGrp="1"/>
          </p:cNvSpPr>
          <p:nvPr>
            <p:ph type="title"/>
          </p:nvPr>
        </p:nvSpPr>
        <p:spPr>
          <a:xfrm>
            <a:off x="3528390" y="365126"/>
            <a:ext cx="7825409" cy="559214"/>
          </a:xfrm>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0E98FB29-0D0A-2301-453E-47E5AC6B923B}"/>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Accountability and Transparency in Governance – NITI Aayog (2022)</a:t>
            </a:r>
          </a:p>
          <a:p>
            <a:pPr marL="0" indent="0">
              <a:buNone/>
            </a:pPr>
            <a:endParaRPr lang="en-US" b="1"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 thematic government report emphasizing </a:t>
            </a:r>
            <a:r>
              <a:rPr lang="en-US" b="1" dirty="0">
                <a:latin typeface="Times New Roman" panose="02020603050405020304" pitchFamily="18" charset="0"/>
                <a:cs typeface="Times New Roman" panose="02020603050405020304" pitchFamily="18" charset="0"/>
              </a:rPr>
              <a:t>technology-driven transparency and accountability</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Recommends citizen feedback systems and digital monitoring tools.</a:t>
            </a:r>
          </a:p>
          <a:p>
            <a:pPr lvl="1"/>
            <a:r>
              <a:rPr lang="en-US" dirty="0">
                <a:latin typeface="Times New Roman" panose="02020603050405020304" pitchFamily="18" charset="0"/>
                <a:cs typeface="Times New Roman" panose="02020603050405020304" pitchFamily="18" charset="0"/>
              </a:rPr>
              <a:t>Focuses on improving trust between citizens and authorities.</a:t>
            </a:r>
          </a:p>
          <a:p>
            <a:pPr lvl="1"/>
            <a:r>
              <a:rPr lang="en-US" b="1" dirty="0">
                <a:latin typeface="Times New Roman" panose="02020603050405020304" pitchFamily="18" charset="0"/>
                <a:cs typeface="Times New Roman" panose="02020603050405020304" pitchFamily="18" charset="0"/>
              </a:rPr>
              <a:t>Relevance to Project: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Aligns with national initiatives like </a:t>
            </a:r>
            <a:r>
              <a:rPr lang="en-US" b="1" dirty="0">
                <a:latin typeface="Times New Roman" panose="02020603050405020304" pitchFamily="18" charset="0"/>
                <a:cs typeface="Times New Roman" panose="02020603050405020304" pitchFamily="18" charset="0"/>
              </a:rPr>
              <a:t>Digital India</a:t>
            </a:r>
            <a:r>
              <a:rPr lang="en-US" dirty="0">
                <a:latin typeface="Times New Roman" panose="02020603050405020304" pitchFamily="18" charset="0"/>
                <a:cs typeface="Times New Roman" panose="02020603050405020304" pitchFamily="18" charset="0"/>
              </a:rPr>
              <a:t> and validates the project’s real-world applicability.</a:t>
            </a:r>
          </a:p>
          <a:p>
            <a:endParaRPr lang="en-IN" dirty="0"/>
          </a:p>
        </p:txBody>
      </p:sp>
    </p:spTree>
    <p:extLst>
      <p:ext uri="{BB962C8B-B14F-4D97-AF65-F5344CB8AC3E}">
        <p14:creationId xmlns:p14="http://schemas.microsoft.com/office/powerpoint/2010/main" val="2338740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F07F-E6D8-FB64-79D0-25AD713E92C3}"/>
              </a:ext>
            </a:extLst>
          </p:cNvPr>
          <p:cNvSpPr>
            <a:spLocks noGrp="1"/>
          </p:cNvSpPr>
          <p:nvPr>
            <p:ph type="title"/>
          </p:nvPr>
        </p:nvSpPr>
        <p:spPr>
          <a:xfrm>
            <a:off x="4128052" y="111731"/>
            <a:ext cx="10515600" cy="320675"/>
          </a:xfrm>
        </p:spPr>
        <p:txBody>
          <a:bodyPr>
            <a:noAutofit/>
          </a:bodyPr>
          <a:lstStyle/>
          <a:p>
            <a:r>
              <a:rPr lang="en-IN" sz="3200"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BE11FE07-F87D-CFCA-2150-A8846CA124D8}"/>
              </a:ext>
            </a:extLst>
          </p:cNvPr>
          <p:cNvGraphicFramePr>
            <a:graphicFrameLocks noGrp="1"/>
          </p:cNvGraphicFramePr>
          <p:nvPr>
            <p:ph idx="1"/>
            <p:extLst>
              <p:ext uri="{D42A27DB-BD31-4B8C-83A1-F6EECF244321}">
                <p14:modId xmlns:p14="http://schemas.microsoft.com/office/powerpoint/2010/main" val="623549161"/>
              </p:ext>
            </p:extLst>
          </p:nvPr>
        </p:nvGraphicFramePr>
        <p:xfrm>
          <a:off x="457200" y="660400"/>
          <a:ext cx="11369040" cy="5791199"/>
        </p:xfrm>
        <a:graphic>
          <a:graphicData uri="http://schemas.openxmlformats.org/drawingml/2006/table">
            <a:tbl>
              <a:tblPr>
                <a:tableStyleId>{35758FB7-9AC5-4552-8A53-C91805E547FA}</a:tableStyleId>
              </a:tblPr>
              <a:tblGrid>
                <a:gridCol w="2273808">
                  <a:extLst>
                    <a:ext uri="{9D8B030D-6E8A-4147-A177-3AD203B41FA5}">
                      <a16:colId xmlns:a16="http://schemas.microsoft.com/office/drawing/2014/main" val="2165070391"/>
                    </a:ext>
                  </a:extLst>
                </a:gridCol>
                <a:gridCol w="2273808">
                  <a:extLst>
                    <a:ext uri="{9D8B030D-6E8A-4147-A177-3AD203B41FA5}">
                      <a16:colId xmlns:a16="http://schemas.microsoft.com/office/drawing/2014/main" val="2467349420"/>
                    </a:ext>
                  </a:extLst>
                </a:gridCol>
                <a:gridCol w="2273808">
                  <a:extLst>
                    <a:ext uri="{9D8B030D-6E8A-4147-A177-3AD203B41FA5}">
                      <a16:colId xmlns:a16="http://schemas.microsoft.com/office/drawing/2014/main" val="2688503152"/>
                    </a:ext>
                  </a:extLst>
                </a:gridCol>
                <a:gridCol w="2273808">
                  <a:extLst>
                    <a:ext uri="{9D8B030D-6E8A-4147-A177-3AD203B41FA5}">
                      <a16:colId xmlns:a16="http://schemas.microsoft.com/office/drawing/2014/main" val="2260075140"/>
                    </a:ext>
                  </a:extLst>
                </a:gridCol>
                <a:gridCol w="2273808">
                  <a:extLst>
                    <a:ext uri="{9D8B030D-6E8A-4147-A177-3AD203B41FA5}">
                      <a16:colId xmlns:a16="http://schemas.microsoft.com/office/drawing/2014/main" val="1085878066"/>
                    </a:ext>
                  </a:extLst>
                </a:gridCol>
              </a:tblGrid>
              <a:tr h="428230">
                <a:tc>
                  <a:txBody>
                    <a:bodyPr/>
                    <a:lstStyle/>
                    <a:p>
                      <a:pPr>
                        <a:buNone/>
                      </a:pPr>
                      <a:r>
                        <a:rPr lang="en-IN" sz="1600" b="1" dirty="0"/>
                        <a:t>Paper / Study</a:t>
                      </a:r>
                      <a:endParaRPr lang="en-IN" sz="1600" dirty="0"/>
                    </a:p>
                  </a:txBody>
                  <a:tcPr marL="53720" marR="53720" marT="26860" marB="26860" anchor="ctr"/>
                </a:tc>
                <a:tc>
                  <a:txBody>
                    <a:bodyPr/>
                    <a:lstStyle/>
                    <a:p>
                      <a:pPr>
                        <a:buNone/>
                      </a:pPr>
                      <a:r>
                        <a:rPr lang="en-IN" sz="1600" b="1"/>
                        <a:t>Techniques Used</a:t>
                      </a:r>
                      <a:endParaRPr lang="en-IN" sz="1600"/>
                    </a:p>
                  </a:txBody>
                  <a:tcPr marL="53720" marR="53720" marT="26860" marB="26860" anchor="ctr"/>
                </a:tc>
                <a:tc>
                  <a:txBody>
                    <a:bodyPr/>
                    <a:lstStyle/>
                    <a:p>
                      <a:pPr>
                        <a:buNone/>
                      </a:pPr>
                      <a:r>
                        <a:rPr lang="en-IN" sz="1600" b="1"/>
                        <a:t>Advantages</a:t>
                      </a:r>
                      <a:endParaRPr lang="en-IN" sz="1600"/>
                    </a:p>
                  </a:txBody>
                  <a:tcPr marL="53720" marR="53720" marT="26860" marB="26860" anchor="ctr"/>
                </a:tc>
                <a:tc>
                  <a:txBody>
                    <a:bodyPr/>
                    <a:lstStyle/>
                    <a:p>
                      <a:pPr>
                        <a:buNone/>
                      </a:pPr>
                      <a:r>
                        <a:rPr lang="en-IN" sz="1600" b="1"/>
                        <a:t>Limitations</a:t>
                      </a:r>
                      <a:endParaRPr lang="en-IN" sz="1600"/>
                    </a:p>
                  </a:txBody>
                  <a:tcPr marL="53720" marR="53720" marT="26860" marB="26860" anchor="ctr"/>
                </a:tc>
                <a:tc>
                  <a:txBody>
                    <a:bodyPr/>
                    <a:lstStyle/>
                    <a:p>
                      <a:pPr>
                        <a:buNone/>
                      </a:pPr>
                      <a:r>
                        <a:rPr lang="en-IN" sz="1600" b="1"/>
                        <a:t>Key Insights Derived</a:t>
                      </a:r>
                      <a:endParaRPr lang="en-IN" sz="1600"/>
                    </a:p>
                  </a:txBody>
                  <a:tcPr marL="53720" marR="53720" marT="26860" marB="26860" anchor="ctr"/>
                </a:tc>
                <a:extLst>
                  <a:ext uri="{0D108BD9-81ED-4DB2-BD59-A6C34878D82A}">
                    <a16:rowId xmlns:a16="http://schemas.microsoft.com/office/drawing/2014/main" val="2182777470"/>
                  </a:ext>
                </a:extLst>
              </a:tr>
              <a:tr h="1301759">
                <a:tc>
                  <a:txBody>
                    <a:bodyPr/>
                    <a:lstStyle/>
                    <a:p>
                      <a:pPr>
                        <a:buNone/>
                      </a:pPr>
                      <a:r>
                        <a:rPr lang="en-US" sz="1600" b="1" dirty="0"/>
                        <a:t>Village Fund Management Transparency: A Lesson Learned (2018)</a:t>
                      </a:r>
                      <a:endParaRPr lang="en-US" sz="1600" dirty="0"/>
                    </a:p>
                  </a:txBody>
                  <a:tcPr marL="53720" marR="53720" marT="26860" marB="26860" anchor="ctr"/>
                </a:tc>
                <a:tc>
                  <a:txBody>
                    <a:bodyPr/>
                    <a:lstStyle/>
                    <a:p>
                      <a:pPr>
                        <a:buNone/>
                      </a:pPr>
                      <a:r>
                        <a:rPr lang="en-US" sz="1600" dirty="0"/>
                        <a:t>Manual fund audits, community participation analysis</a:t>
                      </a:r>
                    </a:p>
                  </a:txBody>
                  <a:tcPr marL="53720" marR="53720" marT="26860" marB="26860" anchor="ctr"/>
                </a:tc>
                <a:tc>
                  <a:txBody>
                    <a:bodyPr/>
                    <a:lstStyle/>
                    <a:p>
                      <a:pPr>
                        <a:buNone/>
                      </a:pPr>
                      <a:r>
                        <a:rPr lang="en-US" sz="1600"/>
                        <a:t>Improved awareness of fund usage, increased public trust</a:t>
                      </a:r>
                    </a:p>
                  </a:txBody>
                  <a:tcPr marL="53720" marR="53720" marT="26860" marB="26860" anchor="ctr"/>
                </a:tc>
                <a:tc>
                  <a:txBody>
                    <a:bodyPr/>
                    <a:lstStyle/>
                    <a:p>
                      <a:pPr>
                        <a:buNone/>
                      </a:pPr>
                      <a:r>
                        <a:rPr lang="en-US" sz="1600"/>
                        <a:t>No real-time tracking, highly manual process</a:t>
                      </a:r>
                    </a:p>
                  </a:txBody>
                  <a:tcPr marL="53720" marR="53720" marT="26860" marB="26860" anchor="ctr"/>
                </a:tc>
                <a:tc>
                  <a:txBody>
                    <a:bodyPr/>
                    <a:lstStyle/>
                    <a:p>
                      <a:pPr>
                        <a:buNone/>
                      </a:pPr>
                      <a:r>
                        <a:rPr lang="en-US" sz="1600"/>
                        <a:t>Digital platforms are required for continuous fund transparency</a:t>
                      </a:r>
                    </a:p>
                  </a:txBody>
                  <a:tcPr marL="53720" marR="53720" marT="26860" marB="26860" anchor="ctr"/>
                </a:tc>
                <a:extLst>
                  <a:ext uri="{0D108BD9-81ED-4DB2-BD59-A6C34878D82A}">
                    <a16:rowId xmlns:a16="http://schemas.microsoft.com/office/drawing/2014/main" val="2901940208"/>
                  </a:ext>
                </a:extLst>
              </a:tr>
              <a:tr h="1723082">
                <a:tc>
                  <a:txBody>
                    <a:bodyPr/>
                    <a:lstStyle/>
                    <a:p>
                      <a:pPr>
                        <a:buNone/>
                      </a:pPr>
                      <a:r>
                        <a:rPr lang="en-US" sz="1600" b="1"/>
                        <a:t>Analysis of Accountability, Transparency and Participation of Village Fund Management (2021)</a:t>
                      </a:r>
                      <a:endParaRPr lang="en-US" sz="1600"/>
                    </a:p>
                  </a:txBody>
                  <a:tcPr marL="53720" marR="53720" marT="26860" marB="26860" anchor="ctr"/>
                </a:tc>
                <a:tc>
                  <a:txBody>
                    <a:bodyPr/>
                    <a:lstStyle/>
                    <a:p>
                      <a:pPr>
                        <a:buNone/>
                      </a:pPr>
                      <a:r>
                        <a:rPr lang="en-US" sz="1600" dirty="0"/>
                        <a:t>Survey-based analysis, governance performance metrics</a:t>
                      </a:r>
                    </a:p>
                  </a:txBody>
                  <a:tcPr marL="53720" marR="53720" marT="26860" marB="26860" anchor="ctr"/>
                </a:tc>
                <a:tc>
                  <a:txBody>
                    <a:bodyPr/>
                    <a:lstStyle/>
                    <a:p>
                      <a:pPr>
                        <a:buNone/>
                      </a:pPr>
                      <a:r>
                        <a:rPr lang="en-US" sz="1600" dirty="0"/>
                        <a:t>Identifies accountability gaps, highlights role of citizen participation</a:t>
                      </a:r>
                    </a:p>
                  </a:txBody>
                  <a:tcPr marL="53720" marR="53720" marT="26860" marB="26860" anchor="ctr"/>
                </a:tc>
                <a:tc>
                  <a:txBody>
                    <a:bodyPr/>
                    <a:lstStyle/>
                    <a:p>
                      <a:pPr>
                        <a:buNone/>
                      </a:pPr>
                      <a:r>
                        <a:rPr lang="en-US" sz="1600"/>
                        <a:t>Lacks automated issue tracking mechanisms</a:t>
                      </a:r>
                    </a:p>
                  </a:txBody>
                  <a:tcPr marL="53720" marR="53720" marT="26860" marB="26860" anchor="ctr"/>
                </a:tc>
                <a:tc>
                  <a:txBody>
                    <a:bodyPr/>
                    <a:lstStyle/>
                    <a:p>
                      <a:pPr>
                        <a:buNone/>
                      </a:pPr>
                      <a:r>
                        <a:rPr lang="en-US" sz="1600" dirty="0"/>
                        <a:t>Citizen involvement + digital monitoring improves governance</a:t>
                      </a:r>
                    </a:p>
                  </a:txBody>
                  <a:tcPr marL="53720" marR="53720" marT="26860" marB="26860" anchor="ctr"/>
                </a:tc>
                <a:extLst>
                  <a:ext uri="{0D108BD9-81ED-4DB2-BD59-A6C34878D82A}">
                    <a16:rowId xmlns:a16="http://schemas.microsoft.com/office/drawing/2014/main" val="1245665327"/>
                  </a:ext>
                </a:extLst>
              </a:tr>
              <a:tr h="1169064">
                <a:tc>
                  <a:txBody>
                    <a:bodyPr/>
                    <a:lstStyle/>
                    <a:p>
                      <a:pPr>
                        <a:buNone/>
                      </a:pPr>
                      <a:r>
                        <a:rPr lang="en-US" sz="1600" b="1"/>
                        <a:t>ICT for Rural Development: Applications and Challenges (2021)</a:t>
                      </a:r>
                      <a:endParaRPr lang="en-US" sz="1600"/>
                    </a:p>
                  </a:txBody>
                  <a:tcPr marL="53720" marR="53720" marT="26860" marB="26860" anchor="ctr"/>
                </a:tc>
                <a:tc>
                  <a:txBody>
                    <a:bodyPr/>
                    <a:lstStyle/>
                    <a:p>
                      <a:pPr>
                        <a:buNone/>
                      </a:pPr>
                      <a:r>
                        <a:rPr lang="en-US" sz="1600"/>
                        <a:t>ICT framework analysis, case studies</a:t>
                      </a:r>
                    </a:p>
                  </a:txBody>
                  <a:tcPr marL="53720" marR="53720" marT="26860" marB="26860" anchor="ctr"/>
                </a:tc>
                <a:tc>
                  <a:txBody>
                    <a:bodyPr/>
                    <a:lstStyle/>
                    <a:p>
                      <a:pPr>
                        <a:buNone/>
                      </a:pPr>
                      <a:r>
                        <a:rPr lang="en-IN" sz="1600" dirty="0"/>
                        <a:t>Enhances service delivery, improves communication</a:t>
                      </a:r>
                    </a:p>
                  </a:txBody>
                  <a:tcPr marL="53720" marR="53720" marT="26860" marB="26860" anchor="ctr"/>
                </a:tc>
                <a:tc>
                  <a:txBody>
                    <a:bodyPr/>
                    <a:lstStyle/>
                    <a:p>
                      <a:pPr>
                        <a:buNone/>
                      </a:pPr>
                      <a:r>
                        <a:rPr lang="en-US" sz="1600"/>
                        <a:t>Digital literacy and infrastructure issues</a:t>
                      </a:r>
                    </a:p>
                  </a:txBody>
                  <a:tcPr marL="53720" marR="53720" marT="26860" marB="26860" anchor="ctr"/>
                </a:tc>
                <a:tc>
                  <a:txBody>
                    <a:bodyPr/>
                    <a:lstStyle/>
                    <a:p>
                      <a:pPr>
                        <a:buNone/>
                      </a:pPr>
                      <a:r>
                        <a:rPr lang="en-US" sz="1600" dirty="0"/>
                        <a:t>Systems must be simple, accessible, and mobile-friendly</a:t>
                      </a:r>
                    </a:p>
                  </a:txBody>
                  <a:tcPr marL="53720" marR="53720" marT="26860" marB="26860" anchor="ctr"/>
                </a:tc>
                <a:extLst>
                  <a:ext uri="{0D108BD9-81ED-4DB2-BD59-A6C34878D82A}">
                    <a16:rowId xmlns:a16="http://schemas.microsoft.com/office/drawing/2014/main" val="22414027"/>
                  </a:ext>
                </a:extLst>
              </a:tr>
              <a:tr h="1169064">
                <a:tc>
                  <a:txBody>
                    <a:bodyPr/>
                    <a:lstStyle/>
                    <a:p>
                      <a:pPr>
                        <a:buNone/>
                      </a:pPr>
                      <a:r>
                        <a:rPr lang="en-US" sz="1600" b="1"/>
                        <a:t>Optimizing Budget Policy in Village Fund Allocation (2025)</a:t>
                      </a:r>
                      <a:endParaRPr lang="en-US" sz="1600"/>
                    </a:p>
                  </a:txBody>
                  <a:tcPr marL="53720" marR="53720" marT="26860" marB="26860" anchor="ctr"/>
                </a:tc>
                <a:tc>
                  <a:txBody>
                    <a:bodyPr/>
                    <a:lstStyle/>
                    <a:p>
                      <a:pPr>
                        <a:buNone/>
                      </a:pPr>
                      <a:r>
                        <a:rPr lang="en-IN" sz="1600"/>
                        <a:t>Budget optimization models, policy analysis</a:t>
                      </a:r>
                    </a:p>
                  </a:txBody>
                  <a:tcPr marL="53720" marR="53720" marT="26860" marB="26860" anchor="ctr"/>
                </a:tc>
                <a:tc>
                  <a:txBody>
                    <a:bodyPr/>
                    <a:lstStyle/>
                    <a:p>
                      <a:pPr>
                        <a:buNone/>
                      </a:pPr>
                      <a:r>
                        <a:rPr lang="en-US" sz="1600"/>
                        <a:t>Better fund allocation, reduced misuse</a:t>
                      </a:r>
                    </a:p>
                  </a:txBody>
                  <a:tcPr marL="53720" marR="53720" marT="26860" marB="26860" anchor="ctr"/>
                </a:tc>
                <a:tc>
                  <a:txBody>
                    <a:bodyPr/>
                    <a:lstStyle/>
                    <a:p>
                      <a:pPr>
                        <a:buNone/>
                      </a:pPr>
                      <a:r>
                        <a:rPr lang="en-US" sz="1600"/>
                        <a:t>Focused only on budgeting, not public interaction</a:t>
                      </a:r>
                    </a:p>
                  </a:txBody>
                  <a:tcPr marL="53720" marR="53720" marT="26860" marB="26860" anchor="ctr"/>
                </a:tc>
                <a:tc>
                  <a:txBody>
                    <a:bodyPr/>
                    <a:lstStyle/>
                    <a:p>
                      <a:pPr>
                        <a:buNone/>
                      </a:pPr>
                      <a:r>
                        <a:rPr lang="en-US" sz="1600" dirty="0"/>
                        <a:t>Transparency tools should include spending proofs and reports</a:t>
                      </a:r>
                    </a:p>
                  </a:txBody>
                  <a:tcPr marL="53720" marR="53720" marT="26860" marB="26860" anchor="ctr"/>
                </a:tc>
                <a:extLst>
                  <a:ext uri="{0D108BD9-81ED-4DB2-BD59-A6C34878D82A}">
                    <a16:rowId xmlns:a16="http://schemas.microsoft.com/office/drawing/2014/main" val="3866731790"/>
                  </a:ext>
                </a:extLst>
              </a:tr>
            </a:tbl>
          </a:graphicData>
        </a:graphic>
      </p:graphicFrame>
    </p:spTree>
    <p:extLst>
      <p:ext uri="{BB962C8B-B14F-4D97-AF65-F5344CB8AC3E}">
        <p14:creationId xmlns:p14="http://schemas.microsoft.com/office/powerpoint/2010/main" val="3433057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C0DA-2417-BFA0-81F9-B92216F41C5C}"/>
              </a:ext>
            </a:extLst>
          </p:cNvPr>
          <p:cNvSpPr>
            <a:spLocks noGrp="1"/>
          </p:cNvSpPr>
          <p:nvPr>
            <p:ph type="title"/>
          </p:nvPr>
        </p:nvSpPr>
        <p:spPr>
          <a:xfrm>
            <a:off x="2782956" y="365126"/>
            <a:ext cx="8570843" cy="628788"/>
          </a:xfrm>
        </p:spPr>
        <p:txBody>
          <a:bodyPr>
            <a:normAutofit fontScale="90000"/>
          </a:bodyPr>
          <a:lstStyle/>
          <a:p>
            <a:r>
              <a:rPr lang="en-IN" dirty="0">
                <a:latin typeface="Times New Roman" panose="02020603050405020304" pitchFamily="18" charset="0"/>
                <a:cs typeface="Times New Roman" panose="02020603050405020304" pitchFamily="18" charset="0"/>
              </a:rPr>
              <a:t>Proposed System Overview</a:t>
            </a:r>
          </a:p>
        </p:txBody>
      </p:sp>
      <p:sp>
        <p:nvSpPr>
          <p:cNvPr id="3" name="Content Placeholder 2">
            <a:extLst>
              <a:ext uri="{FF2B5EF4-FFF2-40B4-BE49-F238E27FC236}">
                <a16:creationId xmlns:a16="http://schemas.microsoft.com/office/drawing/2014/main" id="{F54B2984-CF70-D7D7-1297-FD32E412D01A}"/>
              </a:ext>
            </a:extLst>
          </p:cNvPr>
          <p:cNvSpPr>
            <a:spLocks noGrp="1"/>
          </p:cNvSpPr>
          <p:nvPr>
            <p:ph idx="1"/>
          </p:nvPr>
        </p:nvSpPr>
        <p:spPr>
          <a:xfrm>
            <a:off x="599661" y="1437999"/>
            <a:ext cx="10515600" cy="435133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Voice of Village</a:t>
            </a:r>
            <a:r>
              <a:rPr lang="en-US" sz="2400" dirty="0">
                <a:latin typeface="Times New Roman" panose="02020603050405020304" pitchFamily="18" charset="0"/>
                <a:cs typeface="Times New Roman" panose="02020603050405020304" pitchFamily="18" charset="0"/>
              </a:rPr>
              <a:t> system is a digital e-governance platform designed to improve </a:t>
            </a:r>
            <a:r>
              <a:rPr lang="en-US" sz="2400" b="1" dirty="0">
                <a:latin typeface="Times New Roman" panose="02020603050405020304" pitchFamily="18" charset="0"/>
                <a:cs typeface="Times New Roman" panose="02020603050405020304" pitchFamily="18" charset="0"/>
              </a:rPr>
              <a:t>transparency, accountability, and efficiency</a:t>
            </a:r>
            <a:r>
              <a:rPr lang="en-US" sz="2400" dirty="0">
                <a:latin typeface="Times New Roman" panose="02020603050405020304" pitchFamily="18" charset="0"/>
                <a:cs typeface="Times New Roman" panose="02020603050405020304" pitchFamily="18" charset="0"/>
              </a:rPr>
              <a:t> in village administration. It allows villagers to raise issues, submit service requests, book PDS slots, make donations, and view announcements through a single unified interface, reducing dependency on manual and paper-based processes.</a:t>
            </a:r>
          </a:p>
          <a:p>
            <a:pPr marL="0" indent="0">
              <a:buNone/>
            </a:pPr>
            <a:r>
              <a:rPr lang="en-US" sz="2400" dirty="0">
                <a:latin typeface="Times New Roman" panose="02020603050405020304" pitchFamily="18" charset="0"/>
                <a:cs typeface="Times New Roman" panose="02020603050405020304" pitchFamily="18" charset="0"/>
              </a:rPr>
              <a:t>                                                 The system follows a </a:t>
            </a:r>
            <a:r>
              <a:rPr lang="en-US" sz="2400" b="1" dirty="0">
                <a:latin typeface="Times New Roman" panose="02020603050405020304" pitchFamily="18" charset="0"/>
                <a:cs typeface="Times New Roman" panose="02020603050405020304" pitchFamily="18" charset="0"/>
              </a:rPr>
              <a:t>role-based architecture</a:t>
            </a:r>
            <a:r>
              <a:rPr lang="en-US" sz="2400" dirty="0">
                <a:latin typeface="Times New Roman" panose="02020603050405020304" pitchFamily="18" charset="0"/>
                <a:cs typeface="Times New Roman" panose="02020603050405020304" pitchFamily="18" charset="0"/>
              </a:rPr>
              <a:t> where the Sarpanch (Admin) manages issues, approves requests, publishes announcements, and uploads government fund utilization with proof, while the Shopkeeper verifies PDS bookings using OTP/QR codes. By integrating all village services into one platform, the proposed system ensures better governance, real-time tracking, and increased public trust.</a:t>
            </a:r>
          </a:p>
          <a:p>
            <a:endParaRPr lang="en-IN" sz="2400" dirty="0"/>
          </a:p>
        </p:txBody>
      </p:sp>
    </p:spTree>
    <p:extLst>
      <p:ext uri="{BB962C8B-B14F-4D97-AF65-F5344CB8AC3E}">
        <p14:creationId xmlns:p14="http://schemas.microsoft.com/office/powerpoint/2010/main" val="2354031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9BB9-6B89-E533-1048-4129C128482E}"/>
              </a:ext>
            </a:extLst>
          </p:cNvPr>
          <p:cNvSpPr>
            <a:spLocks noGrp="1"/>
          </p:cNvSpPr>
          <p:nvPr>
            <p:ph type="title"/>
          </p:nvPr>
        </p:nvSpPr>
        <p:spPr>
          <a:xfrm>
            <a:off x="3925957" y="0"/>
            <a:ext cx="9564756" cy="681037"/>
          </a:xfrm>
        </p:spPr>
        <p:txBody>
          <a:bodyPr>
            <a:normAutofit/>
          </a:bodyPr>
          <a:lstStyle/>
          <a:p>
            <a:r>
              <a:rPr lang="en-IN" sz="3600"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32197731-00D7-116D-5B27-D7D0E87254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809" y="681036"/>
            <a:ext cx="6987208" cy="5968241"/>
          </a:xfrm>
        </p:spPr>
      </p:pic>
    </p:spTree>
    <p:extLst>
      <p:ext uri="{BB962C8B-B14F-4D97-AF65-F5344CB8AC3E}">
        <p14:creationId xmlns:p14="http://schemas.microsoft.com/office/powerpoint/2010/main" val="595961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6A23-C362-A349-42B6-257DB3741EB8}"/>
              </a:ext>
            </a:extLst>
          </p:cNvPr>
          <p:cNvSpPr>
            <a:spLocks noGrp="1"/>
          </p:cNvSpPr>
          <p:nvPr>
            <p:ph type="title"/>
          </p:nvPr>
        </p:nvSpPr>
        <p:spPr>
          <a:xfrm>
            <a:off x="3190240" y="30162"/>
            <a:ext cx="8163560" cy="650875"/>
          </a:xfrm>
        </p:spPr>
        <p:txBody>
          <a:bodyPr>
            <a:normAutofit/>
          </a:bodyPr>
          <a:lstStyle/>
          <a:p>
            <a:r>
              <a:rPr lang="en-IN" sz="3200" dirty="0">
                <a:latin typeface="Times New Roman" panose="02020603050405020304" pitchFamily="18" charset="0"/>
                <a:cs typeface="Times New Roman" panose="02020603050405020304" pitchFamily="18" charset="0"/>
              </a:rPr>
              <a:t>Detailed Design Diagrams</a:t>
            </a:r>
          </a:p>
        </p:txBody>
      </p:sp>
      <p:pic>
        <p:nvPicPr>
          <p:cNvPr id="5" name="Content Placeholder 4">
            <a:extLst>
              <a:ext uri="{FF2B5EF4-FFF2-40B4-BE49-F238E27FC236}">
                <a16:creationId xmlns:a16="http://schemas.microsoft.com/office/drawing/2014/main" id="{694DE314-E158-D52B-3787-0C9C174DA0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1184" y="900956"/>
            <a:ext cx="3380836" cy="5496243"/>
          </a:xfrm>
        </p:spPr>
      </p:pic>
      <p:sp>
        <p:nvSpPr>
          <p:cNvPr id="6" name="TextBox 5">
            <a:extLst>
              <a:ext uri="{FF2B5EF4-FFF2-40B4-BE49-F238E27FC236}">
                <a16:creationId xmlns:a16="http://schemas.microsoft.com/office/drawing/2014/main" id="{6104E426-DBC7-4450-264B-0EB1D0759A21}"/>
              </a:ext>
            </a:extLst>
          </p:cNvPr>
          <p:cNvSpPr txBox="1"/>
          <p:nvPr/>
        </p:nvSpPr>
        <p:spPr>
          <a:xfrm>
            <a:off x="381964" y="1064871"/>
            <a:ext cx="2808275"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Use Case diagram :</a:t>
            </a:r>
          </a:p>
        </p:txBody>
      </p:sp>
    </p:spTree>
    <p:extLst>
      <p:ext uri="{BB962C8B-B14F-4D97-AF65-F5344CB8AC3E}">
        <p14:creationId xmlns:p14="http://schemas.microsoft.com/office/powerpoint/2010/main" val="3731681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25300-898E-DCC8-EF2B-841E719D9476}"/>
              </a:ext>
            </a:extLst>
          </p:cNvPr>
          <p:cNvSpPr>
            <a:spLocks noGrp="1"/>
          </p:cNvSpPr>
          <p:nvPr>
            <p:ph type="title"/>
          </p:nvPr>
        </p:nvSpPr>
        <p:spPr>
          <a:xfrm>
            <a:off x="3692324" y="0"/>
            <a:ext cx="8055015" cy="468252"/>
          </a:xfrm>
        </p:spPr>
        <p:txBody>
          <a:bodyPr>
            <a:normAutofit fontScale="90000"/>
          </a:bodyPr>
          <a:lstStyle/>
          <a:p>
            <a:r>
              <a:rPr lang="en-IN" sz="3200" dirty="0">
                <a:latin typeface="Times New Roman" panose="02020603050405020304" pitchFamily="18" charset="0"/>
                <a:cs typeface="Times New Roman" panose="02020603050405020304" pitchFamily="18" charset="0"/>
              </a:rPr>
              <a:t>Detailed Design Diagrams</a:t>
            </a:r>
            <a:endParaRPr lang="en-IN" sz="3200" dirty="0"/>
          </a:p>
        </p:txBody>
      </p:sp>
      <p:pic>
        <p:nvPicPr>
          <p:cNvPr id="5" name="Content Placeholder 4">
            <a:extLst>
              <a:ext uri="{FF2B5EF4-FFF2-40B4-BE49-F238E27FC236}">
                <a16:creationId xmlns:a16="http://schemas.microsoft.com/office/drawing/2014/main" id="{B6F17A3E-2054-DF26-5C9A-CC1CF158CA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7904" y="860301"/>
            <a:ext cx="4746250" cy="5926238"/>
          </a:xfrm>
        </p:spPr>
      </p:pic>
      <p:sp>
        <p:nvSpPr>
          <p:cNvPr id="6" name="TextBox 5">
            <a:extLst>
              <a:ext uri="{FF2B5EF4-FFF2-40B4-BE49-F238E27FC236}">
                <a16:creationId xmlns:a16="http://schemas.microsoft.com/office/drawing/2014/main" id="{26140E24-A448-D085-9BA3-6B657C9BDCC2}"/>
              </a:ext>
            </a:extLst>
          </p:cNvPr>
          <p:cNvSpPr txBox="1"/>
          <p:nvPr/>
        </p:nvSpPr>
        <p:spPr>
          <a:xfrm>
            <a:off x="424783" y="629469"/>
            <a:ext cx="271598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Sequence Diagram:</a:t>
            </a:r>
          </a:p>
        </p:txBody>
      </p:sp>
    </p:spTree>
    <p:extLst>
      <p:ext uri="{BB962C8B-B14F-4D97-AF65-F5344CB8AC3E}">
        <p14:creationId xmlns:p14="http://schemas.microsoft.com/office/powerpoint/2010/main" val="1678407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2E1C-C8A7-717A-A95E-96B69A112620}"/>
              </a:ext>
            </a:extLst>
          </p:cNvPr>
          <p:cNvSpPr>
            <a:spLocks noGrp="1"/>
          </p:cNvSpPr>
          <p:nvPr>
            <p:ph type="title"/>
          </p:nvPr>
        </p:nvSpPr>
        <p:spPr>
          <a:xfrm>
            <a:off x="3839818" y="96770"/>
            <a:ext cx="10515600" cy="315912"/>
          </a:xfrm>
        </p:spPr>
        <p:txBody>
          <a:bodyPr>
            <a:normAutofit fontScale="90000"/>
          </a:bodyPr>
          <a:lstStyle/>
          <a:p>
            <a:r>
              <a:rPr lang="en-IN" sz="3200" dirty="0">
                <a:latin typeface="Times New Roman" panose="02020603050405020304" pitchFamily="18" charset="0"/>
                <a:cs typeface="Times New Roman" panose="02020603050405020304" pitchFamily="18" charset="0"/>
              </a:rPr>
              <a:t>Data Design Or </a:t>
            </a:r>
            <a:r>
              <a:rPr lang="en-IN" sz="3200" dirty="0" err="1">
                <a:latin typeface="Times New Roman" panose="02020603050405020304" pitchFamily="18" charset="0"/>
                <a:cs typeface="Times New Roman" panose="02020603050405020304" pitchFamily="18" charset="0"/>
              </a:rPr>
              <a:t>WorkFlow</a:t>
            </a:r>
            <a:endParaRPr lang="en-IN" sz="32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28B7068A-6B2C-F7D9-AAEB-ECFFF981A7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1340" y="1366126"/>
            <a:ext cx="6527007" cy="4351338"/>
          </a:xfrm>
        </p:spPr>
      </p:pic>
      <p:sp>
        <p:nvSpPr>
          <p:cNvPr id="4" name="TextBox 3">
            <a:extLst>
              <a:ext uri="{FF2B5EF4-FFF2-40B4-BE49-F238E27FC236}">
                <a16:creationId xmlns:a16="http://schemas.microsoft.com/office/drawing/2014/main" id="{B7EF3263-EE87-C1B6-B2DC-F4E991DF8608}"/>
              </a:ext>
            </a:extLst>
          </p:cNvPr>
          <p:cNvSpPr txBox="1"/>
          <p:nvPr/>
        </p:nvSpPr>
        <p:spPr>
          <a:xfrm>
            <a:off x="576470" y="904461"/>
            <a:ext cx="2087217"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ER Diagram :</a:t>
            </a:r>
          </a:p>
        </p:txBody>
      </p:sp>
    </p:spTree>
    <p:extLst>
      <p:ext uri="{BB962C8B-B14F-4D97-AF65-F5344CB8AC3E}">
        <p14:creationId xmlns:p14="http://schemas.microsoft.com/office/powerpoint/2010/main" val="1917908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044C-B2FC-9293-54D5-4D81135FB614}"/>
              </a:ext>
            </a:extLst>
          </p:cNvPr>
          <p:cNvSpPr>
            <a:spLocks noGrp="1"/>
          </p:cNvSpPr>
          <p:nvPr>
            <p:ph type="title"/>
          </p:nvPr>
        </p:nvSpPr>
        <p:spPr>
          <a:xfrm>
            <a:off x="3760305" y="86831"/>
            <a:ext cx="10515600" cy="315912"/>
          </a:xfrm>
        </p:spPr>
        <p:txBody>
          <a:bodyPr>
            <a:noAutofit/>
          </a:bodyPr>
          <a:lstStyle/>
          <a:p>
            <a:r>
              <a:rPr lang="en-IN" sz="3200" dirty="0">
                <a:latin typeface="Times New Roman" panose="02020603050405020304" pitchFamily="18" charset="0"/>
                <a:cs typeface="Times New Roman" panose="02020603050405020304" pitchFamily="18" charset="0"/>
              </a:rPr>
              <a:t>Data Design Or </a:t>
            </a:r>
            <a:r>
              <a:rPr lang="en-IN" sz="3200" dirty="0" err="1">
                <a:latin typeface="Times New Roman" panose="02020603050405020304" pitchFamily="18" charset="0"/>
                <a:cs typeface="Times New Roman" panose="02020603050405020304" pitchFamily="18" charset="0"/>
              </a:rPr>
              <a:t>WorkFlow</a:t>
            </a:r>
            <a:endParaRPr lang="en-IN" sz="3200" dirty="0"/>
          </a:p>
        </p:txBody>
      </p:sp>
      <p:pic>
        <p:nvPicPr>
          <p:cNvPr id="6" name="Content Placeholder 5">
            <a:extLst>
              <a:ext uri="{FF2B5EF4-FFF2-40B4-BE49-F238E27FC236}">
                <a16:creationId xmlns:a16="http://schemas.microsoft.com/office/drawing/2014/main" id="{CF667ECF-7DD8-C207-2B8F-07E39E5F88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40050" y="1253331"/>
            <a:ext cx="5926907" cy="4351338"/>
          </a:xfrm>
        </p:spPr>
      </p:pic>
      <p:sp>
        <p:nvSpPr>
          <p:cNvPr id="4" name="TextBox 3">
            <a:extLst>
              <a:ext uri="{FF2B5EF4-FFF2-40B4-BE49-F238E27FC236}">
                <a16:creationId xmlns:a16="http://schemas.microsoft.com/office/drawing/2014/main" id="{53F208F6-FA6E-1DA4-65AC-3BF8EDFCC434}"/>
              </a:ext>
            </a:extLst>
          </p:cNvPr>
          <p:cNvSpPr txBox="1"/>
          <p:nvPr/>
        </p:nvSpPr>
        <p:spPr>
          <a:xfrm>
            <a:off x="695739" y="576470"/>
            <a:ext cx="251460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Activity Diagram :</a:t>
            </a:r>
          </a:p>
        </p:txBody>
      </p:sp>
    </p:spTree>
    <p:extLst>
      <p:ext uri="{BB962C8B-B14F-4D97-AF65-F5344CB8AC3E}">
        <p14:creationId xmlns:p14="http://schemas.microsoft.com/office/powerpoint/2010/main" val="1003653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8539-C313-2051-64AC-1056A49BA960}"/>
              </a:ext>
            </a:extLst>
          </p:cNvPr>
          <p:cNvSpPr>
            <a:spLocks noGrp="1"/>
          </p:cNvSpPr>
          <p:nvPr>
            <p:ph type="title"/>
          </p:nvPr>
        </p:nvSpPr>
        <p:spPr>
          <a:xfrm>
            <a:off x="3439160" y="0"/>
            <a:ext cx="10515600" cy="661035"/>
          </a:xfrm>
        </p:spPr>
        <p:txBody>
          <a:bodyPr>
            <a:normAutofit/>
          </a:bodyPr>
          <a:lstStyle/>
          <a:p>
            <a:r>
              <a:rPr lang="en-IN" sz="3200" dirty="0">
                <a:latin typeface="Times New Roman" panose="02020603050405020304" pitchFamily="18" charset="0"/>
                <a:cs typeface="Times New Roman" panose="02020603050405020304" pitchFamily="18" charset="0"/>
              </a:rPr>
              <a:t>Technology stack &amp; Justification</a:t>
            </a:r>
          </a:p>
        </p:txBody>
      </p:sp>
      <p:graphicFrame>
        <p:nvGraphicFramePr>
          <p:cNvPr id="4" name="Content Placeholder 3">
            <a:extLst>
              <a:ext uri="{FF2B5EF4-FFF2-40B4-BE49-F238E27FC236}">
                <a16:creationId xmlns:a16="http://schemas.microsoft.com/office/drawing/2014/main" id="{F07DE8E9-0C7E-59AE-BEEB-0510D5F09A6A}"/>
              </a:ext>
            </a:extLst>
          </p:cNvPr>
          <p:cNvGraphicFramePr>
            <a:graphicFrameLocks noGrp="1"/>
          </p:cNvGraphicFramePr>
          <p:nvPr>
            <p:ph idx="1"/>
            <p:extLst>
              <p:ext uri="{D42A27DB-BD31-4B8C-83A1-F6EECF244321}">
                <p14:modId xmlns:p14="http://schemas.microsoft.com/office/powerpoint/2010/main" val="3756029203"/>
              </p:ext>
            </p:extLst>
          </p:nvPr>
        </p:nvGraphicFramePr>
        <p:xfrm>
          <a:off x="833120" y="772160"/>
          <a:ext cx="10281921" cy="5913122"/>
        </p:xfrm>
        <a:graphic>
          <a:graphicData uri="http://schemas.openxmlformats.org/drawingml/2006/table">
            <a:tbl>
              <a:tblPr>
                <a:tableStyleId>{35758FB7-9AC5-4552-8A53-C91805E547FA}</a:tableStyleId>
              </a:tblPr>
              <a:tblGrid>
                <a:gridCol w="2808574">
                  <a:extLst>
                    <a:ext uri="{9D8B030D-6E8A-4147-A177-3AD203B41FA5}">
                      <a16:colId xmlns:a16="http://schemas.microsoft.com/office/drawing/2014/main" val="977641038"/>
                    </a:ext>
                  </a:extLst>
                </a:gridCol>
                <a:gridCol w="2808574">
                  <a:extLst>
                    <a:ext uri="{9D8B030D-6E8A-4147-A177-3AD203B41FA5}">
                      <a16:colId xmlns:a16="http://schemas.microsoft.com/office/drawing/2014/main" val="2554206343"/>
                    </a:ext>
                  </a:extLst>
                </a:gridCol>
                <a:gridCol w="4664773">
                  <a:extLst>
                    <a:ext uri="{9D8B030D-6E8A-4147-A177-3AD203B41FA5}">
                      <a16:colId xmlns:a16="http://schemas.microsoft.com/office/drawing/2014/main" val="1224262339"/>
                    </a:ext>
                  </a:extLst>
                </a:gridCol>
              </a:tblGrid>
              <a:tr h="342757">
                <a:tc>
                  <a:txBody>
                    <a:bodyPr/>
                    <a:lstStyle/>
                    <a:p>
                      <a:pPr>
                        <a:buNone/>
                      </a:pPr>
                      <a:r>
                        <a:rPr lang="en-IN" sz="1600" b="1">
                          <a:latin typeface="Times New Roman" panose="02020603050405020304" pitchFamily="18" charset="0"/>
                          <a:cs typeface="Times New Roman" panose="02020603050405020304" pitchFamily="18" charset="0"/>
                        </a:rPr>
                        <a:t>Layer</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b="1">
                          <a:latin typeface="Times New Roman" panose="02020603050405020304" pitchFamily="18" charset="0"/>
                          <a:cs typeface="Times New Roman" panose="02020603050405020304" pitchFamily="18" charset="0"/>
                        </a:rPr>
                        <a:t>Technology Used</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b="1">
                          <a:latin typeface="Times New Roman" panose="02020603050405020304" pitchFamily="18" charset="0"/>
                          <a:cs typeface="Times New Roman" panose="02020603050405020304" pitchFamily="18" charset="0"/>
                        </a:rPr>
                        <a:t>Justification for Selection</a:t>
                      </a:r>
                      <a:endParaRPr lang="en-IN" sz="1600">
                        <a:latin typeface="Times New Roman" panose="02020603050405020304" pitchFamily="18" charset="0"/>
                        <a:cs typeface="Times New Roman" panose="02020603050405020304" pitchFamily="18" charset="0"/>
                      </a:endParaRPr>
                    </a:p>
                  </a:txBody>
                  <a:tcPr marL="56511" marR="56511" marT="28255" marB="28255" anchor="ctr"/>
                </a:tc>
                <a:extLst>
                  <a:ext uri="{0D108BD9-81ED-4DB2-BD59-A6C34878D82A}">
                    <a16:rowId xmlns:a16="http://schemas.microsoft.com/office/drawing/2014/main" val="3876002367"/>
                  </a:ext>
                </a:extLst>
              </a:tr>
              <a:tr h="571182">
                <a:tc>
                  <a:txBody>
                    <a:bodyPr/>
                    <a:lstStyle/>
                    <a:p>
                      <a:pPr>
                        <a:buNone/>
                      </a:pPr>
                      <a:r>
                        <a:rPr lang="en-IN" sz="1600" b="1">
                          <a:latin typeface="Times New Roman" panose="02020603050405020304" pitchFamily="18" charset="0"/>
                          <a:cs typeface="Times New Roman" panose="02020603050405020304" pitchFamily="18" charset="0"/>
                        </a:rPr>
                        <a:t>Frontend</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React.js (Vite)</a:t>
                      </a:r>
                    </a:p>
                  </a:txBody>
                  <a:tcPr marL="56511" marR="56511" marT="28255" marB="28255" anchor="ctr"/>
                </a:tc>
                <a:tc>
                  <a:txBody>
                    <a:bodyPr/>
                    <a:lstStyle/>
                    <a:p>
                      <a:pPr>
                        <a:buNone/>
                      </a:pPr>
                      <a:r>
                        <a:rPr lang="en-US" sz="1600">
                          <a:latin typeface="Times New Roman" panose="02020603050405020304" pitchFamily="18" charset="0"/>
                          <a:cs typeface="Times New Roman" panose="02020603050405020304" pitchFamily="18" charset="0"/>
                        </a:rPr>
                        <a:t>Provides fast rendering, component reusability, and better user experience</a:t>
                      </a:r>
                    </a:p>
                  </a:txBody>
                  <a:tcPr marL="56511" marR="56511" marT="28255" marB="28255" anchor="ctr"/>
                </a:tc>
                <a:extLst>
                  <a:ext uri="{0D108BD9-81ED-4DB2-BD59-A6C34878D82A}">
                    <a16:rowId xmlns:a16="http://schemas.microsoft.com/office/drawing/2014/main" val="311070384"/>
                  </a:ext>
                </a:extLst>
              </a:tr>
              <a:tr h="571182">
                <a:tc>
                  <a:txBody>
                    <a:bodyPr/>
                    <a:lstStyle/>
                    <a:p>
                      <a:pPr>
                        <a:buNone/>
                      </a:pPr>
                      <a:r>
                        <a:rPr lang="en-IN" sz="1600" b="1" dirty="0">
                          <a:latin typeface="Times New Roman" panose="02020603050405020304" pitchFamily="18" charset="0"/>
                          <a:cs typeface="Times New Roman" panose="02020603050405020304" pitchFamily="18" charset="0"/>
                        </a:rPr>
                        <a:t>Styling</a:t>
                      </a:r>
                      <a:endParaRPr lang="en-IN" sz="1600" dirty="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CSS / Tailwind CSS</a:t>
                      </a:r>
                    </a:p>
                  </a:txBody>
                  <a:tcPr marL="56511" marR="56511" marT="28255" marB="28255" anchor="ctr"/>
                </a:tc>
                <a:tc>
                  <a:txBody>
                    <a:bodyPr/>
                    <a:lstStyle/>
                    <a:p>
                      <a:pPr>
                        <a:buNone/>
                      </a:pPr>
                      <a:r>
                        <a:rPr lang="en-US" sz="1600">
                          <a:latin typeface="Times New Roman" panose="02020603050405020304" pitchFamily="18" charset="0"/>
                          <a:cs typeface="Times New Roman" panose="02020603050405020304" pitchFamily="18" charset="0"/>
                        </a:rPr>
                        <a:t>Enables responsive, modern UI with minimal development effort</a:t>
                      </a:r>
                    </a:p>
                  </a:txBody>
                  <a:tcPr marL="56511" marR="56511" marT="28255" marB="28255" anchor="ctr"/>
                </a:tc>
                <a:extLst>
                  <a:ext uri="{0D108BD9-81ED-4DB2-BD59-A6C34878D82A}">
                    <a16:rowId xmlns:a16="http://schemas.microsoft.com/office/drawing/2014/main" val="2272627931"/>
                  </a:ext>
                </a:extLst>
              </a:tr>
              <a:tr h="571182">
                <a:tc>
                  <a:txBody>
                    <a:bodyPr/>
                    <a:lstStyle/>
                    <a:p>
                      <a:pPr>
                        <a:buNone/>
                      </a:pPr>
                      <a:r>
                        <a:rPr lang="en-IN" sz="1600" b="1">
                          <a:latin typeface="Times New Roman" panose="02020603050405020304" pitchFamily="18" charset="0"/>
                          <a:cs typeface="Times New Roman" panose="02020603050405020304" pitchFamily="18" charset="0"/>
                        </a:rPr>
                        <a:t>Backend</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Node.js</a:t>
                      </a:r>
                    </a:p>
                  </a:txBody>
                  <a:tcPr marL="56511" marR="56511" marT="28255" marB="28255" anchor="ctr"/>
                </a:tc>
                <a:tc>
                  <a:txBody>
                    <a:bodyPr/>
                    <a:lstStyle/>
                    <a:p>
                      <a:pPr>
                        <a:buNone/>
                      </a:pPr>
                      <a:r>
                        <a:rPr lang="en-US" sz="1600">
                          <a:latin typeface="Times New Roman" panose="02020603050405020304" pitchFamily="18" charset="0"/>
                          <a:cs typeface="Times New Roman" panose="02020603050405020304" pitchFamily="18" charset="0"/>
                        </a:rPr>
                        <a:t>Supports scalable, non-blocking server-side operations</a:t>
                      </a:r>
                    </a:p>
                  </a:txBody>
                  <a:tcPr marL="56511" marR="56511" marT="28255" marB="28255" anchor="ctr"/>
                </a:tc>
                <a:extLst>
                  <a:ext uri="{0D108BD9-81ED-4DB2-BD59-A6C34878D82A}">
                    <a16:rowId xmlns:a16="http://schemas.microsoft.com/office/drawing/2014/main" val="2975515743"/>
                  </a:ext>
                </a:extLst>
              </a:tr>
              <a:tr h="542891">
                <a:tc>
                  <a:txBody>
                    <a:bodyPr/>
                    <a:lstStyle/>
                    <a:p>
                      <a:pPr>
                        <a:buNone/>
                      </a:pPr>
                      <a:r>
                        <a:rPr lang="en-IN" sz="1600" b="1">
                          <a:latin typeface="Times New Roman" panose="02020603050405020304" pitchFamily="18" charset="0"/>
                          <a:cs typeface="Times New Roman" panose="02020603050405020304" pitchFamily="18" charset="0"/>
                        </a:rPr>
                        <a:t>Framework</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Express.js</a:t>
                      </a:r>
                    </a:p>
                  </a:txBody>
                  <a:tcPr marL="56511" marR="56511" marT="28255" marB="28255" anchor="ctr"/>
                </a:tc>
                <a:tc>
                  <a:txBody>
                    <a:bodyPr/>
                    <a:lstStyle/>
                    <a:p>
                      <a:pPr>
                        <a:buNone/>
                      </a:pPr>
                      <a:r>
                        <a:rPr lang="en-US" sz="1600" dirty="0">
                          <a:latin typeface="Times New Roman" panose="02020603050405020304" pitchFamily="18" charset="0"/>
                          <a:cs typeface="Times New Roman" panose="02020603050405020304" pitchFamily="18" charset="0"/>
                        </a:rPr>
                        <a:t>Simplifies API development and routing</a:t>
                      </a:r>
                    </a:p>
                  </a:txBody>
                  <a:tcPr marL="56511" marR="56511" marT="28255" marB="28255" anchor="ctr"/>
                </a:tc>
                <a:extLst>
                  <a:ext uri="{0D108BD9-81ED-4DB2-BD59-A6C34878D82A}">
                    <a16:rowId xmlns:a16="http://schemas.microsoft.com/office/drawing/2014/main" val="2965665983"/>
                  </a:ext>
                </a:extLst>
              </a:tr>
              <a:tr h="571182">
                <a:tc>
                  <a:txBody>
                    <a:bodyPr/>
                    <a:lstStyle/>
                    <a:p>
                      <a:pPr>
                        <a:buNone/>
                      </a:pPr>
                      <a:r>
                        <a:rPr lang="en-IN" sz="1600" b="1">
                          <a:latin typeface="Times New Roman" panose="02020603050405020304" pitchFamily="18" charset="0"/>
                          <a:cs typeface="Times New Roman" panose="02020603050405020304" pitchFamily="18" charset="0"/>
                        </a:rPr>
                        <a:t>Database</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MySQL</a:t>
                      </a: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Reliable relational database suitable for structured village data</a:t>
                      </a:r>
                    </a:p>
                  </a:txBody>
                  <a:tcPr marL="56511" marR="56511" marT="28255" marB="28255" anchor="ctr"/>
                </a:tc>
                <a:extLst>
                  <a:ext uri="{0D108BD9-81ED-4DB2-BD59-A6C34878D82A}">
                    <a16:rowId xmlns:a16="http://schemas.microsoft.com/office/drawing/2014/main" val="2857989316"/>
                  </a:ext>
                </a:extLst>
              </a:tr>
              <a:tr h="571182">
                <a:tc>
                  <a:txBody>
                    <a:bodyPr/>
                    <a:lstStyle/>
                    <a:p>
                      <a:pPr>
                        <a:buNone/>
                      </a:pPr>
                      <a:r>
                        <a:rPr lang="en-IN" sz="1600" b="1">
                          <a:latin typeface="Times New Roman" panose="02020603050405020304" pitchFamily="18" charset="0"/>
                          <a:cs typeface="Times New Roman" panose="02020603050405020304" pitchFamily="18" charset="0"/>
                        </a:rPr>
                        <a:t>Authentication</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JWT</a:t>
                      </a:r>
                    </a:p>
                  </a:txBody>
                  <a:tcPr marL="56511" marR="56511" marT="28255" marB="28255" anchor="ctr"/>
                </a:tc>
                <a:tc>
                  <a:txBody>
                    <a:bodyPr/>
                    <a:lstStyle/>
                    <a:p>
                      <a:pPr>
                        <a:buNone/>
                      </a:pPr>
                      <a:r>
                        <a:rPr lang="en-US" sz="1600" dirty="0">
                          <a:latin typeface="Times New Roman" panose="02020603050405020304" pitchFamily="18" charset="0"/>
                          <a:cs typeface="Times New Roman" panose="02020603050405020304" pitchFamily="18" charset="0"/>
                        </a:rPr>
                        <a:t>Ensures secure authentication and role-based access control</a:t>
                      </a:r>
                    </a:p>
                  </a:txBody>
                  <a:tcPr marL="56511" marR="56511" marT="28255" marB="28255" anchor="ctr"/>
                </a:tc>
                <a:extLst>
                  <a:ext uri="{0D108BD9-81ED-4DB2-BD59-A6C34878D82A}">
                    <a16:rowId xmlns:a16="http://schemas.microsoft.com/office/drawing/2014/main" val="3234964857"/>
                  </a:ext>
                </a:extLst>
              </a:tr>
              <a:tr h="542891">
                <a:tc>
                  <a:txBody>
                    <a:bodyPr/>
                    <a:lstStyle/>
                    <a:p>
                      <a:pPr>
                        <a:buNone/>
                      </a:pPr>
                      <a:r>
                        <a:rPr lang="en-IN" sz="1600" b="1">
                          <a:latin typeface="Times New Roman" panose="02020603050405020304" pitchFamily="18" charset="0"/>
                          <a:cs typeface="Times New Roman" panose="02020603050405020304" pitchFamily="18" charset="0"/>
                        </a:rPr>
                        <a:t>PDS Security</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OTP / QR Code</a:t>
                      </a: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Prevents fraud and ensures secure ration distribution</a:t>
                      </a:r>
                    </a:p>
                  </a:txBody>
                  <a:tcPr marL="56511" marR="56511" marT="28255" marB="28255" anchor="ctr"/>
                </a:tc>
                <a:extLst>
                  <a:ext uri="{0D108BD9-81ED-4DB2-BD59-A6C34878D82A}">
                    <a16:rowId xmlns:a16="http://schemas.microsoft.com/office/drawing/2014/main" val="117577275"/>
                  </a:ext>
                </a:extLst>
              </a:tr>
              <a:tr h="542891">
                <a:tc>
                  <a:txBody>
                    <a:bodyPr/>
                    <a:lstStyle/>
                    <a:p>
                      <a:pPr>
                        <a:buNone/>
                      </a:pPr>
                      <a:r>
                        <a:rPr lang="en-IN" sz="1600" b="1">
                          <a:latin typeface="Times New Roman" panose="02020603050405020304" pitchFamily="18" charset="0"/>
                          <a:cs typeface="Times New Roman" panose="02020603050405020304" pitchFamily="18" charset="0"/>
                        </a:rPr>
                        <a:t>Version Control</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Git &amp; GitHub</a:t>
                      </a: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Facilitates collaboration and code management</a:t>
                      </a:r>
                    </a:p>
                  </a:txBody>
                  <a:tcPr marL="56511" marR="56511" marT="28255" marB="28255" anchor="ctr"/>
                </a:tc>
                <a:extLst>
                  <a:ext uri="{0D108BD9-81ED-4DB2-BD59-A6C34878D82A}">
                    <a16:rowId xmlns:a16="http://schemas.microsoft.com/office/drawing/2014/main" val="3580966102"/>
                  </a:ext>
                </a:extLst>
              </a:tr>
              <a:tr h="542891">
                <a:tc>
                  <a:txBody>
                    <a:bodyPr/>
                    <a:lstStyle/>
                    <a:p>
                      <a:pPr>
                        <a:buNone/>
                      </a:pPr>
                      <a:r>
                        <a:rPr lang="en-IN" sz="1600" b="1">
                          <a:latin typeface="Times New Roman" panose="02020603050405020304" pitchFamily="18" charset="0"/>
                          <a:cs typeface="Times New Roman" panose="02020603050405020304" pitchFamily="18" charset="0"/>
                        </a:rPr>
                        <a:t>Development Tools</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VS Code, Postman</a:t>
                      </a:r>
                    </a:p>
                  </a:txBody>
                  <a:tcPr marL="56511" marR="56511" marT="28255" marB="28255" anchor="ctr"/>
                </a:tc>
                <a:tc>
                  <a:txBody>
                    <a:bodyPr/>
                    <a:lstStyle/>
                    <a:p>
                      <a:pPr>
                        <a:buNone/>
                      </a:pPr>
                      <a:r>
                        <a:rPr lang="en-US" sz="1600">
                          <a:latin typeface="Times New Roman" panose="02020603050405020304" pitchFamily="18" charset="0"/>
                          <a:cs typeface="Times New Roman" panose="02020603050405020304" pitchFamily="18" charset="0"/>
                        </a:rPr>
                        <a:t>Efficient development and API testing</a:t>
                      </a:r>
                    </a:p>
                  </a:txBody>
                  <a:tcPr marL="56511" marR="56511" marT="28255" marB="28255" anchor="ctr"/>
                </a:tc>
                <a:extLst>
                  <a:ext uri="{0D108BD9-81ED-4DB2-BD59-A6C34878D82A}">
                    <a16:rowId xmlns:a16="http://schemas.microsoft.com/office/drawing/2014/main" val="1742315764"/>
                  </a:ext>
                </a:extLst>
              </a:tr>
              <a:tr h="542891">
                <a:tc>
                  <a:txBody>
                    <a:bodyPr/>
                    <a:lstStyle/>
                    <a:p>
                      <a:pPr>
                        <a:buNone/>
                      </a:pPr>
                      <a:r>
                        <a:rPr lang="en-IN" sz="1600" b="1">
                          <a:latin typeface="Times New Roman" panose="02020603050405020304" pitchFamily="18" charset="0"/>
                          <a:cs typeface="Times New Roman" panose="02020603050405020304" pitchFamily="18" charset="0"/>
                        </a:rPr>
                        <a:t>Deployment (Optional)</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AWS / Render / Vercel</a:t>
                      </a:r>
                    </a:p>
                  </a:txBody>
                  <a:tcPr marL="56511" marR="56511" marT="28255" marB="28255" anchor="ctr"/>
                </a:tc>
                <a:tc>
                  <a:txBody>
                    <a:bodyPr/>
                    <a:lstStyle/>
                    <a:p>
                      <a:pPr>
                        <a:buNone/>
                      </a:pPr>
                      <a:r>
                        <a:rPr lang="en-US" sz="1600" dirty="0">
                          <a:latin typeface="Times New Roman" panose="02020603050405020304" pitchFamily="18" charset="0"/>
                          <a:cs typeface="Times New Roman" panose="02020603050405020304" pitchFamily="18" charset="0"/>
                        </a:rPr>
                        <a:t>Supports scalable and cloud-based hosting</a:t>
                      </a:r>
                    </a:p>
                  </a:txBody>
                  <a:tcPr marL="56511" marR="56511" marT="28255" marB="28255" anchor="ctr"/>
                </a:tc>
                <a:extLst>
                  <a:ext uri="{0D108BD9-81ED-4DB2-BD59-A6C34878D82A}">
                    <a16:rowId xmlns:a16="http://schemas.microsoft.com/office/drawing/2014/main" val="3662779323"/>
                  </a:ext>
                </a:extLst>
              </a:tr>
            </a:tbl>
          </a:graphicData>
        </a:graphic>
      </p:graphicFrame>
    </p:spTree>
    <p:extLst>
      <p:ext uri="{BB962C8B-B14F-4D97-AF65-F5344CB8AC3E}">
        <p14:creationId xmlns:p14="http://schemas.microsoft.com/office/powerpoint/2010/main" val="2693847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DBA7-7975-786A-FB9B-475FE7556EC0}"/>
              </a:ext>
            </a:extLst>
          </p:cNvPr>
          <p:cNvSpPr>
            <a:spLocks noGrp="1"/>
          </p:cNvSpPr>
          <p:nvPr>
            <p:ph type="title"/>
          </p:nvPr>
        </p:nvSpPr>
        <p:spPr>
          <a:xfrm>
            <a:off x="2565400" y="0"/>
            <a:ext cx="10515600" cy="498475"/>
          </a:xfrm>
        </p:spPr>
        <p:txBody>
          <a:bodyPr>
            <a:normAutofit fontScale="90000"/>
          </a:bodyPr>
          <a:lstStyle/>
          <a:p>
            <a:r>
              <a:rPr lang="en-IN" sz="3200" dirty="0">
                <a:latin typeface="Times New Roman" panose="02020603050405020304" pitchFamily="18" charset="0"/>
                <a:cs typeface="Times New Roman" panose="02020603050405020304" pitchFamily="18" charset="0"/>
              </a:rPr>
              <a:t>Project Modules  &amp; Team Contribution</a:t>
            </a:r>
          </a:p>
        </p:txBody>
      </p:sp>
      <p:sp>
        <p:nvSpPr>
          <p:cNvPr id="4" name="Rectangle 1">
            <a:extLst>
              <a:ext uri="{FF2B5EF4-FFF2-40B4-BE49-F238E27FC236}">
                <a16:creationId xmlns:a16="http://schemas.microsoft.com/office/drawing/2014/main" id="{AF7F7154-F456-5F57-CDD6-6C4E8B9A242D}"/>
              </a:ext>
            </a:extLst>
          </p:cNvPr>
          <p:cNvSpPr>
            <a:spLocks noGrp="1" noChangeArrowheads="1"/>
          </p:cNvSpPr>
          <p:nvPr>
            <p:ph idx="1"/>
          </p:nvPr>
        </p:nvSpPr>
        <p:spPr bwMode="auto">
          <a:xfrm>
            <a:off x="307340" y="766732"/>
            <a:ext cx="1157732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Management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registration, login, authentication, and role-based access for Villagers, Sarpanch (Admin), and Shopkeeper.</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Issue Reporting &amp; Tracking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villagers to raise issues related to water, electricity, roads, etc., and enables the Sarpanch to update issue status and resolutions.</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 Request Management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Manages water, electricity, and house requests submitted by villagers and processed through approval or rejection by the Sarpanch.</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Fund Transparency &amp; Donations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government fund allocation and spending with proof documents, and manages donations contributed by villagers.</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PDS Slot Booking &amp; Verification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villagers to book ration slots and receive OTP/QR codes, which are verified by the Shopkeeper during item distribution.</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Announcements &amp; Notifications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the Sarpanch to publish announcements and notify villagers about important updates.</a:t>
            </a:r>
          </a:p>
        </p:txBody>
      </p:sp>
    </p:spTree>
    <p:extLst>
      <p:ext uri="{BB962C8B-B14F-4D97-AF65-F5344CB8AC3E}">
        <p14:creationId xmlns:p14="http://schemas.microsoft.com/office/powerpoint/2010/main" val="3841191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E04E4-B0A3-8C0F-6A46-45C11F7FCD36}"/>
              </a:ext>
            </a:extLst>
          </p:cNvPr>
          <p:cNvSpPr>
            <a:spLocks noGrp="1"/>
          </p:cNvSpPr>
          <p:nvPr>
            <p:ph type="title"/>
          </p:nvPr>
        </p:nvSpPr>
        <p:spPr>
          <a:xfrm>
            <a:off x="1676400" y="90805"/>
            <a:ext cx="10515600" cy="1325563"/>
          </a:xfrm>
        </p:spPr>
        <p:txBody>
          <a:bodyPr>
            <a:normAutofit/>
          </a:bodyPr>
          <a:lstStyle/>
          <a:p>
            <a:r>
              <a:rPr lang="en-IN" sz="4000" dirty="0">
                <a:latin typeface="Times New Roman" panose="02020603050405020304" pitchFamily="18" charset="0"/>
                <a:cs typeface="Times New Roman" panose="02020603050405020304" pitchFamily="18" charset="0"/>
              </a:rPr>
              <a:t>Project Modules &amp; Team Contribution</a:t>
            </a:r>
          </a:p>
        </p:txBody>
      </p:sp>
      <p:sp>
        <p:nvSpPr>
          <p:cNvPr id="4" name="Rectangle 1">
            <a:extLst>
              <a:ext uri="{FF2B5EF4-FFF2-40B4-BE49-F238E27FC236}">
                <a16:creationId xmlns:a16="http://schemas.microsoft.com/office/drawing/2014/main" id="{616CC7B9-4754-5DA3-CADB-63CE08CEA7BD}"/>
              </a:ext>
            </a:extLst>
          </p:cNvPr>
          <p:cNvSpPr>
            <a:spLocks noGrp="1" noChangeArrowheads="1"/>
          </p:cNvSpPr>
          <p:nvPr>
            <p:ph idx="1"/>
          </p:nvPr>
        </p:nvSpPr>
        <p:spPr bwMode="auto">
          <a:xfrm>
            <a:off x="706120" y="1158231"/>
            <a:ext cx="105156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Member 1 – Design &amp; Implementation Focus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Contributed to UI design and web page development while also participating in backend API integration, database interactions, and testing of frontend–backend communication.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Member 2 – Backend &amp; System Logic Focus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Focused primarily on backend API development and database operations, while also contributing to frontend integration, debugging, and functional testing of the application.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Member 3 – Testing &amp; Documentation Focus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Led testing activities and documentation preparation, while also contributing to frontend enhancements, backend validation, and database verification.</a:t>
            </a:r>
          </a:p>
        </p:txBody>
      </p:sp>
    </p:spTree>
    <p:extLst>
      <p:ext uri="{BB962C8B-B14F-4D97-AF65-F5344CB8AC3E}">
        <p14:creationId xmlns:p14="http://schemas.microsoft.com/office/powerpoint/2010/main" val="2076298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ED199-E188-1F49-7C4C-F1800860ADF8}"/>
              </a:ext>
            </a:extLst>
          </p:cNvPr>
          <p:cNvSpPr>
            <a:spLocks noGrp="1"/>
          </p:cNvSpPr>
          <p:nvPr>
            <p:ph type="title"/>
          </p:nvPr>
        </p:nvSpPr>
        <p:spPr>
          <a:xfrm>
            <a:off x="2260600" y="0"/>
            <a:ext cx="10515600" cy="772795"/>
          </a:xfrm>
        </p:spPr>
        <p:txBody>
          <a:bodyPr>
            <a:normAutofit/>
          </a:bodyPr>
          <a:lstStyle/>
          <a:p>
            <a:r>
              <a:rPr lang="en-IN" sz="3600" dirty="0">
                <a:latin typeface="Times New Roman" panose="02020603050405020304" pitchFamily="18" charset="0"/>
                <a:cs typeface="Times New Roman" panose="02020603050405020304" pitchFamily="18" charset="0"/>
              </a:rPr>
              <a:t>Expected Outcomes &amp; Future Work</a:t>
            </a:r>
          </a:p>
        </p:txBody>
      </p:sp>
      <p:sp>
        <p:nvSpPr>
          <p:cNvPr id="3" name="Content Placeholder 2">
            <a:extLst>
              <a:ext uri="{FF2B5EF4-FFF2-40B4-BE49-F238E27FC236}">
                <a16:creationId xmlns:a16="http://schemas.microsoft.com/office/drawing/2014/main" id="{7768F9D4-6BCF-EEEF-E022-E06A037450F5}"/>
              </a:ext>
            </a:extLst>
          </p:cNvPr>
          <p:cNvSpPr>
            <a:spLocks noGrp="1"/>
          </p:cNvSpPr>
          <p:nvPr>
            <p:ph idx="1"/>
          </p:nvPr>
        </p:nvSpPr>
        <p:spPr>
          <a:xfrm>
            <a:off x="1132840" y="772794"/>
            <a:ext cx="10515600" cy="5282565"/>
          </a:xfrm>
        </p:spPr>
        <p:txBody>
          <a:bodyPr>
            <a:noAutofit/>
          </a:bodyPr>
          <a:lstStyle/>
          <a:p>
            <a:pPr marL="0" indent="0">
              <a:buNone/>
            </a:pPr>
            <a:r>
              <a:rPr lang="en-US" sz="2000" b="1" dirty="0"/>
              <a:t>Expected Outcomes</a:t>
            </a:r>
          </a:p>
          <a:p>
            <a:pPr lvl="1"/>
            <a:r>
              <a:rPr lang="en-US" sz="2000" dirty="0"/>
              <a:t>Improved </a:t>
            </a:r>
            <a:r>
              <a:rPr lang="en-US" sz="2000" b="1" dirty="0"/>
              <a:t>transparency in village fund utilization</a:t>
            </a:r>
            <a:r>
              <a:rPr lang="en-US" sz="2000" dirty="0"/>
              <a:t> through digital display of government spending with proof documents.</a:t>
            </a:r>
          </a:p>
          <a:p>
            <a:pPr lvl="1"/>
            <a:r>
              <a:rPr lang="en-US" sz="2000" dirty="0"/>
              <a:t>Efficient </a:t>
            </a:r>
            <a:r>
              <a:rPr lang="en-US" sz="2000" b="1" dirty="0"/>
              <a:t>issue reporting and tracking system</a:t>
            </a:r>
            <a:r>
              <a:rPr lang="en-US" sz="2000" dirty="0"/>
              <a:t>, enabling timely resolution of village-level problems.</a:t>
            </a:r>
          </a:p>
          <a:p>
            <a:pPr lvl="1"/>
            <a:r>
              <a:rPr lang="en-US" sz="2000" dirty="0"/>
              <a:t>Increased </a:t>
            </a:r>
            <a:r>
              <a:rPr lang="en-US" sz="2000" b="1" dirty="0"/>
              <a:t>citizen participation and trust</a:t>
            </a:r>
            <a:r>
              <a:rPr lang="en-US" sz="2000" dirty="0"/>
              <a:t> by providing a unified platform for services, donations, and announcements.</a:t>
            </a:r>
          </a:p>
          <a:p>
            <a:pPr lvl="1"/>
            <a:r>
              <a:rPr lang="en-US" sz="2000" dirty="0"/>
              <a:t>Secure and streamlined </a:t>
            </a:r>
            <a:r>
              <a:rPr lang="en-US" sz="2000" b="1" dirty="0"/>
              <a:t>PDS slot booking and verification</a:t>
            </a:r>
            <a:r>
              <a:rPr lang="en-US" sz="2000" dirty="0"/>
              <a:t> using OTP/QR codes.</a:t>
            </a:r>
          </a:p>
          <a:p>
            <a:pPr lvl="1"/>
            <a:r>
              <a:rPr lang="en-US" sz="2000" dirty="0"/>
              <a:t>Reduction in </a:t>
            </a:r>
            <a:r>
              <a:rPr lang="en-US" sz="2000" b="1" dirty="0"/>
              <a:t>manual processes, delays, and data inconsistencies</a:t>
            </a:r>
            <a:r>
              <a:rPr lang="en-US" sz="2000" dirty="0"/>
              <a:t> in village administration.</a:t>
            </a:r>
            <a:br>
              <a:rPr lang="en-US" sz="1600" dirty="0"/>
            </a:br>
            <a:endParaRPr lang="en-US" sz="1600" dirty="0"/>
          </a:p>
          <a:p>
            <a:pPr marL="0" indent="0">
              <a:buNone/>
            </a:pPr>
            <a:r>
              <a:rPr lang="en-US" sz="2000" b="1" dirty="0"/>
              <a:t>Future Work</a:t>
            </a:r>
          </a:p>
          <a:p>
            <a:pPr lvl="1"/>
            <a:r>
              <a:rPr lang="en-US" sz="2000" dirty="0"/>
              <a:t>Development of a </a:t>
            </a:r>
            <a:r>
              <a:rPr lang="en-US" sz="2000" b="1" dirty="0"/>
              <a:t>mobile application</a:t>
            </a:r>
            <a:r>
              <a:rPr lang="en-US" sz="2000" dirty="0"/>
              <a:t> to improve accessibility for villagers.</a:t>
            </a:r>
          </a:p>
          <a:p>
            <a:pPr lvl="1"/>
            <a:r>
              <a:rPr lang="en-US" sz="2000" dirty="0"/>
              <a:t>Integration with </a:t>
            </a:r>
            <a:r>
              <a:rPr lang="en-US" sz="2000" b="1" dirty="0"/>
              <a:t>government portals</a:t>
            </a:r>
            <a:r>
              <a:rPr lang="en-US" sz="2000" dirty="0"/>
              <a:t> for automated fund and scheme updates.</a:t>
            </a:r>
          </a:p>
          <a:p>
            <a:pPr lvl="1"/>
            <a:r>
              <a:rPr lang="en-US" sz="2000" dirty="0"/>
              <a:t>Extension of the system to support </a:t>
            </a:r>
            <a:r>
              <a:rPr lang="en-US" sz="2000" b="1" dirty="0"/>
              <a:t>multiple villages or panchayats</a:t>
            </a:r>
            <a:r>
              <a:rPr lang="en-US" sz="2000" dirty="0"/>
              <a:t>.</a:t>
            </a:r>
          </a:p>
          <a:p>
            <a:pPr lvl="1"/>
            <a:r>
              <a:rPr lang="en-US" sz="2000" dirty="0"/>
              <a:t>Advanced </a:t>
            </a:r>
            <a:r>
              <a:rPr lang="en-US" sz="2000" b="1" dirty="0"/>
              <a:t>analytics and reporting dashboards</a:t>
            </a:r>
            <a:r>
              <a:rPr lang="en-US" sz="2000" dirty="0"/>
              <a:t> for decision-making.</a:t>
            </a:r>
          </a:p>
          <a:p>
            <a:pPr lvl="1"/>
            <a:r>
              <a:rPr lang="en-US" sz="2000" dirty="0"/>
              <a:t>Incorporation of </a:t>
            </a:r>
            <a:r>
              <a:rPr lang="en-US" sz="2000" b="1" dirty="0"/>
              <a:t>AI-based insights</a:t>
            </a:r>
            <a:r>
              <a:rPr lang="en-US" sz="2000" dirty="0"/>
              <a:t> for issue prioritization and trend analysis.</a:t>
            </a:r>
          </a:p>
        </p:txBody>
      </p:sp>
    </p:spTree>
    <p:extLst>
      <p:ext uri="{BB962C8B-B14F-4D97-AF65-F5344CB8AC3E}">
        <p14:creationId xmlns:p14="http://schemas.microsoft.com/office/powerpoint/2010/main" val="32539379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hank you white Images - Free Download on Freepik">
            <a:extLst>
              <a:ext uri="{FF2B5EF4-FFF2-40B4-BE49-F238E27FC236}">
                <a16:creationId xmlns:a16="http://schemas.microsoft.com/office/drawing/2014/main" id="{0AAA6948-6EAC-B6B3-17AE-A06EEC364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822960"/>
            <a:ext cx="7406639" cy="4155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839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1911</Words>
  <Application>Microsoft Office PowerPoint</Application>
  <PresentationFormat>Widescreen</PresentationFormat>
  <Paragraphs>174</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  Voice Of Village : Fund Transparency and Issue Reporting System</vt:lpstr>
      <vt:lpstr>Introduction</vt:lpstr>
      <vt:lpstr>Motivation</vt:lpstr>
      <vt:lpstr>Problem Statement</vt:lpstr>
      <vt:lpstr>Problem Statement</vt:lpstr>
      <vt:lpstr>Problem Statement</vt:lpstr>
      <vt:lpstr>Existing Systems &amp; Limitations</vt:lpstr>
      <vt:lpstr>Literature Survey</vt:lpstr>
      <vt:lpstr>Literature Survey</vt:lpstr>
      <vt:lpstr>Literature Survey</vt:lpstr>
      <vt:lpstr>Literature Survey</vt:lpstr>
      <vt:lpstr>Literature Survey</vt:lpstr>
      <vt:lpstr>Literature Survey</vt:lpstr>
      <vt:lpstr>Proposed System Overview</vt:lpstr>
      <vt:lpstr>System Architecture</vt:lpstr>
      <vt:lpstr>Detailed Design Diagrams</vt:lpstr>
      <vt:lpstr>Detailed Design Diagrams</vt:lpstr>
      <vt:lpstr>Data Design Or WorkFlow</vt:lpstr>
      <vt:lpstr>Data Design Or WorkFlow</vt:lpstr>
      <vt:lpstr>Technology stack &amp; Justification</vt:lpstr>
      <vt:lpstr>Project Modules  &amp; Team Contribution</vt:lpstr>
      <vt:lpstr>Project Modules &amp; Team Contribution</vt:lpstr>
      <vt:lpstr>Expected Outcomes &amp; 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Nagaraju Yadav</dc:creator>
  <cp:lastModifiedBy>Nagaraju Yadav</cp:lastModifiedBy>
  <cp:revision>1</cp:revision>
  <dcterms:created xsi:type="dcterms:W3CDTF">2026-01-28T12:04:36Z</dcterms:created>
  <dcterms:modified xsi:type="dcterms:W3CDTF">2026-01-28T13:32:40Z</dcterms:modified>
</cp:coreProperties>
</file>