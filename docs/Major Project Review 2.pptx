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74" r:id="rId2"/>
    <p:sldId id="277" r:id="rId3"/>
    <p:sldId id="266" r:id="rId4"/>
    <p:sldId id="276" r:id="rId5"/>
    <p:sldId id="268" r:id="rId6"/>
    <p:sldId id="289" r:id="rId7"/>
    <p:sldId id="290" r:id="rId8"/>
    <p:sldId id="293" r:id="rId9"/>
    <p:sldId id="281" r:id="rId10"/>
    <p:sldId id="295" r:id="rId11"/>
    <p:sldId id="301" r:id="rId12"/>
    <p:sldId id="294" r:id="rId13"/>
    <p:sldId id="296" r:id="rId14"/>
    <p:sldId id="297" r:id="rId15"/>
    <p:sldId id="299" r:id="rId16"/>
    <p:sldId id="298" r:id="rId17"/>
    <p:sldId id="300"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26A7E1-8CFD-48BA-9746-98CE62C9846D}" v="46" dt="2026-03-06T14:41:42.2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108"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onteru Satwik Reddy" userId="3839d9462a60d22d" providerId="LiveId" clId="{5A9E0697-D528-4E2C-9697-947294E55980}"/>
    <pc:docChg chg="undo redo custSel delSld modSld">
      <pc:chgData name="vonteru Satwik Reddy" userId="3839d9462a60d22d" providerId="LiveId" clId="{5A9E0697-D528-4E2C-9697-947294E55980}" dt="2026-03-06T14:45:39.826" v="473" actId="14100"/>
      <pc:docMkLst>
        <pc:docMk/>
      </pc:docMkLst>
      <pc:sldChg chg="modSp mod">
        <pc:chgData name="vonteru Satwik Reddy" userId="3839d9462a60d22d" providerId="LiveId" clId="{5A9E0697-D528-4E2C-9697-947294E55980}" dt="2026-03-06T13:56:49.004" v="127" actId="123"/>
        <pc:sldMkLst>
          <pc:docMk/>
          <pc:sldMk cId="2483046206" sldId="266"/>
        </pc:sldMkLst>
        <pc:spChg chg="mod">
          <ac:chgData name="vonteru Satwik Reddy" userId="3839d9462a60d22d" providerId="LiveId" clId="{5A9E0697-D528-4E2C-9697-947294E55980}" dt="2026-03-06T13:56:49.004" v="127" actId="123"/>
          <ac:spMkLst>
            <pc:docMk/>
            <pc:sldMk cId="2483046206" sldId="266"/>
            <ac:spMk id="5" creationId="{00000000-0000-0000-0000-000000000000}"/>
          </ac:spMkLst>
        </pc:spChg>
      </pc:sldChg>
      <pc:sldChg chg="addSp modSp mod">
        <pc:chgData name="vonteru Satwik Reddy" userId="3839d9462a60d22d" providerId="LiveId" clId="{5A9E0697-D528-4E2C-9697-947294E55980}" dt="2026-03-06T14:45:13.390" v="470" actId="2711"/>
        <pc:sldMkLst>
          <pc:docMk/>
          <pc:sldMk cId="2544043531" sldId="268"/>
        </pc:sldMkLst>
        <pc:spChg chg="add">
          <ac:chgData name="vonteru Satwik Reddy" userId="3839d9462a60d22d" providerId="LiveId" clId="{5A9E0697-D528-4E2C-9697-947294E55980}" dt="2026-03-06T13:59:39.286" v="138"/>
          <ac:spMkLst>
            <pc:docMk/>
            <pc:sldMk cId="2544043531" sldId="268"/>
            <ac:spMk id="2" creationId="{BF3E1CB3-F962-0481-1172-073FED1E86B4}"/>
          </ac:spMkLst>
        </pc:spChg>
        <pc:spChg chg="add">
          <ac:chgData name="vonteru Satwik Reddy" userId="3839d9462a60d22d" providerId="LiveId" clId="{5A9E0697-D528-4E2C-9697-947294E55980}" dt="2026-03-06T13:59:50.255" v="142"/>
          <ac:spMkLst>
            <pc:docMk/>
            <pc:sldMk cId="2544043531" sldId="268"/>
            <ac:spMk id="3" creationId="{C72D8DBF-F6EB-52BF-5C2C-2CADAF3F2A8D}"/>
          </ac:spMkLst>
        </pc:spChg>
        <pc:spChg chg="mod">
          <ac:chgData name="vonteru Satwik Reddy" userId="3839d9462a60d22d" providerId="LiveId" clId="{5A9E0697-D528-4E2C-9697-947294E55980}" dt="2026-03-06T14:45:13.390" v="470" actId="2711"/>
          <ac:spMkLst>
            <pc:docMk/>
            <pc:sldMk cId="2544043531" sldId="268"/>
            <ac:spMk id="5" creationId="{00000000-0000-0000-0000-000000000000}"/>
          </ac:spMkLst>
        </pc:spChg>
      </pc:sldChg>
      <pc:sldChg chg="modSp mod">
        <pc:chgData name="vonteru Satwik Reddy" userId="3839d9462a60d22d" providerId="LiveId" clId="{5A9E0697-D528-4E2C-9697-947294E55980}" dt="2026-03-06T13:47:36.101" v="119" actId="20577"/>
        <pc:sldMkLst>
          <pc:docMk/>
          <pc:sldMk cId="2319120778" sldId="274"/>
        </pc:sldMkLst>
        <pc:spChg chg="mod">
          <ac:chgData name="vonteru Satwik Reddy" userId="3839d9462a60d22d" providerId="LiveId" clId="{5A9E0697-D528-4E2C-9697-947294E55980}" dt="2026-03-06T13:46:31.487" v="3" actId="2711"/>
          <ac:spMkLst>
            <pc:docMk/>
            <pc:sldMk cId="2319120778" sldId="274"/>
            <ac:spMk id="2" creationId="{00000000-0000-0000-0000-000000000000}"/>
          </ac:spMkLst>
        </pc:spChg>
        <pc:spChg chg="mod">
          <ac:chgData name="vonteru Satwik Reddy" userId="3839d9462a60d22d" providerId="LiveId" clId="{5A9E0697-D528-4E2C-9697-947294E55980}" dt="2026-03-06T13:47:36.101" v="119" actId="20577"/>
          <ac:spMkLst>
            <pc:docMk/>
            <pc:sldMk cId="2319120778" sldId="274"/>
            <ac:spMk id="3" creationId="{3ACB40B1-4528-3AD8-3099-CDA792CECCC1}"/>
          </ac:spMkLst>
        </pc:spChg>
        <pc:spChg chg="mod">
          <ac:chgData name="vonteru Satwik Reddy" userId="3839d9462a60d22d" providerId="LiveId" clId="{5A9E0697-D528-4E2C-9697-947294E55980}" dt="2026-03-06T13:46:44.542" v="29" actId="20577"/>
          <ac:spMkLst>
            <pc:docMk/>
            <pc:sldMk cId="2319120778" sldId="274"/>
            <ac:spMk id="6" creationId="{BC5E65BF-349E-353A-B9D2-0E09966CFEBB}"/>
          </ac:spMkLst>
        </pc:spChg>
      </pc:sldChg>
      <pc:sldChg chg="addSp delSp modSp mod">
        <pc:chgData name="vonteru Satwik Reddy" userId="3839d9462a60d22d" providerId="LiveId" clId="{5A9E0697-D528-4E2C-9697-947294E55980}" dt="2026-03-06T13:58:22.264" v="137" actId="1076"/>
        <pc:sldMkLst>
          <pc:docMk/>
          <pc:sldMk cId="2207042658" sldId="276"/>
        </pc:sldMkLst>
        <pc:picChg chg="add del mod">
          <ac:chgData name="vonteru Satwik Reddy" userId="3839d9462a60d22d" providerId="LiveId" clId="{5A9E0697-D528-4E2C-9697-947294E55980}" dt="2026-03-06T13:58:22.264" v="137" actId="1076"/>
          <ac:picMkLst>
            <pc:docMk/>
            <pc:sldMk cId="2207042658" sldId="276"/>
            <ac:picMk id="2" creationId="{C2FA227A-2E98-CC36-DF2F-6C2D7B1BD158}"/>
          </ac:picMkLst>
        </pc:picChg>
        <pc:picChg chg="del">
          <ac:chgData name="vonteru Satwik Reddy" userId="3839d9462a60d22d" providerId="LiveId" clId="{5A9E0697-D528-4E2C-9697-947294E55980}" dt="2026-03-06T13:58:08.832" v="132" actId="21"/>
          <ac:picMkLst>
            <pc:docMk/>
            <pc:sldMk cId="2207042658" sldId="276"/>
            <ac:picMk id="3" creationId="{C3CAE688-5A35-4D2D-0B1A-11C56593905A}"/>
          </ac:picMkLst>
        </pc:picChg>
      </pc:sldChg>
      <pc:sldChg chg="modSp mod">
        <pc:chgData name="vonteru Satwik Reddy" userId="3839d9462a60d22d" providerId="LiveId" clId="{5A9E0697-D528-4E2C-9697-947294E55980}" dt="2026-03-06T14:44:43.431" v="466" actId="2711"/>
        <pc:sldMkLst>
          <pc:docMk/>
          <pc:sldMk cId="4192002074" sldId="277"/>
        </pc:sldMkLst>
        <pc:spChg chg="mod">
          <ac:chgData name="vonteru Satwik Reddy" userId="3839d9462a60d22d" providerId="LiveId" clId="{5A9E0697-D528-4E2C-9697-947294E55980}" dt="2026-03-06T14:44:43.431" v="466" actId="2711"/>
          <ac:spMkLst>
            <pc:docMk/>
            <pc:sldMk cId="4192002074" sldId="277"/>
            <ac:spMk id="5" creationId="{00000000-0000-0000-0000-000000000000}"/>
          </ac:spMkLst>
        </pc:spChg>
      </pc:sldChg>
      <pc:sldChg chg="modSp mod">
        <pc:chgData name="vonteru Satwik Reddy" userId="3839d9462a60d22d" providerId="LiveId" clId="{5A9E0697-D528-4E2C-9697-947294E55980}" dt="2026-03-06T14:44:25.645" v="465" actId="113"/>
        <pc:sldMkLst>
          <pc:docMk/>
          <pc:sldMk cId="1898349221" sldId="281"/>
        </pc:sldMkLst>
        <pc:spChg chg="mod">
          <ac:chgData name="vonteru Satwik Reddy" userId="3839d9462a60d22d" providerId="LiveId" clId="{5A9E0697-D528-4E2C-9697-947294E55980}" dt="2026-03-06T14:44:25.645" v="465" actId="113"/>
          <ac:spMkLst>
            <pc:docMk/>
            <pc:sldMk cId="1898349221" sldId="281"/>
            <ac:spMk id="5" creationId="{37985639-7B5F-1827-38F4-040948A99FDF}"/>
          </ac:spMkLst>
        </pc:spChg>
      </pc:sldChg>
      <pc:sldChg chg="modSp mod">
        <pc:chgData name="vonteru Satwik Reddy" userId="3839d9462a60d22d" providerId="LiveId" clId="{5A9E0697-D528-4E2C-9697-947294E55980}" dt="2026-03-06T14:45:25.627" v="472" actId="2711"/>
        <pc:sldMkLst>
          <pc:docMk/>
          <pc:sldMk cId="2609233472" sldId="289"/>
        </pc:sldMkLst>
        <pc:spChg chg="mod">
          <ac:chgData name="vonteru Satwik Reddy" userId="3839d9462a60d22d" providerId="LiveId" clId="{5A9E0697-D528-4E2C-9697-947294E55980}" dt="2026-03-06T14:45:25.627" v="472" actId="2711"/>
          <ac:spMkLst>
            <pc:docMk/>
            <pc:sldMk cId="2609233472" sldId="289"/>
            <ac:spMk id="5" creationId="{5B1FAF80-7527-0EC2-5C44-C3477334E0DF}"/>
          </ac:spMkLst>
        </pc:spChg>
      </pc:sldChg>
      <pc:sldChg chg="modSp mod">
        <pc:chgData name="vonteru Satwik Reddy" userId="3839d9462a60d22d" providerId="LiveId" clId="{5A9E0697-D528-4E2C-9697-947294E55980}" dt="2026-03-06T14:45:39.826" v="473" actId="14100"/>
        <pc:sldMkLst>
          <pc:docMk/>
          <pc:sldMk cId="4021843746" sldId="290"/>
        </pc:sldMkLst>
        <pc:spChg chg="mod">
          <ac:chgData name="vonteru Satwik Reddy" userId="3839d9462a60d22d" providerId="LiveId" clId="{5A9E0697-D528-4E2C-9697-947294E55980}" dt="2026-03-06T14:45:39.826" v="473" actId="14100"/>
          <ac:spMkLst>
            <pc:docMk/>
            <pc:sldMk cId="4021843746" sldId="290"/>
            <ac:spMk id="5" creationId="{51854909-6878-59F5-531B-7D38EB5D5423}"/>
          </ac:spMkLst>
        </pc:spChg>
      </pc:sldChg>
      <pc:sldChg chg="del">
        <pc:chgData name="vonteru Satwik Reddy" userId="3839d9462a60d22d" providerId="LiveId" clId="{5A9E0697-D528-4E2C-9697-947294E55980}" dt="2026-03-06T13:56:57.350" v="128" actId="2696"/>
        <pc:sldMkLst>
          <pc:docMk/>
          <pc:sldMk cId="2668194701" sldId="292"/>
        </pc:sldMkLst>
      </pc:sldChg>
      <pc:sldChg chg="modSp mod">
        <pc:chgData name="vonteru Satwik Reddy" userId="3839d9462a60d22d" providerId="LiveId" clId="{5A9E0697-D528-4E2C-9697-947294E55980}" dt="2026-03-06T14:11:54.344" v="363" actId="2711"/>
        <pc:sldMkLst>
          <pc:docMk/>
          <pc:sldMk cId="976976143" sldId="293"/>
        </pc:sldMkLst>
        <pc:spChg chg="mod">
          <ac:chgData name="vonteru Satwik Reddy" userId="3839d9462a60d22d" providerId="LiveId" clId="{5A9E0697-D528-4E2C-9697-947294E55980}" dt="2026-03-06T14:11:54.344" v="363" actId="2711"/>
          <ac:spMkLst>
            <pc:docMk/>
            <pc:sldMk cId="976976143" sldId="293"/>
            <ac:spMk id="3" creationId="{CF47257A-46BC-2787-9707-6943F5B99A97}"/>
          </ac:spMkLst>
        </pc:spChg>
        <pc:spChg chg="mod">
          <ac:chgData name="vonteru Satwik Reddy" userId="3839d9462a60d22d" providerId="LiveId" clId="{5A9E0697-D528-4E2C-9697-947294E55980}" dt="2026-03-06T14:11:02.237" v="359" actId="255"/>
          <ac:spMkLst>
            <pc:docMk/>
            <pc:sldMk cId="976976143" sldId="293"/>
            <ac:spMk id="5" creationId="{51E8A31A-5F23-5719-8C07-6F71DD04CC0C}"/>
          </ac:spMkLst>
        </pc:spChg>
      </pc:sldChg>
      <pc:sldChg chg="modSp mod">
        <pc:chgData name="vonteru Satwik Reddy" userId="3839d9462a60d22d" providerId="LiveId" clId="{5A9E0697-D528-4E2C-9697-947294E55980}" dt="2026-03-06T14:32:19.412" v="395" actId="20577"/>
        <pc:sldMkLst>
          <pc:docMk/>
          <pc:sldMk cId="2868624357" sldId="294"/>
        </pc:sldMkLst>
        <pc:spChg chg="mod">
          <ac:chgData name="vonteru Satwik Reddy" userId="3839d9462a60d22d" providerId="LiveId" clId="{5A9E0697-D528-4E2C-9697-947294E55980}" dt="2026-03-06T14:32:19.412" v="395" actId="20577"/>
          <ac:spMkLst>
            <pc:docMk/>
            <pc:sldMk cId="2868624357" sldId="294"/>
            <ac:spMk id="3" creationId="{9E60139F-A04E-A995-3D6E-7A8C9926CCF2}"/>
          </ac:spMkLst>
        </pc:spChg>
        <pc:spChg chg="mod">
          <ac:chgData name="vonteru Satwik Reddy" userId="3839d9462a60d22d" providerId="LiveId" clId="{5A9E0697-D528-4E2C-9697-947294E55980}" dt="2026-03-06T14:31:24.448" v="392" actId="123"/>
          <ac:spMkLst>
            <pc:docMk/>
            <pc:sldMk cId="2868624357" sldId="294"/>
            <ac:spMk id="5" creationId="{912C34A4-30DC-BB28-624F-BF72C8F35ECD}"/>
          </ac:spMkLst>
        </pc:spChg>
      </pc:sldChg>
      <pc:sldChg chg="modSp mod">
        <pc:chgData name="vonteru Satwik Reddy" userId="3839d9462a60d22d" providerId="LiveId" clId="{5A9E0697-D528-4E2C-9697-947294E55980}" dt="2026-03-06T14:43:51.161" v="454" actId="12"/>
        <pc:sldMkLst>
          <pc:docMk/>
          <pc:sldMk cId="2309635926" sldId="295"/>
        </pc:sldMkLst>
        <pc:spChg chg="mod">
          <ac:chgData name="vonteru Satwik Reddy" userId="3839d9462a60d22d" providerId="LiveId" clId="{5A9E0697-D528-4E2C-9697-947294E55980}" dt="2026-03-06T14:43:51.161" v="454" actId="12"/>
          <ac:spMkLst>
            <pc:docMk/>
            <pc:sldMk cId="2309635926" sldId="295"/>
            <ac:spMk id="5" creationId="{52D4656D-B32A-60AA-411C-B5B2D206EA5A}"/>
          </ac:spMkLst>
        </pc:spChg>
      </pc:sldChg>
      <pc:sldChg chg="modSp mod">
        <pc:chgData name="vonteru Satwik Reddy" userId="3839d9462a60d22d" providerId="LiveId" clId="{5A9E0697-D528-4E2C-9697-947294E55980}" dt="2026-03-06T14:42:44.375" v="444" actId="12"/>
        <pc:sldMkLst>
          <pc:docMk/>
          <pc:sldMk cId="1729293208" sldId="296"/>
        </pc:sldMkLst>
        <pc:spChg chg="mod">
          <ac:chgData name="vonteru Satwik Reddy" userId="3839d9462a60d22d" providerId="LiveId" clId="{5A9E0697-D528-4E2C-9697-947294E55980}" dt="2026-03-06T14:42:44.375" v="444" actId="12"/>
          <ac:spMkLst>
            <pc:docMk/>
            <pc:sldMk cId="1729293208" sldId="296"/>
            <ac:spMk id="5" creationId="{958E3DBB-B5BE-9325-B28B-5741F42CC30A}"/>
          </ac:spMkLst>
        </pc:spChg>
      </pc:sldChg>
      <pc:sldChg chg="modSp mod">
        <pc:chgData name="vonteru Satwik Reddy" userId="3839d9462a60d22d" providerId="LiveId" clId="{5A9E0697-D528-4E2C-9697-947294E55980}" dt="2026-03-06T14:43:01.567" v="446" actId="12"/>
        <pc:sldMkLst>
          <pc:docMk/>
          <pc:sldMk cId="1880871182" sldId="297"/>
        </pc:sldMkLst>
        <pc:spChg chg="mod">
          <ac:chgData name="vonteru Satwik Reddy" userId="3839d9462a60d22d" providerId="LiveId" clId="{5A9E0697-D528-4E2C-9697-947294E55980}" dt="2026-03-06T14:43:01.567" v="446" actId="12"/>
          <ac:spMkLst>
            <pc:docMk/>
            <pc:sldMk cId="1880871182" sldId="297"/>
            <ac:spMk id="5" creationId="{719F92EF-3206-E7EF-4693-D11BB19936D3}"/>
          </ac:spMkLst>
        </pc:spChg>
      </pc:sldChg>
      <pc:sldChg chg="modSp mod">
        <pc:chgData name="vonteru Satwik Reddy" userId="3839d9462a60d22d" providerId="LiveId" clId="{5A9E0697-D528-4E2C-9697-947294E55980}" dt="2026-03-06T14:43:29.763" v="451" actId="12"/>
        <pc:sldMkLst>
          <pc:docMk/>
          <pc:sldMk cId="2670874751" sldId="298"/>
        </pc:sldMkLst>
        <pc:spChg chg="mod">
          <ac:chgData name="vonteru Satwik Reddy" userId="3839d9462a60d22d" providerId="LiveId" clId="{5A9E0697-D528-4E2C-9697-947294E55980}" dt="2026-03-06T14:43:29.763" v="451" actId="12"/>
          <ac:spMkLst>
            <pc:docMk/>
            <pc:sldMk cId="2670874751" sldId="298"/>
            <ac:spMk id="5" creationId="{4552BFDB-2B8E-F3E1-A72C-C774D66C2AE6}"/>
          </ac:spMkLst>
        </pc:spChg>
      </pc:sldChg>
      <pc:sldChg chg="modSp mod">
        <pc:chgData name="vonteru Satwik Reddy" userId="3839d9462a60d22d" providerId="LiveId" clId="{5A9E0697-D528-4E2C-9697-947294E55980}" dt="2026-03-06T14:43:15.144" v="448" actId="12"/>
        <pc:sldMkLst>
          <pc:docMk/>
          <pc:sldMk cId="4048169814" sldId="299"/>
        </pc:sldMkLst>
        <pc:spChg chg="mod">
          <ac:chgData name="vonteru Satwik Reddy" userId="3839d9462a60d22d" providerId="LiveId" clId="{5A9E0697-D528-4E2C-9697-947294E55980}" dt="2026-03-06T14:43:15.144" v="448" actId="12"/>
          <ac:spMkLst>
            <pc:docMk/>
            <pc:sldMk cId="4048169814" sldId="299"/>
            <ac:spMk id="5" creationId="{193D1329-3577-9285-3526-E5632F9BBDD0}"/>
          </ac:spMkLst>
        </pc:spChg>
      </pc:sldChg>
      <pc:sldChg chg="modSp mod">
        <pc:chgData name="vonteru Satwik Reddy" userId="3839d9462a60d22d" providerId="LiveId" clId="{5A9E0697-D528-4E2C-9697-947294E55980}" dt="2026-03-06T14:43:39.616" v="453" actId="12"/>
        <pc:sldMkLst>
          <pc:docMk/>
          <pc:sldMk cId="1997692359" sldId="300"/>
        </pc:sldMkLst>
        <pc:spChg chg="mod">
          <ac:chgData name="vonteru Satwik Reddy" userId="3839d9462a60d22d" providerId="LiveId" clId="{5A9E0697-D528-4E2C-9697-947294E55980}" dt="2026-03-06T14:43:39.616" v="453" actId="12"/>
          <ac:spMkLst>
            <pc:docMk/>
            <pc:sldMk cId="1997692359" sldId="300"/>
            <ac:spMk id="5" creationId="{ABDC07C1-0626-1987-F207-BFB38D77DE2D}"/>
          </ac:spMkLst>
        </pc:spChg>
      </pc:sldChg>
      <pc:sldChg chg="addSp delSp modSp mod">
        <pc:chgData name="vonteru Satwik Reddy" userId="3839d9462a60d22d" providerId="LiveId" clId="{5A9E0697-D528-4E2C-9697-947294E55980}" dt="2026-03-06T14:29:31.615" v="387" actId="962"/>
        <pc:sldMkLst>
          <pc:docMk/>
          <pc:sldMk cId="3880679195" sldId="301"/>
        </pc:sldMkLst>
        <pc:picChg chg="add del mod">
          <ac:chgData name="vonteru Satwik Reddy" userId="3839d9462a60d22d" providerId="LiveId" clId="{5A9E0697-D528-4E2C-9697-947294E55980}" dt="2026-03-06T14:29:09.912" v="379" actId="21"/>
          <ac:picMkLst>
            <pc:docMk/>
            <pc:sldMk cId="3880679195" sldId="301"/>
            <ac:picMk id="2" creationId="{CBC7A2C4-0EE2-C71F-3183-8B0382DEC0B2}"/>
          </ac:picMkLst>
        </pc:picChg>
        <pc:picChg chg="add mod">
          <ac:chgData name="vonteru Satwik Reddy" userId="3839d9462a60d22d" providerId="LiveId" clId="{5A9E0697-D528-4E2C-9697-947294E55980}" dt="2026-03-06T14:29:31.615" v="387" actId="962"/>
          <ac:picMkLst>
            <pc:docMk/>
            <pc:sldMk cId="3880679195" sldId="301"/>
            <ac:picMk id="5" creationId="{CCEC6CD6-C6F1-B2DE-44D5-F4C0D4712F61}"/>
          </ac:picMkLst>
        </pc:picChg>
        <pc:picChg chg="add del">
          <ac:chgData name="vonteru Satwik Reddy" userId="3839d9462a60d22d" providerId="LiveId" clId="{5A9E0697-D528-4E2C-9697-947294E55980}" dt="2026-03-06T14:29:11.901" v="380" actId="21"/>
          <ac:picMkLst>
            <pc:docMk/>
            <pc:sldMk cId="3880679195" sldId="301"/>
            <ac:picMk id="2050" creationId="{126BF7F2-573C-2F8D-0897-735E8F8BFAF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5B1433C4-8010-484A-9CD2-51D6C31A95C2}" type="datetimeFigureOut">
              <a:rPr lang="en-US" smtClean="0"/>
              <a:t>3/6/2026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A9C0BEFF-1196-1E43-9EA9-60E2C8ED61F9}" type="slidenum">
              <a:rPr lang="en-US" smtClean="0"/>
              <a:t>‹#›</a:t>
            </a:fld>
            <a:endParaRPr lang="en-US"/>
          </a:p>
        </p:txBody>
      </p:sp>
    </p:spTree>
    <p:extLst>
      <p:ext uri="{BB962C8B-B14F-4D97-AF65-F5344CB8AC3E}">
        <p14:creationId xmlns:p14="http://schemas.microsoft.com/office/powerpoint/2010/main" val="1208238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7937C-4C9B-196F-9E2F-02810D0C70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F3A234-4E0B-5C8D-405B-207DA89369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27C009-99FA-2362-18CF-460F50091F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F7B203-3F75-DDDC-03D9-955ED632C025}"/>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90309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B6358-E207-2A3F-9209-5BC27E97C1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7C57C5-DCED-A419-733A-21C4D3C68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7359B-16E3-DF87-F7FF-BF52E30D0F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E36702-6A68-8FAE-0075-C6BB24B80DF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4556579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951FA-B0D3-BDE9-1CAC-FF277956CA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759F8E-748B-7C2F-F7C8-6ECED44EEE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25B794-3F2F-8F8E-77BD-EA79DD1015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1E99D4-4CF2-4299-879E-385A15E9B4DC}"/>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897392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FBB01-0569-CEE9-0310-A4587DD5A9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AB6DF3-4962-4EA9-3A6C-1D2DF65FCC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2BAED4-2A7D-8CC7-DACF-330619C409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487F9A-9D0B-273E-5173-537BACED6D79}"/>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5542785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CA6BA-2F8E-83A6-747D-B0F6B2B0AB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34218C-0012-2C5A-4821-C5023CB8E3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276FDD-8D95-D745-21FB-77F5B84213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82C3DB-2FB8-7836-8582-DFC47AFFA6FE}"/>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7152375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EB19-4105-0A94-9D02-A8AE385397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4AAA70-DABF-FC5D-2C4F-3D086B59BC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3B5CB4-96CD-3F7A-217B-2B113CFB77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4F04F9-63A2-AC51-6211-1CDA0E6DD5CC}"/>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729592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75828-0A37-9EF7-779C-4285355D3B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037274-156F-81D6-22E3-0FF45A79D7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6012B0-4452-A636-1A62-A734DDAA3B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C4CCDC-DB62-9FB2-AB7F-221BE69DD92A}"/>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192336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35BAD-9A9B-25EB-CA9C-1235DDD0AA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2B1AB3-6C16-3D88-312D-77142C4EE0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3370DA-1B3E-7FA8-39DB-A42B646B8A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106DF5-BFEE-B754-0FB6-2AF29AB7758D}"/>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9676844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7536A-270B-C16F-5F01-C8B1C6C809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428211-ED72-F5D7-AFC3-493F95BDBA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74EDA2-CD4E-45B9-A4FD-47520D44F8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66E5BB-0BDE-0231-9A5D-0638D9C6832D}"/>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8852017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3E45F-2696-8582-CE77-DED5F25588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B89296-42DC-4791-1A32-B73DCFA9AF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15E405-3680-E81D-F915-EA051BD111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0118E1-BA19-1FD5-E8DE-CCC11C0F9BE1}"/>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5939493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BFA09-3D15-67F4-02DE-787D250CD6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932604-3AE9-45D7-12E0-5710BC80C9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736690-DB3C-8D70-9525-1E06395FBE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9A2809-3AE9-6036-BA38-82B2F956AF2A}"/>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7476922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4E886-8BC0-D4FD-6503-343D24D177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67F26F-F32C-6BD7-FA4E-E2E1180D89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F882A6-32D0-78E9-EA85-584F1BC790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1DCD4E-9495-EAFF-3580-4164468DC20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373988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6185" y="1434014"/>
            <a:ext cx="8287657" cy="928914"/>
          </a:xfrm>
          <a:prstGeom prst="rect">
            <a:avLst/>
          </a:prstGeom>
          <a:noFill/>
          <a:ln/>
        </p:spPr>
        <p:txBody>
          <a:bodyPr wrap="square" rtlCol="0" anchor="ctr"/>
          <a:lstStyle/>
          <a:p>
            <a:pPr algn="ctr"/>
            <a:r>
              <a:rPr lang="en-US" sz="3000" dirty="0">
                <a:latin typeface="Times New Roman" panose="02020603050405020304" pitchFamily="18" charset="0"/>
                <a:cs typeface="Times New Roman" panose="02020603050405020304" pitchFamily="18" charset="0"/>
              </a:rPr>
              <a:t>Voice of Village: Fund Transparency &amp; Issue Reporting System</a:t>
            </a:r>
          </a:p>
        </p:txBody>
      </p:sp>
      <p:sp>
        <p:nvSpPr>
          <p:cNvPr id="3" name="TextBox 2">
            <a:extLst>
              <a:ext uri="{FF2B5EF4-FFF2-40B4-BE49-F238E27FC236}">
                <a16:creationId xmlns:a16="http://schemas.microsoft.com/office/drawing/2014/main" id="{3ACB40B1-4528-3AD8-3099-CDA792CECCC1}"/>
              </a:ext>
            </a:extLst>
          </p:cNvPr>
          <p:cNvSpPr txBox="1"/>
          <p:nvPr/>
        </p:nvSpPr>
        <p:spPr>
          <a:xfrm>
            <a:off x="5152571" y="3438071"/>
            <a:ext cx="4073072" cy="1200329"/>
          </a:xfrm>
          <a:prstGeom prst="rect">
            <a:avLst/>
          </a:prstGeom>
          <a:noFill/>
        </p:spPr>
        <p:txBody>
          <a:bodyPr wrap="square" rtlCol="0">
            <a:spAutoFit/>
          </a:bodyPr>
          <a:lstStyle/>
          <a:p>
            <a:pPr algn="l"/>
            <a:r>
              <a:rPr lang="en-GB" dirty="0">
                <a:latin typeface="Times New Roman" panose="02020603050405020304" pitchFamily="18" charset="0"/>
                <a:cs typeface="Times New Roman" panose="02020603050405020304" pitchFamily="18" charset="0"/>
              </a:rPr>
              <a:t>Batch No : E11</a:t>
            </a:r>
          </a:p>
          <a:p>
            <a:pPr algn="l"/>
            <a:r>
              <a:rPr lang="en-GB" dirty="0">
                <a:latin typeface="Times New Roman" panose="02020603050405020304" pitchFamily="18" charset="0"/>
                <a:cs typeface="Times New Roman" panose="02020603050405020304" pitchFamily="18" charset="0"/>
              </a:rPr>
              <a:t>22R11A05M9 – P. Uday Yadav</a:t>
            </a:r>
          </a:p>
          <a:p>
            <a:pPr algn="l"/>
            <a:r>
              <a:rPr lang="en-GB" dirty="0">
                <a:latin typeface="Times New Roman" panose="02020603050405020304" pitchFamily="18" charset="0"/>
                <a:cs typeface="Times New Roman" panose="02020603050405020304" pitchFamily="18" charset="0"/>
              </a:rPr>
              <a:t>22R11A05N9 – V. Satwik Reddy</a:t>
            </a:r>
          </a:p>
          <a:p>
            <a:pPr algn="l"/>
            <a:r>
              <a:rPr lang="en-GB" dirty="0">
                <a:latin typeface="Times New Roman" panose="02020603050405020304" pitchFamily="18" charset="0"/>
                <a:cs typeface="Times New Roman" panose="02020603050405020304" pitchFamily="18" charset="0"/>
              </a:rPr>
              <a:t>22R11A05M2 – M. Manikanth Reddy</a:t>
            </a:r>
            <a:endParaRPr lang="en-US" dirty="0">
              <a:latin typeface="Times New Roman" panose="02020603050405020304" pitchFamily="18" charset="0"/>
              <a:cs typeface="Times New Roman" panose="02020603050405020304" pitchFamily="18" charset="0"/>
            </a:endParaRPr>
          </a:p>
        </p:txBody>
      </p:sp>
      <p:sp>
        <p:nvSpPr>
          <p:cNvPr id="5" name="Text 0">
            <a:extLst>
              <a:ext uri="{FF2B5EF4-FFF2-40B4-BE49-F238E27FC236}">
                <a16:creationId xmlns:a16="http://schemas.microsoft.com/office/drawing/2014/main" id="{AA17CD40-AD62-D2C8-B6D5-F5EA856A91ED}"/>
              </a:ext>
            </a:extLst>
          </p:cNvPr>
          <p:cNvSpPr/>
          <p:nvPr/>
        </p:nvSpPr>
        <p:spPr>
          <a:xfrm>
            <a:off x="506186" y="505100"/>
            <a:ext cx="8287657" cy="928914"/>
          </a:xfrm>
          <a:prstGeom prst="rect">
            <a:avLst/>
          </a:prstGeom>
          <a:noFill/>
          <a:ln/>
        </p:spPr>
        <p:txBody>
          <a:bodyPr wrap="square" rtlCol="0" anchor="ctr"/>
          <a:lstStyle/>
          <a:p>
            <a:pPr algn="ctr"/>
            <a:r>
              <a:rPr lang="en-GB" sz="2400" dirty="0" err="1">
                <a:latin typeface="Times New Roman" panose="02020603050405020304" pitchFamily="18" charset="0"/>
                <a:cs typeface="Times New Roman" panose="02020603050405020304" pitchFamily="18" charset="0"/>
              </a:rPr>
              <a:t>Geethanjali</a:t>
            </a:r>
            <a:r>
              <a:rPr lang="en-GB" sz="2400" dirty="0">
                <a:latin typeface="Times New Roman" panose="02020603050405020304" pitchFamily="18" charset="0"/>
                <a:cs typeface="Times New Roman" panose="02020603050405020304" pitchFamily="18" charset="0"/>
              </a:rPr>
              <a:t> College Of Engineering And Technology </a:t>
            </a:r>
            <a:endParaRPr lang="en-US"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C5E65BF-349E-353A-B9D2-0E09966CFEBB}"/>
              </a:ext>
            </a:extLst>
          </p:cNvPr>
          <p:cNvSpPr txBox="1"/>
          <p:nvPr/>
        </p:nvSpPr>
        <p:spPr>
          <a:xfrm>
            <a:off x="2803978" y="2715832"/>
            <a:ext cx="3663951" cy="400110"/>
          </a:xfrm>
          <a:prstGeom prst="rect">
            <a:avLst/>
          </a:prstGeom>
          <a:noFill/>
        </p:spPr>
        <p:txBody>
          <a:bodyPr wrap="square" rtlCol="0">
            <a:spAutoFit/>
          </a:bodyPr>
          <a:lstStyle/>
          <a:p>
            <a:pPr algn="ctr"/>
            <a:r>
              <a:rPr lang="en-GB" sz="2000" dirty="0">
                <a:latin typeface="Times New Roman" panose="02020603050405020304" pitchFamily="18" charset="0"/>
                <a:cs typeface="Times New Roman" panose="02020603050405020304" pitchFamily="18" charset="0"/>
              </a:rPr>
              <a:t>Internal Guide – CH. Sandhya</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9120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228600"/>
            <a:ext cx="8229600" cy="822960"/>
          </a:xfrm>
          <a:prstGeom prst="rect">
            <a:avLst/>
          </a:prstGeom>
          <a:noFill/>
          <a:ln/>
        </p:spPr>
        <p:txBody>
          <a:bodyPr wrap="square" rtlCol="0" anchor="ctr"/>
          <a:lstStyle/>
          <a:p>
            <a:pPr algn="ctr"/>
            <a:r>
              <a:rPr lang="en-GB" sz="2800" dirty="0">
                <a:latin typeface="Times New Roman" panose="02020603050405020304" pitchFamily="18" charset="0"/>
                <a:cs typeface="Times New Roman" panose="02020603050405020304" pitchFamily="18" charset="0"/>
              </a:rPr>
              <a:t>PROBLEM STATEMENT</a:t>
            </a:r>
            <a:endParaRPr lang="en-US" sz="2800" dirty="0">
              <a:latin typeface="Times New Roman" panose="02020603050405020304" pitchFamily="18" charset="0"/>
              <a:cs typeface="Times New Roman" panose="02020603050405020304" pitchFamily="18" charset="0"/>
            </a:endParaRPr>
          </a:p>
        </p:txBody>
      </p:sp>
      <p:sp>
        <p:nvSpPr>
          <p:cNvPr id="5" name="Text 1"/>
          <p:cNvSpPr/>
          <p:nvPr/>
        </p:nvSpPr>
        <p:spPr>
          <a:xfrm>
            <a:off x="457200" y="1216855"/>
            <a:ext cx="8115300" cy="3518431"/>
          </a:xfrm>
          <a:prstGeom prst="rect">
            <a:avLst/>
          </a:prstGeom>
          <a:noFill/>
          <a:ln/>
        </p:spPr>
        <p:txBody>
          <a:bodyPr wrap="square" rtlCol="0" anchor="t"/>
          <a:lstStyle/>
          <a:p>
            <a:pPr algn="just"/>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Voice of Village: Fund Transparency &amp; Issue Reporting System</a:t>
            </a:r>
            <a:r>
              <a:rPr lang="en-US" dirty="0">
                <a:latin typeface="Times New Roman" panose="02020603050405020304" pitchFamily="18" charset="0"/>
                <a:cs typeface="Times New Roman" panose="02020603050405020304" pitchFamily="18" charset="0"/>
              </a:rPr>
              <a:t> is designed to address the lack of transparency and accountability in rural governance. In many villages, residents are often unaware of how government funds and public donations are allocated and spent on development activities. Additionally, there is no organized digital platform for villagers to report local issues such as infrastructure problems, water supply, electricity, or sanitation. This lack of transparency and communication leads to mistrust, inefficient fund management, and unresolved community problems. Therefore, a centralized web-based system is needed to provide transparent financial information, enable villagers to report issues, and allow authorities to track and resolve complaints effectively.</a:t>
            </a:r>
          </a:p>
        </p:txBody>
      </p:sp>
    </p:spTree>
    <p:extLst>
      <p:ext uri="{BB962C8B-B14F-4D97-AF65-F5344CB8AC3E}">
        <p14:creationId xmlns:p14="http://schemas.microsoft.com/office/powerpoint/2010/main" val="4192002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154214"/>
            <a:ext cx="8229600" cy="822960"/>
          </a:xfrm>
          <a:prstGeom prst="rect">
            <a:avLst/>
          </a:prstGeom>
          <a:noFill/>
          <a:ln/>
        </p:spPr>
        <p:txBody>
          <a:bodyPr wrap="square" rtlCol="0" anchor="ctr"/>
          <a:lstStyle/>
          <a:p>
            <a:pPr algn="ctr"/>
            <a:r>
              <a:rPr lang="en-GB" sz="2800" dirty="0">
                <a:latin typeface="Times New Roman" panose="02020603050405020304" pitchFamily="18" charset="0"/>
                <a:cs typeface="Times New Roman" panose="02020603050405020304" pitchFamily="18" charset="0"/>
              </a:rPr>
              <a:t>PROPOSED SYSTEM OVERVIEW</a:t>
            </a:r>
          </a:p>
        </p:txBody>
      </p:sp>
      <p:sp>
        <p:nvSpPr>
          <p:cNvPr id="5" name="Text 1"/>
          <p:cNvSpPr/>
          <p:nvPr/>
        </p:nvSpPr>
        <p:spPr>
          <a:xfrm>
            <a:off x="514350" y="889907"/>
            <a:ext cx="8115300" cy="4099379"/>
          </a:xfrm>
          <a:prstGeom prst="rect">
            <a:avLst/>
          </a:prstGeom>
          <a:noFill/>
          <a:ln/>
        </p:spPr>
        <p:txBody>
          <a:bodyPr wrap="square" rtlCol="0" anchor="t"/>
          <a:lstStyle/>
          <a:p>
            <a:pPr algn="just"/>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Voice of Village: Fund Transparency &amp; Issue Reporting System</a:t>
            </a:r>
            <a:r>
              <a:rPr lang="en-US" dirty="0">
                <a:latin typeface="Times New Roman" panose="02020603050405020304" pitchFamily="18" charset="0"/>
                <a:cs typeface="Times New Roman" panose="02020603050405020304" pitchFamily="18" charset="0"/>
              </a:rPr>
              <a:t> is a web-based platform developed to improve transparency and accountability in rural governance. It allows villagers to view information about government fund allocations, track expenses, and understand how funds are utilized for village development. By providing clear financial data through a centralized system, the platform helps increase trust and awareness among villagers.</a:t>
            </a:r>
          </a:p>
          <a:p>
            <a:pPr algn="just"/>
            <a:r>
              <a:rPr lang="en-US" dirty="0">
                <a:latin typeface="Times New Roman" panose="02020603050405020304" pitchFamily="18" charset="0"/>
                <a:cs typeface="Times New Roman" panose="02020603050405020304" pitchFamily="18" charset="0"/>
              </a:rPr>
              <a:t>In addition to financial transparency, the system also includes an </a:t>
            </a:r>
            <a:r>
              <a:rPr lang="en-US" b="1" dirty="0">
                <a:latin typeface="Times New Roman" panose="02020603050405020304" pitchFamily="18" charset="0"/>
                <a:cs typeface="Times New Roman" panose="02020603050405020304" pitchFamily="18" charset="0"/>
              </a:rPr>
              <a:t>issue reporting feature</a:t>
            </a:r>
            <a:r>
              <a:rPr lang="en-US" dirty="0">
                <a:latin typeface="Times New Roman" panose="02020603050405020304" pitchFamily="18" charset="0"/>
                <a:cs typeface="Times New Roman" panose="02020603050405020304" pitchFamily="18" charset="0"/>
              </a:rPr>
              <a:t> where villagers can report problems related to infrastructure and public services. These issues can be tracked with statuses such as pending, in progress, and resolved. Administrators like the </a:t>
            </a:r>
            <a:r>
              <a:rPr lang="en-US" b="1" dirty="0">
                <a:latin typeface="Times New Roman" panose="02020603050405020304" pitchFamily="18" charset="0"/>
                <a:cs typeface="Times New Roman" panose="02020603050405020304" pitchFamily="18" charset="0"/>
              </a:rPr>
              <a:t>sarpanch or village authorities</a:t>
            </a:r>
            <a:r>
              <a:rPr lang="en-US" dirty="0">
                <a:latin typeface="Times New Roman" panose="02020603050405020304" pitchFamily="18" charset="0"/>
                <a:cs typeface="Times New Roman" panose="02020603050405020304" pitchFamily="18" charset="0"/>
              </a:rPr>
              <a:t> can manage funds, update expenses, and resolve complaints through an admin panel, ensuring efficient management and better communication between citizens and local authorities.</a:t>
            </a:r>
          </a:p>
        </p:txBody>
      </p:sp>
    </p:spTree>
    <p:extLst>
      <p:ext uri="{BB962C8B-B14F-4D97-AF65-F5344CB8AC3E}">
        <p14:creationId xmlns:p14="http://schemas.microsoft.com/office/powerpoint/2010/main" val="2483046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0"/>
          <p:cNvSpPr/>
          <p:nvPr/>
        </p:nvSpPr>
        <p:spPr>
          <a:xfrm>
            <a:off x="457200" y="92528"/>
            <a:ext cx="8229600" cy="732971"/>
          </a:xfrm>
          <a:prstGeom prst="rect">
            <a:avLst/>
          </a:prstGeom>
          <a:noFill/>
          <a:ln/>
        </p:spPr>
        <p:txBody>
          <a:bodyPr wrap="square" rtlCol="0" anchor="ctr"/>
          <a:lstStyle/>
          <a:p>
            <a:pPr algn="ctr"/>
            <a:r>
              <a:rPr lang="en-GB" sz="2800" dirty="0">
                <a:latin typeface="Times New Roman" panose="02020603050405020304" pitchFamily="18" charset="0"/>
                <a:cs typeface="Times New Roman" panose="02020603050405020304" pitchFamily="18" charset="0"/>
              </a:rPr>
              <a:t>SYSTEM ARCHITECTURE</a:t>
            </a:r>
            <a:endParaRPr lang="en-US" sz="2800" dirty="0">
              <a:latin typeface="Times New Roman" panose="02020603050405020304" pitchFamily="18" charset="0"/>
              <a:cs typeface="Times New Roman" panose="02020603050405020304" pitchFamily="18" charset="0"/>
            </a:endParaRPr>
          </a:p>
        </p:txBody>
      </p:sp>
      <p:pic>
        <p:nvPicPr>
          <p:cNvPr id="2" name="Content Placeholder 4">
            <a:extLst>
              <a:ext uri="{FF2B5EF4-FFF2-40B4-BE49-F238E27FC236}">
                <a16:creationId xmlns:a16="http://schemas.microsoft.com/office/drawing/2014/main" id="{C2FA227A-2E98-CC36-DF2F-6C2D7B1BD1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5301" y="680225"/>
            <a:ext cx="6987208" cy="4251764"/>
          </a:xfrm>
          <a:prstGeom prst="rect">
            <a:avLst/>
          </a:prstGeom>
        </p:spPr>
      </p:pic>
    </p:spTree>
    <p:extLst>
      <p:ext uri="{BB962C8B-B14F-4D97-AF65-F5344CB8AC3E}">
        <p14:creationId xmlns:p14="http://schemas.microsoft.com/office/powerpoint/2010/main" val="2207042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5" name="Text 1"/>
          <p:cNvSpPr/>
          <p:nvPr/>
        </p:nvSpPr>
        <p:spPr>
          <a:xfrm>
            <a:off x="474713" y="279728"/>
            <a:ext cx="8194573" cy="4627798"/>
          </a:xfrm>
          <a:prstGeom prst="rect">
            <a:avLst/>
          </a:prstGeom>
          <a:noFill/>
          <a:ln/>
        </p:spPr>
        <p:txBody>
          <a:bodyPr wrap="square" rtlCol="0" anchor="t"/>
          <a:lstStyle/>
          <a:p>
            <a:r>
              <a:rPr lang="en-IN" sz="1600" b="1" dirty="0">
                <a:latin typeface="Times New Roman" panose="02020603050405020304" pitchFamily="18" charset="0"/>
                <a:cs typeface="Times New Roman" panose="02020603050405020304" pitchFamily="18" charset="0"/>
              </a:rPr>
              <a:t>1. Frontend Layer</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Built using React.js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Provides user interface for </a:t>
            </a:r>
            <a:r>
              <a:rPr lang="en-US" sz="1600" b="1" dirty="0">
                <a:latin typeface="Times New Roman" panose="02020603050405020304" pitchFamily="18" charset="0"/>
                <a:cs typeface="Times New Roman" panose="02020603050405020304" pitchFamily="18" charset="0"/>
              </a:rPr>
              <a:t>villagers and administrators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Handles user input and sends requests to the </a:t>
            </a:r>
            <a:r>
              <a:rPr lang="en-US" sz="1600" b="1" dirty="0">
                <a:latin typeface="Times New Roman" panose="02020603050405020304" pitchFamily="18" charset="0"/>
                <a:cs typeface="Times New Roman" panose="02020603050405020304" pitchFamily="18" charset="0"/>
              </a:rPr>
              <a:t>backend via REST API</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2. Backend Layer</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Built using </a:t>
            </a:r>
            <a:r>
              <a:rPr lang="en-US" sz="1600" b="1" dirty="0">
                <a:latin typeface="Times New Roman" panose="02020603050405020304" pitchFamily="18" charset="0"/>
                <a:cs typeface="Times New Roman" panose="02020603050405020304" pitchFamily="18" charset="0"/>
              </a:rPr>
              <a:t>Node.js and Express.js</a:t>
            </a:r>
            <a:endParaRPr lang="en-IN"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Handles </a:t>
            </a:r>
            <a:r>
              <a:rPr lang="en-US" sz="1600" b="1" dirty="0">
                <a:latin typeface="Times New Roman" panose="02020603050405020304" pitchFamily="18" charset="0"/>
                <a:cs typeface="Times New Roman" panose="02020603050405020304" pitchFamily="18" charset="0"/>
              </a:rPr>
              <a:t>business logic, authentication, and API requests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Processes requests from the frontend and interacts with the </a:t>
            </a:r>
            <a:r>
              <a:rPr lang="en-US" sz="1600" b="1" dirty="0">
                <a:latin typeface="Times New Roman" panose="02020603050405020304" pitchFamily="18" charset="0"/>
                <a:cs typeface="Times New Roman" panose="02020603050405020304" pitchFamily="18" charset="0"/>
              </a:rPr>
              <a:t>MySQL database</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3. Database Layer</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Uses </a:t>
            </a:r>
            <a:r>
              <a:rPr lang="en-US" sz="1600" b="1" dirty="0">
                <a:latin typeface="Times New Roman" panose="02020603050405020304" pitchFamily="18" charset="0"/>
                <a:cs typeface="Times New Roman" panose="02020603050405020304" pitchFamily="18" charset="0"/>
              </a:rPr>
              <a:t>MySQL</a:t>
            </a:r>
            <a:r>
              <a:rPr lang="en-US" sz="1600" dirty="0">
                <a:latin typeface="Times New Roman" panose="02020603050405020304" pitchFamily="18" charset="0"/>
                <a:cs typeface="Times New Roman" panose="02020603050405020304" pitchFamily="18" charset="0"/>
              </a:rPr>
              <a:t> for structured data storage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Stores data related to </a:t>
            </a:r>
            <a:r>
              <a:rPr lang="en-US" sz="1600" b="1" dirty="0">
                <a:latin typeface="Times New Roman" panose="02020603050405020304" pitchFamily="18" charset="0"/>
                <a:cs typeface="Times New Roman" panose="02020603050405020304" pitchFamily="18" charset="0"/>
              </a:rPr>
              <a:t>users, funds, donations, and issues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Supports secure data retrieval and updates for the backend system</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4. External Services</a:t>
            </a:r>
          </a:p>
          <a:p>
            <a:pPr marL="285750" indent="-285750">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Claude AI for scoring engine</a:t>
            </a:r>
          </a:p>
        </p:txBody>
      </p:sp>
    </p:spTree>
    <p:extLst>
      <p:ext uri="{BB962C8B-B14F-4D97-AF65-F5344CB8AC3E}">
        <p14:creationId xmlns:p14="http://schemas.microsoft.com/office/powerpoint/2010/main" val="2544043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38D0F-AB3F-7814-A4C0-3A353DA6A646}"/>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5CFC8ECF-04FA-853E-E7BE-6EAF0966D966}"/>
              </a:ext>
            </a:extLst>
          </p:cNvPr>
          <p:cNvSpPr/>
          <p:nvPr/>
        </p:nvSpPr>
        <p:spPr>
          <a:xfrm>
            <a:off x="483577" y="80442"/>
            <a:ext cx="8229600" cy="614484"/>
          </a:xfrm>
          <a:prstGeom prst="rect">
            <a:avLst/>
          </a:prstGeom>
          <a:noFill/>
          <a:ln/>
        </p:spPr>
        <p:txBody>
          <a:bodyPr wrap="square" rtlCol="0" anchor="ctr"/>
          <a:lstStyle/>
          <a:p>
            <a:pPr algn="ctr"/>
            <a:r>
              <a:rPr lang="en-US" sz="2800" dirty="0">
                <a:latin typeface="Times New Roman" panose="02020603050405020304" pitchFamily="18" charset="0"/>
                <a:cs typeface="Times New Roman" panose="02020603050405020304" pitchFamily="18" charset="0"/>
              </a:rPr>
              <a:t>TECHNOLOGY STACK</a:t>
            </a:r>
          </a:p>
        </p:txBody>
      </p:sp>
      <p:sp>
        <p:nvSpPr>
          <p:cNvPr id="5" name="TextBox 4">
            <a:extLst>
              <a:ext uri="{FF2B5EF4-FFF2-40B4-BE49-F238E27FC236}">
                <a16:creationId xmlns:a16="http://schemas.microsoft.com/office/drawing/2014/main" id="{5B1FAF80-7527-0EC2-5C44-C3477334E0DF}"/>
              </a:ext>
            </a:extLst>
          </p:cNvPr>
          <p:cNvSpPr txBox="1"/>
          <p:nvPr/>
        </p:nvSpPr>
        <p:spPr>
          <a:xfrm>
            <a:off x="483577" y="726934"/>
            <a:ext cx="8387577" cy="4278094"/>
          </a:xfrm>
          <a:prstGeom prst="rect">
            <a:avLst/>
          </a:prstGeom>
          <a:noFill/>
        </p:spPr>
        <p:txBody>
          <a:bodyPr wrap="square">
            <a:spAutoFit/>
          </a:bodyPr>
          <a:lstStyle/>
          <a:p>
            <a:r>
              <a:rPr lang="en-IN" sz="1600" b="1" dirty="0">
                <a:latin typeface="Times New Roman" panose="02020603050405020304" pitchFamily="18" charset="0"/>
                <a:cs typeface="Times New Roman" panose="02020603050405020304" pitchFamily="18" charset="0"/>
              </a:rPr>
              <a:t>Frontend:</a:t>
            </a:r>
          </a:p>
          <a:p>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React.js, HTML5, CSS3, JavaScript</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Selected for fast development, reusable components, and responsive UI design.</a:t>
            </a: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Backend:</a:t>
            </a:r>
          </a:p>
          <a:p>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Node.js, Express.js</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Chosen for high performance, built-in validation, and easy REST API development.</a:t>
            </a:r>
            <a:br>
              <a:rPr lang="en-IN"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Database:</a:t>
            </a:r>
          </a:p>
          <a:p>
            <a:r>
              <a:rPr lang="en-IN" sz="1600" dirty="0">
                <a:latin typeface="Times New Roman" panose="02020603050405020304" pitchFamily="18" charset="0"/>
                <a:cs typeface="Times New Roman" panose="02020603050405020304" pitchFamily="18" charset="0"/>
              </a:rPr>
              <a:t>• </a:t>
            </a:r>
            <a:r>
              <a:rPr lang="en-US" sz="1600" dirty="0"/>
              <a:t>MySQL</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SQLite for simplicity during development; PostgreSQL for scalability and reliability in production.</a:t>
            </a:r>
          </a:p>
          <a:p>
            <a:endParaRPr lang="en-IN" sz="1600"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Tools Used:</a:t>
            </a:r>
          </a:p>
          <a:p>
            <a:r>
              <a:rPr lang="en-IN" sz="1600" dirty="0">
                <a:latin typeface="Times New Roman" panose="02020603050405020304" pitchFamily="18" charset="0"/>
                <a:cs typeface="Times New Roman" panose="02020603050405020304" pitchFamily="18" charset="0"/>
              </a:rPr>
              <a:t>• Git &amp; GitHub</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Postman</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 VS Code</a:t>
            </a:r>
            <a:br>
              <a:rPr lang="en-IN"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Used for version control, API testing, and efficient code development.</a:t>
            </a:r>
          </a:p>
        </p:txBody>
      </p:sp>
    </p:spTree>
    <p:extLst>
      <p:ext uri="{BB962C8B-B14F-4D97-AF65-F5344CB8AC3E}">
        <p14:creationId xmlns:p14="http://schemas.microsoft.com/office/powerpoint/2010/main" val="2609233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8C814-B059-66E3-0466-2C2C5A24A081}"/>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DADEB3C9-1E5B-96E4-4359-B229FF6A7F34}"/>
              </a:ext>
            </a:extLst>
          </p:cNvPr>
          <p:cNvSpPr/>
          <p:nvPr/>
        </p:nvSpPr>
        <p:spPr>
          <a:xfrm>
            <a:off x="457200" y="66947"/>
            <a:ext cx="8229600" cy="822960"/>
          </a:xfrm>
          <a:prstGeom prst="rect">
            <a:avLst/>
          </a:prstGeom>
          <a:noFill/>
          <a:ln/>
        </p:spPr>
        <p:txBody>
          <a:bodyPr wrap="square" rtlCol="0" anchor="ctr"/>
          <a:lstStyle/>
          <a:p>
            <a:pPr algn="ctr"/>
            <a:r>
              <a:rPr lang="en-GB" sz="2800" dirty="0">
                <a:latin typeface="Times New Roman" panose="02020603050405020304" pitchFamily="18" charset="0"/>
                <a:cs typeface="Times New Roman" panose="02020603050405020304" pitchFamily="18" charset="0"/>
              </a:rPr>
              <a:t>PROJECT MODULES</a:t>
            </a:r>
          </a:p>
        </p:txBody>
      </p:sp>
      <p:sp>
        <p:nvSpPr>
          <p:cNvPr id="5" name="Text 1">
            <a:extLst>
              <a:ext uri="{FF2B5EF4-FFF2-40B4-BE49-F238E27FC236}">
                <a16:creationId xmlns:a16="http://schemas.microsoft.com/office/drawing/2014/main" id="{51854909-6878-59F5-531B-7D38EB5D5423}"/>
              </a:ext>
            </a:extLst>
          </p:cNvPr>
          <p:cNvSpPr/>
          <p:nvPr/>
        </p:nvSpPr>
        <p:spPr>
          <a:xfrm>
            <a:off x="514350" y="836567"/>
            <a:ext cx="8115300" cy="4306933"/>
          </a:xfrm>
          <a:prstGeom prst="rect">
            <a:avLst/>
          </a:prstGeom>
          <a:noFill/>
          <a:ln/>
        </p:spPr>
        <p:txBody>
          <a:bodyPr wrap="square" rtlCol="0" anchor="t"/>
          <a:lstStyle/>
          <a:p>
            <a:r>
              <a:rPr lang="en-US" b="1" dirty="0">
                <a:latin typeface="Times New Roman" panose="02020603050405020304" pitchFamily="18" charset="0"/>
                <a:cs typeface="Times New Roman" panose="02020603050405020304" pitchFamily="18" charset="0"/>
              </a:rPr>
              <a:t>1. Identity &amp; Access Management Module – Completed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Manages user authentication, secure login, and role-based access control for villagers and administrators.</a:t>
            </a:r>
          </a:p>
          <a:p>
            <a:r>
              <a:rPr lang="en-US" b="1" dirty="0">
                <a:latin typeface="Times New Roman" panose="02020603050405020304" pitchFamily="18" charset="0"/>
                <a:cs typeface="Times New Roman" panose="02020603050405020304" pitchFamily="18" charset="0"/>
              </a:rPr>
              <a:t>2. Fund &amp; Budget Management Module – Completed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Handles government fund allocation, expense tracking, and monitoring of remaining village development funds.</a:t>
            </a:r>
          </a:p>
          <a:p>
            <a:r>
              <a:rPr lang="en-US" b="1" dirty="0">
                <a:latin typeface="Times New Roman" panose="02020603050405020304" pitchFamily="18" charset="0"/>
                <a:cs typeface="Times New Roman" panose="02020603050405020304" pitchFamily="18" charset="0"/>
              </a:rPr>
              <a:t>3. Issue / Complaint Management Module – Completed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Allows villagers to report issues related to infrastructure and public services, while enabling administrators to update and resolve complaints.</a:t>
            </a:r>
          </a:p>
          <a:p>
            <a:r>
              <a:rPr lang="en-US" b="1" dirty="0">
                <a:latin typeface="Times New Roman" panose="02020603050405020304" pitchFamily="18" charset="0"/>
                <a:cs typeface="Times New Roman" panose="02020603050405020304" pitchFamily="18" charset="0"/>
              </a:rPr>
              <a:t>4. Donation Management Module – Completed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Supports public donations for village development and records all transactions to ensure transparency and accountability.</a:t>
            </a:r>
          </a:p>
          <a:p>
            <a:r>
              <a:rPr lang="en-US" b="1" dirty="0">
                <a:latin typeface="Times New Roman" panose="02020603050405020304" pitchFamily="18" charset="0"/>
                <a:cs typeface="Times New Roman" panose="02020603050405020304" pitchFamily="18" charset="0"/>
              </a:rPr>
              <a:t>5. Transparency Dashboard &amp; Audit Module – Completed</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Provides visual dashboards showing fund usage, donation records, and complaint statistics, along with audit logs for system monitoring.</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1843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4ECE7-5867-5451-96B1-F35A86D342B7}"/>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34EE4C15-678A-7B4E-2B8F-6C388B5625C7}"/>
              </a:ext>
            </a:extLst>
          </p:cNvPr>
          <p:cNvSpPr/>
          <p:nvPr/>
        </p:nvSpPr>
        <p:spPr>
          <a:xfrm>
            <a:off x="457200" y="66947"/>
            <a:ext cx="8229600" cy="822960"/>
          </a:xfrm>
          <a:prstGeom prst="rect">
            <a:avLst/>
          </a:prstGeom>
          <a:noFill/>
          <a:ln/>
        </p:spPr>
        <p:txBody>
          <a:bodyPr wrap="square" rtlCol="0" anchor="ctr"/>
          <a:lstStyle/>
          <a:p>
            <a:pPr algn="ctr"/>
            <a:r>
              <a:rPr lang="en-IN" sz="2800" dirty="0">
                <a:latin typeface="Times New Roman" panose="02020603050405020304" pitchFamily="18" charset="0"/>
                <a:cs typeface="Times New Roman" panose="02020603050405020304" pitchFamily="18" charset="0"/>
              </a:rPr>
              <a:t>IMPLEMENTATION PROGRESS</a:t>
            </a:r>
            <a:endParaRPr lang="en-GB" sz="2800" dirty="0">
              <a:latin typeface="Times New Roman" panose="02020603050405020304" pitchFamily="18" charset="0"/>
              <a:cs typeface="Times New Roman" panose="02020603050405020304" pitchFamily="18" charset="0"/>
            </a:endParaRPr>
          </a:p>
        </p:txBody>
      </p:sp>
      <p:sp>
        <p:nvSpPr>
          <p:cNvPr id="5" name="Text 1">
            <a:extLst>
              <a:ext uri="{FF2B5EF4-FFF2-40B4-BE49-F238E27FC236}">
                <a16:creationId xmlns:a16="http://schemas.microsoft.com/office/drawing/2014/main" id="{51E8A31A-5F23-5719-8C07-6F71DD04CC0C}"/>
              </a:ext>
            </a:extLst>
          </p:cNvPr>
          <p:cNvSpPr/>
          <p:nvPr/>
        </p:nvSpPr>
        <p:spPr>
          <a:xfrm>
            <a:off x="331470" y="865415"/>
            <a:ext cx="4301490" cy="3668486"/>
          </a:xfrm>
          <a:prstGeom prst="rect">
            <a:avLst/>
          </a:prstGeom>
          <a:noFill/>
          <a:ln/>
        </p:spPr>
        <p:txBody>
          <a:bodyPr wrap="square" rtlCol="0" anchor="t"/>
          <a:lstStyle/>
          <a:p>
            <a:r>
              <a:rPr lang="en-US" sz="1600" b="1" dirty="0">
                <a:latin typeface="Times New Roman" panose="02020603050405020304" pitchFamily="18" charset="0"/>
                <a:cs typeface="Times New Roman" panose="02020603050405020304" pitchFamily="18" charset="0"/>
              </a:rPr>
              <a:t>Overall Project Completion: 65%</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Features Completed</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Frontend interface for fund transparency dashboard</a:t>
            </a:r>
          </a:p>
          <a:p>
            <a:r>
              <a:rPr lang="en-US" sz="1600" dirty="0">
                <a:latin typeface="Times New Roman" panose="02020603050405020304" pitchFamily="18" charset="0"/>
                <a:cs typeface="Times New Roman" panose="02020603050405020304" pitchFamily="18" charset="0"/>
              </a:rPr>
              <a:t>Issue / complaint reporting interface</a:t>
            </a:r>
          </a:p>
          <a:p>
            <a:r>
              <a:rPr lang="en-US" sz="1600" dirty="0">
                <a:latin typeface="Times New Roman" panose="02020603050405020304" pitchFamily="18" charset="0"/>
                <a:cs typeface="Times New Roman" panose="02020603050405020304" pitchFamily="18" charset="0"/>
              </a:rPr>
              <a:t>Donation module interface</a:t>
            </a:r>
          </a:p>
          <a:p>
            <a:r>
              <a:rPr lang="en-US" sz="1600" dirty="0">
                <a:latin typeface="Times New Roman" panose="02020603050405020304" pitchFamily="18" charset="0"/>
                <a:cs typeface="Times New Roman" panose="02020603050405020304" pitchFamily="18" charset="0"/>
              </a:rPr>
              <a:t>Basic user authentication interface</a:t>
            </a:r>
          </a:p>
          <a:p>
            <a:r>
              <a:rPr lang="en-US" sz="1600" dirty="0">
                <a:latin typeface="Times New Roman" panose="02020603050405020304" pitchFamily="18" charset="0"/>
                <a:cs typeface="Times New Roman" panose="02020603050405020304" pitchFamily="18" charset="0"/>
              </a:rPr>
              <a:t>Initial backend setup and API structure</a:t>
            </a:r>
          </a:p>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Database Integration Status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Core database tables designed (Users, Funds, Donations, Issues)</a:t>
            </a:r>
          </a:p>
          <a:p>
            <a:r>
              <a:rPr lang="en-US" sz="1600" dirty="0">
                <a:latin typeface="Times New Roman" panose="02020603050405020304" pitchFamily="18" charset="0"/>
                <a:cs typeface="Times New Roman" panose="02020603050405020304" pitchFamily="18" charset="0"/>
              </a:rPr>
              <a:t>Database schema and relationships defined</a:t>
            </a:r>
          </a:p>
          <a:p>
            <a:r>
              <a:rPr lang="en-US" sz="1600" dirty="0">
                <a:latin typeface="Times New Roman" panose="02020603050405020304" pitchFamily="18" charset="0"/>
                <a:cs typeface="Times New Roman" panose="02020603050405020304" pitchFamily="18" charset="0"/>
              </a:rPr>
              <a:t>Backend–database connection configured</a:t>
            </a:r>
          </a:p>
          <a:p>
            <a:r>
              <a:rPr lang="en-US" sz="1600" dirty="0">
                <a:latin typeface="Times New Roman" panose="02020603050405020304" pitchFamily="18" charset="0"/>
                <a:cs typeface="Times New Roman" panose="02020603050405020304" pitchFamily="18" charset="0"/>
              </a:rPr>
              <a:t>CRUD operations currently in development</a:t>
            </a:r>
          </a:p>
          <a:p>
            <a:endParaRPr lang="en-US" sz="1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F47257A-46BC-2787-9707-6943F5B99A97}"/>
              </a:ext>
            </a:extLst>
          </p:cNvPr>
          <p:cNvSpPr txBox="1"/>
          <p:nvPr/>
        </p:nvSpPr>
        <p:spPr>
          <a:xfrm>
            <a:off x="4474845" y="1348866"/>
            <a:ext cx="4568190" cy="3293209"/>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Authentication Implemented</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JWT-based authentication system implemented</a:t>
            </a:r>
          </a:p>
          <a:p>
            <a:r>
              <a:rPr lang="en-US" sz="1600" dirty="0">
                <a:latin typeface="Times New Roman" panose="02020603050405020304" pitchFamily="18" charset="0"/>
                <a:cs typeface="Times New Roman" panose="02020603050405020304" pitchFamily="18" charset="0"/>
              </a:rPr>
              <a:t>Role-Based Access Control (RBAC) for </a:t>
            </a:r>
            <a:r>
              <a:rPr lang="en-US" sz="1600" b="1" dirty="0">
                <a:latin typeface="Times New Roman" panose="02020603050405020304" pitchFamily="18" charset="0"/>
                <a:cs typeface="Times New Roman" panose="02020603050405020304" pitchFamily="18" charset="0"/>
              </a:rPr>
              <a:t>villagers and administrators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Protected API routes to ensure secure system access</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APIs Connected</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Frontend integrated with backend </a:t>
            </a:r>
            <a:r>
              <a:rPr lang="en-US" sz="1600" b="1" dirty="0">
                <a:latin typeface="Times New Roman" panose="02020603050405020304" pitchFamily="18" charset="0"/>
                <a:cs typeface="Times New Roman" panose="02020603050405020304" pitchFamily="18" charset="0"/>
              </a:rPr>
              <a:t>REST APIs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Secure communication between frontend and backend using </a:t>
            </a:r>
            <a:r>
              <a:rPr lang="en-US" sz="1600" b="1" dirty="0">
                <a:latin typeface="Times New Roman" panose="02020603050405020304" pitchFamily="18" charset="0"/>
                <a:cs typeface="Times New Roman" panose="02020603050405020304" pitchFamily="18" charset="0"/>
              </a:rPr>
              <a:t>Axios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Core modules such as </a:t>
            </a:r>
            <a:r>
              <a:rPr lang="en-US" sz="1600" b="1" dirty="0">
                <a:latin typeface="Times New Roman" panose="02020603050405020304" pitchFamily="18" charset="0"/>
                <a:cs typeface="Times New Roman" panose="02020603050405020304" pitchFamily="18" charset="0"/>
              </a:rPr>
              <a:t>fund management, issue reporting, and donations</a:t>
            </a:r>
            <a:r>
              <a:rPr lang="en-US" sz="1600" dirty="0">
                <a:latin typeface="Times New Roman" panose="02020603050405020304" pitchFamily="18" charset="0"/>
                <a:cs typeface="Times New Roman" panose="02020603050405020304" pitchFamily="18" charset="0"/>
              </a:rPr>
              <a:t> tested successfully</a:t>
            </a:r>
          </a:p>
        </p:txBody>
      </p:sp>
    </p:spTree>
    <p:extLst>
      <p:ext uri="{BB962C8B-B14F-4D97-AF65-F5344CB8AC3E}">
        <p14:creationId xmlns:p14="http://schemas.microsoft.com/office/powerpoint/2010/main" val="976976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448C598-0B12-22FA-EF93-3458675B5FD7}"/>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F1EC60A6-F7FC-AECA-B915-9CFE000D7728}"/>
              </a:ext>
            </a:extLst>
          </p:cNvPr>
          <p:cNvSpPr/>
          <p:nvPr/>
        </p:nvSpPr>
        <p:spPr>
          <a:xfrm>
            <a:off x="457200" y="53340"/>
            <a:ext cx="8229600" cy="822960"/>
          </a:xfrm>
          <a:prstGeom prst="rect">
            <a:avLst/>
          </a:prstGeom>
          <a:noFill/>
          <a:ln/>
        </p:spPr>
        <p:txBody>
          <a:bodyPr wrap="square" rtlCol="0" anchor="ctr"/>
          <a:lstStyle/>
          <a:p>
            <a:pPr algn="ctr"/>
            <a:r>
              <a:rPr lang="en-US" sz="2800" dirty="0">
                <a:latin typeface="Times New Roman" panose="02020603050405020304" pitchFamily="18" charset="0"/>
                <a:cs typeface="Times New Roman" panose="02020603050405020304" pitchFamily="18" charset="0"/>
              </a:rPr>
              <a:t>DATABASE DESIGN</a:t>
            </a:r>
          </a:p>
        </p:txBody>
      </p:sp>
      <p:sp>
        <p:nvSpPr>
          <p:cNvPr id="5" name="Text 1">
            <a:extLst>
              <a:ext uri="{FF2B5EF4-FFF2-40B4-BE49-F238E27FC236}">
                <a16:creationId xmlns:a16="http://schemas.microsoft.com/office/drawing/2014/main" id="{37985639-7B5F-1827-38F4-040948A99FDF}"/>
              </a:ext>
            </a:extLst>
          </p:cNvPr>
          <p:cNvSpPr/>
          <p:nvPr/>
        </p:nvSpPr>
        <p:spPr>
          <a:xfrm>
            <a:off x="571500" y="850900"/>
            <a:ext cx="8115300" cy="4272280"/>
          </a:xfrm>
          <a:prstGeom prst="rect">
            <a:avLst/>
          </a:prstGeom>
          <a:noFill/>
          <a:ln/>
        </p:spPr>
        <p:txBody>
          <a:bodyPr wrap="square" rtlCol="0" anchor="t"/>
          <a:lstStyle/>
          <a:p>
            <a:r>
              <a:rPr lang="en-US" b="1" dirty="0">
                <a:latin typeface="Times New Roman" panose="02020603050405020304" pitchFamily="18" charset="0"/>
                <a:cs typeface="Times New Roman" panose="02020603050405020304" pitchFamily="18" charset="0"/>
              </a:rPr>
              <a:t>Number of Tables: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system consists of 4 main tables: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Users, Funds, Donations, and Issues.</a:t>
            </a:r>
          </a:p>
          <a:p>
            <a:r>
              <a:rPr lang="en-US" dirty="0">
                <a:latin typeface="Times New Roman" panose="02020603050405020304" pitchFamily="18" charset="0"/>
                <a:cs typeface="Times New Roman" panose="02020603050405020304" pitchFamily="18" charset="0"/>
              </a:rPr>
              <a:t>Table Relationships</a:t>
            </a:r>
          </a:p>
          <a:p>
            <a:r>
              <a:rPr lang="en-US" dirty="0">
                <a:latin typeface="Times New Roman" panose="02020603050405020304" pitchFamily="18" charset="0"/>
                <a:cs typeface="Times New Roman" panose="02020603050405020304" pitchFamily="18" charset="0"/>
              </a:rPr>
              <a:t>User → Donation (1-to-Many)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User → Issue (1-to-Many)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Fund → Expense Tracking (1-to-Many)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Village/Admin → Fund Management (1-to-Many)</a:t>
            </a:r>
          </a:p>
        </p:txBody>
      </p:sp>
    </p:spTree>
    <p:extLst>
      <p:ext uri="{BB962C8B-B14F-4D97-AF65-F5344CB8AC3E}">
        <p14:creationId xmlns:p14="http://schemas.microsoft.com/office/powerpoint/2010/main" val="1898349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DE6E9D5-4FEC-1650-AD63-889EF34523D4}"/>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35813491-3486-31DF-CE12-C638574FC122}"/>
              </a:ext>
            </a:extLst>
          </p:cNvPr>
          <p:cNvSpPr/>
          <p:nvPr/>
        </p:nvSpPr>
        <p:spPr>
          <a:xfrm>
            <a:off x="457200" y="0"/>
            <a:ext cx="8229600" cy="762000"/>
          </a:xfrm>
          <a:prstGeom prst="rect">
            <a:avLst/>
          </a:prstGeom>
          <a:noFill/>
          <a:ln/>
        </p:spPr>
        <p:txBody>
          <a:bodyPr wrap="square" rtlCol="0" anchor="ctr"/>
          <a:lstStyle/>
          <a:p>
            <a:pPr algn="ctr"/>
            <a:r>
              <a:rPr lang="en-US" sz="2800" dirty="0">
                <a:latin typeface="Times New Roman" panose="02020603050405020304" pitchFamily="18" charset="0"/>
                <a:cs typeface="Times New Roman" panose="02020603050405020304" pitchFamily="18" charset="0"/>
              </a:rPr>
              <a:t>DATABASE DESIGN</a:t>
            </a:r>
          </a:p>
        </p:txBody>
      </p:sp>
      <p:sp>
        <p:nvSpPr>
          <p:cNvPr id="5" name="Text 1">
            <a:extLst>
              <a:ext uri="{FF2B5EF4-FFF2-40B4-BE49-F238E27FC236}">
                <a16:creationId xmlns:a16="http://schemas.microsoft.com/office/drawing/2014/main" id="{52D4656D-B32A-60AA-411C-B5B2D206EA5A}"/>
              </a:ext>
            </a:extLst>
          </p:cNvPr>
          <p:cNvSpPr/>
          <p:nvPr/>
        </p:nvSpPr>
        <p:spPr>
          <a:xfrm>
            <a:off x="245327" y="414144"/>
            <a:ext cx="8229600" cy="4445000"/>
          </a:xfrm>
          <a:prstGeom prst="rect">
            <a:avLst/>
          </a:prstGeom>
          <a:noFill/>
          <a:ln/>
        </p:spPr>
        <p:txBody>
          <a:bodyPr wrap="square" rtlCol="0" anchor="t"/>
          <a:lstStyle/>
          <a:p>
            <a:r>
              <a:rPr lang="en-US" sz="1600" b="1" dirty="0">
                <a:latin typeface="Times New Roman" panose="02020603050405020304" pitchFamily="18" charset="0"/>
                <a:cs typeface="Times New Roman" panose="02020603050405020304" pitchFamily="18" charset="0"/>
              </a:rPr>
              <a:t>Sample Data (Example)</a:t>
            </a: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User:</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id: 1, name: “Ramesh”, role: villager</a:t>
            </a:r>
          </a:p>
          <a:p>
            <a:r>
              <a:rPr lang="en-US" sz="1600" b="1" dirty="0">
                <a:latin typeface="Times New Roman" panose="02020603050405020304" pitchFamily="18" charset="0"/>
                <a:cs typeface="Times New Roman" panose="02020603050405020304" pitchFamily="18" charset="0"/>
              </a:rPr>
              <a:t>Fund:</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id: 10, category: “Road Development”, </a:t>
            </a:r>
            <a:r>
              <a:rPr lang="en-US" sz="1600" dirty="0" err="1">
                <a:latin typeface="Times New Roman" panose="02020603050405020304" pitchFamily="18" charset="0"/>
                <a:cs typeface="Times New Roman" panose="02020603050405020304" pitchFamily="18" charset="0"/>
              </a:rPr>
              <a:t>total_amount</a:t>
            </a:r>
            <a:r>
              <a:rPr lang="en-US" sz="1600" dirty="0">
                <a:latin typeface="Times New Roman" panose="02020603050405020304" pitchFamily="18" charset="0"/>
                <a:cs typeface="Times New Roman" panose="02020603050405020304" pitchFamily="18" charset="0"/>
              </a:rPr>
              <a:t>: 100000, </a:t>
            </a:r>
            <a:r>
              <a:rPr lang="en-US" sz="1600" dirty="0" err="1">
                <a:latin typeface="Times New Roman" panose="02020603050405020304" pitchFamily="18" charset="0"/>
                <a:cs typeface="Times New Roman" panose="02020603050405020304" pitchFamily="18" charset="0"/>
              </a:rPr>
              <a:t>remaining_balance</a:t>
            </a:r>
            <a:r>
              <a:rPr lang="en-US" sz="1600" dirty="0">
                <a:latin typeface="Times New Roman" panose="02020603050405020304" pitchFamily="18" charset="0"/>
                <a:cs typeface="Times New Roman" panose="02020603050405020304" pitchFamily="18" charset="0"/>
              </a:rPr>
              <a:t>: 60000</a:t>
            </a:r>
          </a:p>
          <a:p>
            <a:r>
              <a:rPr lang="en-US" sz="1600" b="1" dirty="0">
                <a:latin typeface="Times New Roman" panose="02020603050405020304" pitchFamily="18" charset="0"/>
                <a:cs typeface="Times New Roman" panose="02020603050405020304" pitchFamily="18" charset="0"/>
              </a:rPr>
              <a:t>Issue: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id: 101, title: “Street Light Not Working”, status: pending</a:t>
            </a:r>
          </a:p>
          <a:p>
            <a:r>
              <a:rPr lang="en-US" sz="1600" b="1" dirty="0">
                <a:latin typeface="Times New Roman" panose="02020603050405020304" pitchFamily="18" charset="0"/>
                <a:cs typeface="Times New Roman" panose="02020603050405020304" pitchFamily="18" charset="0"/>
              </a:rPr>
              <a:t>Donation: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amount: 5000, donor: “Local Resident”, purpose: “Village Development”</a:t>
            </a:r>
          </a:p>
          <a:p>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How Data is Stored &amp; Retrieved</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 is stored in relational tables using </a:t>
            </a:r>
            <a:r>
              <a:rPr lang="en-US" sz="1600" b="1" dirty="0">
                <a:latin typeface="Times New Roman" panose="02020603050405020304" pitchFamily="18" charset="0"/>
                <a:cs typeface="Times New Roman" panose="02020603050405020304" pitchFamily="18" charset="0"/>
              </a:rPr>
              <a:t>MySQL</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Tables are connected using </a:t>
            </a:r>
            <a:r>
              <a:rPr lang="en-US" sz="1600" b="1" dirty="0">
                <a:latin typeface="Times New Roman" panose="02020603050405020304" pitchFamily="18" charset="0"/>
                <a:cs typeface="Times New Roman" panose="02020603050405020304" pitchFamily="18" charset="0"/>
              </a:rPr>
              <a:t>primary keys and foreign keys</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Backend logic using </a:t>
            </a:r>
            <a:r>
              <a:rPr lang="en-US" sz="1600" b="1" dirty="0">
                <a:latin typeface="Times New Roman" panose="02020603050405020304" pitchFamily="18" charset="0"/>
                <a:cs typeface="Times New Roman" panose="02020603050405020304" pitchFamily="18" charset="0"/>
              </a:rPr>
              <a:t>Node.js and Express.js</a:t>
            </a:r>
            <a:r>
              <a:rPr lang="en-US" sz="1600" dirty="0">
                <a:latin typeface="Times New Roman" panose="02020603050405020304" pitchFamily="18" charset="0"/>
                <a:cs typeface="Times New Roman" panose="02020603050405020304" pitchFamily="18" charset="0"/>
              </a:rPr>
              <a:t> interacts with the database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CRUD operations are performed through </a:t>
            </a:r>
            <a:r>
              <a:rPr lang="en-US" sz="1600" b="1" dirty="0">
                <a:latin typeface="Times New Roman" panose="02020603050405020304" pitchFamily="18" charset="0"/>
                <a:cs typeface="Times New Roman" panose="02020603050405020304" pitchFamily="18" charset="0"/>
              </a:rPr>
              <a:t>REST APIs</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 is retrieved using queries and returned as </a:t>
            </a:r>
            <a:r>
              <a:rPr lang="en-US" sz="1600" b="1" dirty="0">
                <a:latin typeface="Times New Roman" panose="02020603050405020304" pitchFamily="18" charset="0"/>
                <a:cs typeface="Times New Roman" panose="02020603050405020304" pitchFamily="18" charset="0"/>
              </a:rPr>
              <a:t>JSON responses</a:t>
            </a:r>
            <a:r>
              <a:rPr lang="en-US" sz="1600" dirty="0">
                <a:latin typeface="Times New Roman" panose="02020603050405020304" pitchFamily="18" charset="0"/>
                <a:cs typeface="Times New Roman" panose="02020603050405020304" pitchFamily="18" charset="0"/>
              </a:rPr>
              <a:t> to the frontend</a:t>
            </a:r>
          </a:p>
        </p:txBody>
      </p:sp>
    </p:spTree>
    <p:extLst>
      <p:ext uri="{BB962C8B-B14F-4D97-AF65-F5344CB8AC3E}">
        <p14:creationId xmlns:p14="http://schemas.microsoft.com/office/powerpoint/2010/main" val="2309635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BF56546-A916-A3D7-63CA-050CC1DDDF72}"/>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CA06E2BA-D977-541E-C532-A24D165E51EA}"/>
              </a:ext>
            </a:extLst>
          </p:cNvPr>
          <p:cNvSpPr/>
          <p:nvPr/>
        </p:nvSpPr>
        <p:spPr>
          <a:xfrm>
            <a:off x="457200" y="0"/>
            <a:ext cx="8229600" cy="685028"/>
          </a:xfrm>
          <a:prstGeom prst="rect">
            <a:avLst/>
          </a:prstGeom>
          <a:noFill/>
          <a:ln/>
        </p:spPr>
        <p:txBody>
          <a:bodyPr wrap="square" rtlCol="0" anchor="ctr"/>
          <a:lstStyle/>
          <a:p>
            <a:pPr algn="ctr"/>
            <a:r>
              <a:rPr lang="en-US" sz="2800" dirty="0">
                <a:latin typeface="Times New Roman" panose="02020603050405020304" pitchFamily="18" charset="0"/>
                <a:cs typeface="Times New Roman" panose="02020603050405020304" pitchFamily="18" charset="0"/>
              </a:rPr>
              <a:t>DATABASE DESIGN - ER DIAGRAM</a:t>
            </a:r>
          </a:p>
        </p:txBody>
      </p:sp>
      <p:pic>
        <p:nvPicPr>
          <p:cNvPr id="5" name="Picture 4" descr="A screenshot of a computer">
            <a:extLst>
              <a:ext uri="{FF2B5EF4-FFF2-40B4-BE49-F238E27FC236}">
                <a16:creationId xmlns:a16="http://schemas.microsoft.com/office/drawing/2014/main" id="{CCEC6CD6-C6F1-B2DE-44D5-F4C0D4712F61}"/>
              </a:ext>
            </a:extLst>
          </p:cNvPr>
          <p:cNvPicPr>
            <a:picLocks noChangeAspect="1"/>
          </p:cNvPicPr>
          <p:nvPr/>
        </p:nvPicPr>
        <p:blipFill>
          <a:blip r:embed="rId3"/>
          <a:stretch>
            <a:fillRect/>
          </a:stretch>
        </p:blipFill>
        <p:spPr>
          <a:xfrm>
            <a:off x="714375" y="780585"/>
            <a:ext cx="7715250" cy="4072983"/>
          </a:xfrm>
          <a:prstGeom prst="rect">
            <a:avLst/>
          </a:prstGeom>
        </p:spPr>
      </p:pic>
    </p:spTree>
    <p:extLst>
      <p:ext uri="{BB962C8B-B14F-4D97-AF65-F5344CB8AC3E}">
        <p14:creationId xmlns:p14="http://schemas.microsoft.com/office/powerpoint/2010/main" val="3880679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4CD9CBF-8933-8DC3-9257-846BA8568107}"/>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846D5CB4-B551-053E-286A-CE69A6D82D17}"/>
              </a:ext>
            </a:extLst>
          </p:cNvPr>
          <p:cNvSpPr/>
          <p:nvPr/>
        </p:nvSpPr>
        <p:spPr>
          <a:xfrm>
            <a:off x="457200" y="228600"/>
            <a:ext cx="8229600" cy="822960"/>
          </a:xfrm>
          <a:prstGeom prst="rect">
            <a:avLst/>
          </a:prstGeom>
          <a:noFill/>
          <a:ln/>
        </p:spPr>
        <p:txBody>
          <a:bodyPr wrap="square" rtlCol="0" anchor="ctr"/>
          <a:lstStyle/>
          <a:p>
            <a:pPr algn="ctr"/>
            <a:r>
              <a:rPr lang="en-GB" sz="2800" dirty="0">
                <a:latin typeface="Times New Roman" panose="02020603050405020304" pitchFamily="18" charset="0"/>
                <a:cs typeface="Times New Roman" panose="02020603050405020304" pitchFamily="18" charset="0"/>
              </a:rPr>
              <a:t>TEST &amp; VALIDATION</a:t>
            </a:r>
            <a:endParaRPr lang="en-US" sz="2800" dirty="0">
              <a:latin typeface="Times New Roman" panose="02020603050405020304" pitchFamily="18" charset="0"/>
              <a:cs typeface="Times New Roman" panose="02020603050405020304" pitchFamily="18" charset="0"/>
            </a:endParaRPr>
          </a:p>
        </p:txBody>
      </p:sp>
      <p:sp>
        <p:nvSpPr>
          <p:cNvPr id="5" name="Text 1">
            <a:extLst>
              <a:ext uri="{FF2B5EF4-FFF2-40B4-BE49-F238E27FC236}">
                <a16:creationId xmlns:a16="http://schemas.microsoft.com/office/drawing/2014/main" id="{912C34A4-30DC-BB28-624F-BF72C8F35ECD}"/>
              </a:ext>
            </a:extLst>
          </p:cNvPr>
          <p:cNvSpPr/>
          <p:nvPr/>
        </p:nvSpPr>
        <p:spPr>
          <a:xfrm>
            <a:off x="270510" y="1076960"/>
            <a:ext cx="4301490" cy="3837940"/>
          </a:xfrm>
          <a:prstGeom prst="rect">
            <a:avLst/>
          </a:prstGeom>
          <a:noFill/>
          <a:ln/>
        </p:spPr>
        <p:txBody>
          <a:bodyPr wrap="square" rtlCol="0" anchor="t"/>
          <a:lstStyle/>
          <a:p>
            <a:pPr algn="just"/>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Test Cases Prepared</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Functional test cases for </a:t>
            </a:r>
            <a:r>
              <a:rPr lang="en-US" sz="1600" b="1" dirty="0">
                <a:latin typeface="Times New Roman" panose="02020603050405020304" pitchFamily="18" charset="0"/>
                <a:cs typeface="Times New Roman" panose="02020603050405020304" pitchFamily="18" charset="0"/>
              </a:rPr>
              <a:t>fund management, donation, and issue reporting modules</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API endpoint testing using </a:t>
            </a:r>
            <a:r>
              <a:rPr lang="en-US" sz="1600" b="1" dirty="0">
                <a:latin typeface="Times New Roman" panose="02020603050405020304" pitchFamily="18" charset="0"/>
                <a:cs typeface="Times New Roman" panose="02020603050405020304" pitchFamily="18" charset="0"/>
              </a:rPr>
              <a:t>Postman</a:t>
            </a:r>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Role-based access control</a:t>
            </a:r>
            <a:r>
              <a:rPr lang="en-US" sz="1600" dirty="0">
                <a:latin typeface="Times New Roman" panose="02020603050405020304" pitchFamily="18" charset="0"/>
                <a:cs typeface="Times New Roman" panose="02020603050405020304" pitchFamily="18" charset="0"/>
              </a:rPr>
              <a:t> testing for villagers and administrators</a:t>
            </a:r>
          </a:p>
          <a:p>
            <a:pPr algn="just"/>
            <a:r>
              <a:rPr lang="en-US" sz="1600" dirty="0">
                <a:latin typeface="Times New Roman" panose="02020603050405020304" pitchFamily="18" charset="0"/>
                <a:cs typeface="Times New Roman" panose="02020603050405020304" pitchFamily="18" charset="0"/>
              </a:rPr>
              <a:t>Database </a:t>
            </a:r>
            <a:r>
              <a:rPr lang="en-US" sz="1600" b="1" dirty="0">
                <a:latin typeface="Times New Roman" panose="02020603050405020304" pitchFamily="18" charset="0"/>
                <a:cs typeface="Times New Roman" panose="02020603050405020304" pitchFamily="18" charset="0"/>
              </a:rPr>
              <a:t>CRUD operations testing</a:t>
            </a:r>
          </a:p>
          <a:p>
            <a:pPr algn="just"/>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Input Validation</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Backend validation for </a:t>
            </a:r>
            <a:r>
              <a:rPr lang="en-US" sz="1600" b="1" dirty="0">
                <a:latin typeface="Times New Roman" panose="02020603050405020304" pitchFamily="18" charset="0"/>
                <a:cs typeface="Times New Roman" panose="02020603050405020304" pitchFamily="18" charset="0"/>
              </a:rPr>
              <a:t>API request data</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Required field validation for forms and inputs</a:t>
            </a:r>
          </a:p>
          <a:p>
            <a:pPr algn="just"/>
            <a:r>
              <a:rPr lang="en-US" sz="1600" dirty="0">
                <a:latin typeface="Times New Roman" panose="02020603050405020304" pitchFamily="18" charset="0"/>
                <a:cs typeface="Times New Roman" panose="02020603050405020304" pitchFamily="18" charset="0"/>
              </a:rPr>
              <a:t>Data type validation (</a:t>
            </a:r>
            <a:r>
              <a:rPr lang="en-US" sz="1600" b="1" dirty="0">
                <a:latin typeface="Times New Roman" panose="02020603050405020304" pitchFamily="18" charset="0"/>
                <a:cs typeface="Times New Roman" panose="02020603050405020304" pitchFamily="18" charset="0"/>
              </a:rPr>
              <a:t>numbers, text, dates</a:t>
            </a:r>
            <a:r>
              <a:rPr lang="en-US" sz="1600" dirty="0">
                <a:latin typeface="Times New Roman" panose="02020603050405020304" pitchFamily="18" charset="0"/>
                <a:cs typeface="Times New Roman" panose="02020603050405020304" pitchFamily="18" charset="0"/>
              </a:rPr>
              <a:t>)</a:t>
            </a:r>
          </a:p>
          <a:p>
            <a:pPr algn="just"/>
            <a:r>
              <a:rPr lang="en-US" sz="1600" b="1" dirty="0">
                <a:latin typeface="Times New Roman" panose="02020603050405020304" pitchFamily="18" charset="0"/>
                <a:cs typeface="Times New Roman" panose="02020603050405020304" pitchFamily="18" charset="0"/>
              </a:rPr>
              <a:t>Unique constraints</a:t>
            </a:r>
            <a:r>
              <a:rPr lang="en-US" sz="1600" dirty="0">
                <a:latin typeface="Times New Roman" panose="02020603050405020304" pitchFamily="18" charset="0"/>
                <a:cs typeface="Times New Roman" panose="02020603050405020304" pitchFamily="18" charset="0"/>
              </a:rPr>
              <a:t> validation (e.g., email, user ID)</a:t>
            </a:r>
          </a:p>
        </p:txBody>
      </p:sp>
      <p:sp>
        <p:nvSpPr>
          <p:cNvPr id="3" name="TextBox 2">
            <a:extLst>
              <a:ext uri="{FF2B5EF4-FFF2-40B4-BE49-F238E27FC236}">
                <a16:creationId xmlns:a16="http://schemas.microsoft.com/office/drawing/2014/main" id="{9E60139F-A04E-A995-3D6E-7A8C9926CCF2}"/>
              </a:ext>
            </a:extLst>
          </p:cNvPr>
          <p:cNvSpPr txBox="1"/>
          <p:nvPr/>
        </p:nvSpPr>
        <p:spPr>
          <a:xfrm>
            <a:off x="4507230" y="1084580"/>
            <a:ext cx="4572000" cy="3293209"/>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Edge Cases Handled</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Invalid or expired </a:t>
            </a:r>
            <a:r>
              <a:rPr lang="en-US" sz="1600" b="1" dirty="0">
                <a:latin typeface="Times New Roman" panose="02020603050405020304" pitchFamily="18" charset="0"/>
                <a:cs typeface="Times New Roman" panose="02020603050405020304" pitchFamily="18" charset="0"/>
              </a:rPr>
              <a:t>JWT tokens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Duplicate </a:t>
            </a:r>
            <a:r>
              <a:rPr lang="en-US" sz="1600" b="1" dirty="0">
                <a:latin typeface="Times New Roman" panose="02020603050405020304" pitchFamily="18" charset="0"/>
                <a:cs typeface="Times New Roman" panose="02020603050405020304" pitchFamily="18" charset="0"/>
              </a:rPr>
              <a:t>user registration (email already exists)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Unauthorized access to </a:t>
            </a:r>
            <a:r>
              <a:rPr lang="en-US" sz="1600" b="1" dirty="0">
                <a:latin typeface="Times New Roman" panose="02020603050405020304" pitchFamily="18" charset="0"/>
                <a:cs typeface="Times New Roman" panose="02020603050405020304" pitchFamily="18" charset="0"/>
              </a:rPr>
              <a:t>admin-only features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Missing required fields during </a:t>
            </a:r>
            <a:r>
              <a:rPr lang="en-US" sz="1600" b="1" dirty="0">
                <a:latin typeface="Times New Roman" panose="02020603050405020304" pitchFamily="18" charset="0"/>
                <a:cs typeface="Times New Roman" panose="02020603050405020304" pitchFamily="18" charset="0"/>
              </a:rPr>
              <a:t>issue reporting or donations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Empty or incorrect </a:t>
            </a:r>
            <a:r>
              <a:rPr lang="en-US" sz="1600" b="1" dirty="0">
                <a:latin typeface="Times New Roman" panose="02020603050405020304" pitchFamily="18" charset="0"/>
                <a:cs typeface="Times New Roman" panose="02020603050405020304" pitchFamily="18" charset="0"/>
              </a:rPr>
              <a:t>input data validation</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Bugs Fixed</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Database </a:t>
            </a:r>
            <a:r>
              <a:rPr lang="en-US" sz="1600" b="1" dirty="0">
                <a:latin typeface="Times New Roman" panose="02020603050405020304" pitchFamily="18" charset="0"/>
                <a:cs typeface="Times New Roman" panose="02020603050405020304" pitchFamily="18" charset="0"/>
              </a:rPr>
              <a:t>foreign key constraint issues</a:t>
            </a: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Authentication and role authorization errors</a:t>
            </a:r>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API response handling issues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Frontend–backend </a:t>
            </a:r>
            <a:r>
              <a:rPr lang="en-US" sz="1600" b="1" dirty="0">
                <a:latin typeface="Times New Roman" panose="02020603050405020304" pitchFamily="18" charset="0"/>
                <a:cs typeface="Times New Roman" panose="02020603050405020304" pitchFamily="18" charset="0"/>
              </a:rPr>
              <a:t>API integration mismatches</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8624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789E34D-ABB6-2F25-FC89-62D5313F96DF}"/>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8AD07097-3C00-1FA6-5F1F-E4CE2C3BD2D8}"/>
              </a:ext>
            </a:extLst>
          </p:cNvPr>
          <p:cNvSpPr/>
          <p:nvPr/>
        </p:nvSpPr>
        <p:spPr>
          <a:xfrm>
            <a:off x="457200" y="228600"/>
            <a:ext cx="8229600" cy="822960"/>
          </a:xfrm>
          <a:prstGeom prst="rect">
            <a:avLst/>
          </a:prstGeom>
          <a:noFill/>
          <a:ln/>
        </p:spPr>
        <p:txBody>
          <a:bodyPr wrap="square" rtlCol="0" anchor="ctr"/>
          <a:lstStyle/>
          <a:p>
            <a:pPr algn="ctr"/>
            <a:r>
              <a:rPr lang="en-GB" sz="2800" dirty="0">
                <a:latin typeface="Times New Roman" panose="02020603050405020304" pitchFamily="18" charset="0"/>
                <a:cs typeface="Times New Roman" panose="02020603050405020304" pitchFamily="18" charset="0"/>
              </a:rPr>
              <a:t>TEST &amp; VALIDATION</a:t>
            </a:r>
            <a:endParaRPr lang="en-US" sz="2800" dirty="0">
              <a:latin typeface="Times New Roman" panose="02020603050405020304" pitchFamily="18" charset="0"/>
              <a:cs typeface="Times New Roman" panose="02020603050405020304" pitchFamily="18" charset="0"/>
            </a:endParaRPr>
          </a:p>
        </p:txBody>
      </p:sp>
      <p:sp>
        <p:nvSpPr>
          <p:cNvPr id="5" name="Text 1">
            <a:extLst>
              <a:ext uri="{FF2B5EF4-FFF2-40B4-BE49-F238E27FC236}">
                <a16:creationId xmlns:a16="http://schemas.microsoft.com/office/drawing/2014/main" id="{958E3DBB-B5BE-9325-B28B-5741F42CC30A}"/>
              </a:ext>
            </a:extLst>
          </p:cNvPr>
          <p:cNvSpPr/>
          <p:nvPr/>
        </p:nvSpPr>
        <p:spPr>
          <a:xfrm>
            <a:off x="514350" y="1076960"/>
            <a:ext cx="8115300" cy="3609339"/>
          </a:xfrm>
          <a:prstGeom prst="rect">
            <a:avLst/>
          </a:prstGeom>
          <a:noFill/>
          <a:ln/>
        </p:spPr>
        <p:txBody>
          <a:bodyPr wrap="square" rtlCol="0" anchor="t"/>
          <a:lstStyle/>
          <a:p>
            <a:r>
              <a:rPr lang="en-US" b="1" dirty="0">
                <a:latin typeface="Times New Roman" panose="02020603050405020304" pitchFamily="18" charset="0"/>
                <a:cs typeface="Times New Roman" panose="02020603050405020304" pitchFamily="18" charset="0"/>
              </a:rPr>
              <a:t>Improvements After Testing</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Improved error handling with proper HTTP status codes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Optimized database structure and table relationships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Enhanced input validation for forms and API requests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Better UI feedback for actions like issue reporting and donations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Improved API response consistency between frontend and backend</a:t>
            </a:r>
          </a:p>
        </p:txBody>
      </p:sp>
    </p:spTree>
    <p:extLst>
      <p:ext uri="{BB962C8B-B14F-4D97-AF65-F5344CB8AC3E}">
        <p14:creationId xmlns:p14="http://schemas.microsoft.com/office/powerpoint/2010/main" val="1729293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F024B44-8ED4-3F9B-42F2-F38E01A71872}"/>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3A11B313-5454-BA02-11D8-F721B16C15EC}"/>
              </a:ext>
            </a:extLst>
          </p:cNvPr>
          <p:cNvSpPr/>
          <p:nvPr/>
        </p:nvSpPr>
        <p:spPr>
          <a:xfrm>
            <a:off x="457200" y="129540"/>
            <a:ext cx="8229600" cy="822960"/>
          </a:xfrm>
          <a:prstGeom prst="rect">
            <a:avLst/>
          </a:prstGeom>
          <a:noFill/>
          <a:ln/>
        </p:spPr>
        <p:txBody>
          <a:bodyPr wrap="square" rtlCol="0" anchor="ctr"/>
          <a:lstStyle/>
          <a:p>
            <a:pPr algn="ctr"/>
            <a:r>
              <a:rPr lang="en-GB" sz="2800" dirty="0">
                <a:latin typeface="Times New Roman" panose="02020603050405020304" pitchFamily="18" charset="0"/>
                <a:cs typeface="Times New Roman" panose="02020603050405020304" pitchFamily="18" charset="0"/>
              </a:rPr>
              <a:t>CHALLENGES FACED</a:t>
            </a:r>
            <a:endParaRPr lang="en-US" sz="2800" dirty="0">
              <a:latin typeface="Times New Roman" panose="02020603050405020304" pitchFamily="18" charset="0"/>
              <a:cs typeface="Times New Roman" panose="02020603050405020304" pitchFamily="18" charset="0"/>
            </a:endParaRPr>
          </a:p>
        </p:txBody>
      </p:sp>
      <p:sp>
        <p:nvSpPr>
          <p:cNvPr id="5" name="Text 1">
            <a:extLst>
              <a:ext uri="{FF2B5EF4-FFF2-40B4-BE49-F238E27FC236}">
                <a16:creationId xmlns:a16="http://schemas.microsoft.com/office/drawing/2014/main" id="{719F92EF-3206-E7EF-4693-D11BB19936D3}"/>
              </a:ext>
            </a:extLst>
          </p:cNvPr>
          <p:cNvSpPr/>
          <p:nvPr/>
        </p:nvSpPr>
        <p:spPr>
          <a:xfrm>
            <a:off x="514350" y="861060"/>
            <a:ext cx="8115300" cy="4221480"/>
          </a:xfrm>
          <a:prstGeom prst="rect">
            <a:avLst/>
          </a:prstGeom>
          <a:noFill/>
          <a:ln/>
        </p:spPr>
        <p:txBody>
          <a:bodyPr wrap="square" rtlCol="0" anchor="t"/>
          <a:lstStyle/>
          <a:p>
            <a:pPr algn="just"/>
            <a:r>
              <a:rPr lang="en-US" sz="1600" b="1" dirty="0">
                <a:latin typeface="Times New Roman" panose="02020603050405020304" pitchFamily="18" charset="0"/>
                <a:cs typeface="Times New Roman" panose="02020603050405020304" pitchFamily="18" charset="0"/>
              </a:rPr>
              <a:t>Challenge:</a:t>
            </a:r>
            <a:r>
              <a:rPr lang="en-US" sz="1600" dirty="0">
                <a:latin typeface="Times New Roman" panose="02020603050405020304" pitchFamily="18" charset="0"/>
                <a:cs typeface="Times New Roman" panose="02020603050405020304" pitchFamily="18" charset="0"/>
              </a:rPr>
              <a:t> Implementing secure authentication and role-based access control for villagers and administrators.</a:t>
            </a:r>
          </a:p>
          <a:p>
            <a:pPr algn="just"/>
            <a:r>
              <a:rPr lang="en-US" sz="1600" b="1" dirty="0">
                <a:latin typeface="Times New Roman" panose="02020603050405020304" pitchFamily="18" charset="0"/>
                <a:cs typeface="Times New Roman" panose="02020603050405020304" pitchFamily="18" charset="0"/>
              </a:rPr>
              <a:t>Solution:</a:t>
            </a: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Used JWT-based authentication for secure login</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Implemented role-based access checks in backend routes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Added protected routes in the frontend</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Tested access permissions for each user role</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Integration Issues</a:t>
            </a:r>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Challenge:</a:t>
            </a:r>
            <a:r>
              <a:rPr lang="en-US" sz="1600" dirty="0">
                <a:latin typeface="Times New Roman" panose="02020603050405020304" pitchFamily="18" charset="0"/>
                <a:cs typeface="Times New Roman" panose="02020603050405020304" pitchFamily="18" charset="0"/>
              </a:rPr>
              <a:t> Ensuring smooth communication between React frontend and Node.js/Express backend.</a:t>
            </a:r>
          </a:p>
          <a:p>
            <a:pPr algn="just"/>
            <a:r>
              <a:rPr lang="en-US" sz="1600" b="1" dirty="0">
                <a:latin typeface="Times New Roman" panose="02020603050405020304" pitchFamily="18" charset="0"/>
                <a:cs typeface="Times New Roman" panose="02020603050405020304" pitchFamily="18" charset="0"/>
              </a:rPr>
              <a:t>Solution:</a:t>
            </a: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Standardized API request and response formats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Configured CORS for secure frontend–backend communication</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Used Axios for handling API requests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Tested APIs using Postman before frontend integration</a:t>
            </a:r>
          </a:p>
        </p:txBody>
      </p:sp>
    </p:spTree>
    <p:extLst>
      <p:ext uri="{BB962C8B-B14F-4D97-AF65-F5344CB8AC3E}">
        <p14:creationId xmlns:p14="http://schemas.microsoft.com/office/powerpoint/2010/main" val="1880871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FC1D25D-5F59-082A-BA6D-B6C379404495}"/>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875706B8-DFC9-882C-CD27-570A3F687A7B}"/>
              </a:ext>
            </a:extLst>
          </p:cNvPr>
          <p:cNvSpPr/>
          <p:nvPr/>
        </p:nvSpPr>
        <p:spPr>
          <a:xfrm>
            <a:off x="457200" y="129540"/>
            <a:ext cx="8229600" cy="822960"/>
          </a:xfrm>
          <a:prstGeom prst="rect">
            <a:avLst/>
          </a:prstGeom>
          <a:noFill/>
          <a:ln/>
        </p:spPr>
        <p:txBody>
          <a:bodyPr wrap="square" rtlCol="0" anchor="ctr"/>
          <a:lstStyle/>
          <a:p>
            <a:pPr algn="ctr"/>
            <a:r>
              <a:rPr lang="en-GB" sz="2800" dirty="0">
                <a:latin typeface="Times New Roman" panose="02020603050405020304" pitchFamily="18" charset="0"/>
                <a:cs typeface="Times New Roman" panose="02020603050405020304" pitchFamily="18" charset="0"/>
              </a:rPr>
              <a:t>CHALLENGES FACED</a:t>
            </a:r>
            <a:endParaRPr lang="en-US" sz="2800" dirty="0">
              <a:latin typeface="Times New Roman" panose="02020603050405020304" pitchFamily="18" charset="0"/>
              <a:cs typeface="Times New Roman" panose="02020603050405020304" pitchFamily="18" charset="0"/>
            </a:endParaRPr>
          </a:p>
        </p:txBody>
      </p:sp>
      <p:sp>
        <p:nvSpPr>
          <p:cNvPr id="5" name="Text 1">
            <a:extLst>
              <a:ext uri="{FF2B5EF4-FFF2-40B4-BE49-F238E27FC236}">
                <a16:creationId xmlns:a16="http://schemas.microsoft.com/office/drawing/2014/main" id="{193D1329-3577-9285-3526-E5632F9BBDD0}"/>
              </a:ext>
            </a:extLst>
          </p:cNvPr>
          <p:cNvSpPr/>
          <p:nvPr/>
        </p:nvSpPr>
        <p:spPr>
          <a:xfrm>
            <a:off x="457200" y="899160"/>
            <a:ext cx="8172450" cy="4114800"/>
          </a:xfrm>
          <a:prstGeom prst="rect">
            <a:avLst/>
          </a:prstGeom>
          <a:noFill/>
          <a:ln/>
        </p:spPr>
        <p:txBody>
          <a:bodyPr wrap="square" rtlCol="0" anchor="t"/>
          <a:lstStyle/>
          <a:p>
            <a:pPr algn="just"/>
            <a:r>
              <a:rPr lang="en-US" sz="1600" b="1" dirty="0">
                <a:latin typeface="Times New Roman" panose="02020603050405020304" pitchFamily="18" charset="0"/>
                <a:cs typeface="Times New Roman" panose="02020603050405020304" pitchFamily="18" charset="0"/>
              </a:rPr>
              <a:t>Challenge:</a:t>
            </a:r>
            <a:r>
              <a:rPr lang="en-US" sz="1600" dirty="0">
                <a:latin typeface="Times New Roman" panose="02020603050405020304" pitchFamily="18" charset="0"/>
                <a:cs typeface="Times New Roman" panose="02020603050405020304" pitchFamily="18" charset="0"/>
              </a:rPr>
              <a:t> Designing role-specific dashboards while keeping the interface simple and responsive.</a:t>
            </a:r>
          </a:p>
          <a:p>
            <a:pPr algn="just"/>
            <a:r>
              <a:rPr lang="en-US" sz="1600" b="1" dirty="0">
                <a:latin typeface="Times New Roman" panose="02020603050405020304" pitchFamily="18" charset="0"/>
                <a:cs typeface="Times New Roman" panose="02020603050405020304" pitchFamily="18" charset="0"/>
              </a:rPr>
              <a:t>Solution:</a:t>
            </a: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Created reusable UI components (Navbar, Sidebar, Forms)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Used conditional rendering based on user roles (villager/admin)</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Applied responsive design using CSS/Tailwind</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Improved form validation and error messages after testing</a:t>
            </a:r>
          </a:p>
          <a:p>
            <a:pPr algn="just"/>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Challenge:</a:t>
            </a:r>
            <a:r>
              <a:rPr lang="en-US" sz="1600" dirty="0">
                <a:latin typeface="Times New Roman" panose="02020603050405020304" pitchFamily="18" charset="0"/>
                <a:cs typeface="Times New Roman" panose="02020603050405020304" pitchFamily="18" charset="0"/>
              </a:rPr>
              <a:t> Optimizing database calls for dashboard data and issue tracking to avoid slow responses.</a:t>
            </a:r>
          </a:p>
          <a:p>
            <a:pPr algn="just"/>
            <a:r>
              <a:rPr lang="en-US" sz="1600" b="1" dirty="0">
                <a:latin typeface="Times New Roman" panose="02020603050405020304" pitchFamily="18" charset="0"/>
                <a:cs typeface="Times New Roman" panose="02020603050405020304" pitchFamily="18" charset="0"/>
              </a:rPr>
              <a:t>Solution:</a:t>
            </a:r>
            <a:endParaRPr lang="en-US" sz="16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Optimized database queries for fund, donation, and issue data</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Reduced unnecessary queries using efficient filtering and aggregation</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Loaded related data efficiently for dashboard statistics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Implemented pagination for large datasets to improve performance</a:t>
            </a:r>
          </a:p>
        </p:txBody>
      </p:sp>
    </p:spTree>
    <p:extLst>
      <p:ext uri="{BB962C8B-B14F-4D97-AF65-F5344CB8AC3E}">
        <p14:creationId xmlns:p14="http://schemas.microsoft.com/office/powerpoint/2010/main" val="4048169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03E9A71-2082-8A85-BBCE-04E2637DD5F4}"/>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FD531CC4-FEDF-BCF0-12D2-11BC49884D8F}"/>
              </a:ext>
            </a:extLst>
          </p:cNvPr>
          <p:cNvSpPr/>
          <p:nvPr/>
        </p:nvSpPr>
        <p:spPr>
          <a:xfrm>
            <a:off x="457200" y="228600"/>
            <a:ext cx="8229600" cy="822960"/>
          </a:xfrm>
          <a:prstGeom prst="rect">
            <a:avLst/>
          </a:prstGeom>
          <a:noFill/>
          <a:ln/>
        </p:spPr>
        <p:txBody>
          <a:bodyPr wrap="square" rtlCol="0" anchor="ctr"/>
          <a:lstStyle/>
          <a:p>
            <a:pPr algn="ctr"/>
            <a:r>
              <a:rPr lang="en-GB" sz="2800" dirty="0">
                <a:latin typeface="Times New Roman" panose="02020603050405020304" pitchFamily="18" charset="0"/>
                <a:cs typeface="Times New Roman" panose="02020603050405020304" pitchFamily="18" charset="0"/>
              </a:rPr>
              <a:t>FUTURE WORK</a:t>
            </a:r>
            <a:endParaRPr lang="en-US" sz="2800" dirty="0">
              <a:latin typeface="Times New Roman" panose="02020603050405020304" pitchFamily="18" charset="0"/>
              <a:cs typeface="Times New Roman" panose="02020603050405020304" pitchFamily="18" charset="0"/>
            </a:endParaRPr>
          </a:p>
        </p:txBody>
      </p:sp>
      <p:sp>
        <p:nvSpPr>
          <p:cNvPr id="5" name="Text 1">
            <a:extLst>
              <a:ext uri="{FF2B5EF4-FFF2-40B4-BE49-F238E27FC236}">
                <a16:creationId xmlns:a16="http://schemas.microsoft.com/office/drawing/2014/main" id="{4552BFDB-2B8E-F3E1-A72C-C774D66C2AE6}"/>
              </a:ext>
            </a:extLst>
          </p:cNvPr>
          <p:cNvSpPr/>
          <p:nvPr/>
        </p:nvSpPr>
        <p:spPr>
          <a:xfrm>
            <a:off x="514350" y="977900"/>
            <a:ext cx="8115300" cy="4028440"/>
          </a:xfrm>
          <a:prstGeom prst="rect">
            <a:avLst/>
          </a:prstGeom>
          <a:noFill/>
          <a:ln/>
        </p:spPr>
        <p:txBody>
          <a:bodyPr wrap="square" rtlCol="0" anchor="t"/>
          <a:lstStyle/>
          <a:p>
            <a:r>
              <a:rPr lang="en-US" sz="1600" b="1" dirty="0">
                <a:latin typeface="Times New Roman" panose="02020603050405020304" pitchFamily="18" charset="0"/>
                <a:cs typeface="Times New Roman" panose="02020603050405020304" pitchFamily="18" charset="0"/>
              </a:rPr>
              <a:t>Remaining Modules:</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Implement admin dashboard improvements for better fund monitoring</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Add notification system for complaint status updates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Develop report generation for funds and donations</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Optimization:</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Further optimize database queries for faster data retrieval</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Improve API performance and response time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Enhance dashboard performance for large datasets</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Security Enhancements:</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Implement rate limiting to prevent API misuse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Improve JWT token security and session handling</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Strengthen audit logging and system monitoring</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Conduct regular security testing and vulnerability checks</a:t>
            </a:r>
          </a:p>
        </p:txBody>
      </p:sp>
    </p:spTree>
    <p:extLst>
      <p:ext uri="{BB962C8B-B14F-4D97-AF65-F5344CB8AC3E}">
        <p14:creationId xmlns:p14="http://schemas.microsoft.com/office/powerpoint/2010/main" val="26708747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ECE1721-D1A3-3B17-0A92-8F6E6889FA99}"/>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E1C5D1C9-02D8-6D14-9E27-3DA328A4C532}"/>
              </a:ext>
            </a:extLst>
          </p:cNvPr>
          <p:cNvSpPr/>
          <p:nvPr/>
        </p:nvSpPr>
        <p:spPr>
          <a:xfrm>
            <a:off x="457200" y="228600"/>
            <a:ext cx="8229600" cy="822960"/>
          </a:xfrm>
          <a:prstGeom prst="rect">
            <a:avLst/>
          </a:prstGeom>
          <a:noFill/>
          <a:ln/>
        </p:spPr>
        <p:txBody>
          <a:bodyPr wrap="square" rtlCol="0" anchor="ctr"/>
          <a:lstStyle/>
          <a:p>
            <a:pPr algn="ctr"/>
            <a:r>
              <a:rPr lang="en-GB" sz="2800" dirty="0">
                <a:latin typeface="Times New Roman" panose="02020603050405020304" pitchFamily="18" charset="0"/>
                <a:cs typeface="Times New Roman" panose="02020603050405020304" pitchFamily="18" charset="0"/>
              </a:rPr>
              <a:t>FUTURE WORK</a:t>
            </a:r>
            <a:endParaRPr lang="en-US" sz="2800" dirty="0">
              <a:latin typeface="Times New Roman" panose="02020603050405020304" pitchFamily="18" charset="0"/>
              <a:cs typeface="Times New Roman" panose="02020603050405020304" pitchFamily="18" charset="0"/>
            </a:endParaRPr>
          </a:p>
        </p:txBody>
      </p:sp>
      <p:sp>
        <p:nvSpPr>
          <p:cNvPr id="5" name="Text 1">
            <a:extLst>
              <a:ext uri="{FF2B5EF4-FFF2-40B4-BE49-F238E27FC236}">
                <a16:creationId xmlns:a16="http://schemas.microsoft.com/office/drawing/2014/main" id="{ABDC07C1-0626-1987-F207-BFB38D77DE2D}"/>
              </a:ext>
            </a:extLst>
          </p:cNvPr>
          <p:cNvSpPr/>
          <p:nvPr/>
        </p:nvSpPr>
        <p:spPr>
          <a:xfrm>
            <a:off x="514350" y="977900"/>
            <a:ext cx="8115300" cy="4028440"/>
          </a:xfrm>
          <a:prstGeom prst="rect">
            <a:avLst/>
          </a:prstGeom>
          <a:noFill/>
          <a:ln/>
        </p:spPr>
        <p:txBody>
          <a:bodyPr wrap="square" rtlCol="0" anchor="t"/>
          <a:lstStyle/>
          <a:p>
            <a:r>
              <a:rPr lang="en-US" sz="1600" b="1" dirty="0">
                <a:latin typeface="Times New Roman" panose="02020603050405020304" pitchFamily="18" charset="0"/>
                <a:cs typeface="Times New Roman" panose="02020603050405020304" pitchFamily="18" charset="0"/>
              </a:rPr>
              <a:t>Deployment Status:</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Backend configured with Node.js and MySQL database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Frontend application prepared for cloud deployment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Database connection configured for development and testing</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Environment variables configured for secure API access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Core system modules running successfully in development</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Next Phase Timeline:</a:t>
            </a: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Backend API completion and integration – 1 week</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System testing and performance improvements – 1 week</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Final deployment and documentation – Ongoing</a:t>
            </a:r>
          </a:p>
        </p:txBody>
      </p:sp>
    </p:spTree>
    <p:extLst>
      <p:ext uri="{BB962C8B-B14F-4D97-AF65-F5344CB8AC3E}">
        <p14:creationId xmlns:p14="http://schemas.microsoft.com/office/powerpoint/2010/main" val="19976923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299</TotalTime>
  <Words>1535</Words>
  <Application>Microsoft Office PowerPoint</Application>
  <PresentationFormat>On-screen Show (16:9)</PresentationFormat>
  <Paragraphs>194</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SlideMake.com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Shared Preferences In Mobile Application Development</dc:title>
  <dc:subject>Shared Preferences In Mobile Application Development</dc:subject>
  <dc:creator>SlideMake.com</dc:creator>
  <cp:lastModifiedBy>vonteru Satwik Reddy</cp:lastModifiedBy>
  <cp:revision>22</cp:revision>
  <cp:lastPrinted>2026-01-28T11:55:00Z</cp:lastPrinted>
  <dcterms:created xsi:type="dcterms:W3CDTF">2025-10-09T04:53:09Z</dcterms:created>
  <dcterms:modified xsi:type="dcterms:W3CDTF">2026-03-06T14:45:48Z</dcterms:modified>
</cp:coreProperties>
</file>